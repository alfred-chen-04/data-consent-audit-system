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8ca4067d2d4801" /><Relationship Type="http://schemas.openxmlformats.org/officeDocument/2006/relationships/extended-properties" Target="/docProps/app.xml" Id="R424e4023b3134dcf" /><Relationship Type="http://schemas.openxmlformats.org/officeDocument/2006/relationships/officeDocument" Target="/ppt/presentation.xml" Id="Re66ed26dc86a42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de1b18b577486b"/>
  </p:sldMasterIdLst>
  <p:notesMasterIdLst>
    <p:notesMasterId xmlns:r="http://schemas.openxmlformats.org/officeDocument/2006/relationships" r:id="Rb84d1d0740cc4cd9"/>
  </p:notesMasterIdLst>
  <p:sldIdLst>
    <p:sldId xmlns:r="http://schemas.openxmlformats.org/officeDocument/2006/relationships" id="256" r:id="Rd6367774ab314717"/>
  </p:sldIdLst>
  <p:sldSz cx="43891200" cy="329184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1dd71914e04378" /><Relationship Type="http://schemas.openxmlformats.org/officeDocument/2006/relationships/slideMaster" Target="/ppt/slideMasters/slideMaster1.xml" Id="Rb0de1b18b577486b" /><Relationship Type="http://schemas.openxmlformats.org/officeDocument/2006/relationships/notesMaster" Target="/ppt/notesMasters/notesMaster1.xml" Id="Rb84d1d0740cc4cd9" /><Relationship Type="http://schemas.openxmlformats.org/officeDocument/2006/relationships/presProps" Target="/ppt/presProps.xml" Id="Raaad7311693a46b1" /><Relationship Type="http://schemas.openxmlformats.org/officeDocument/2006/relationships/tableStyles" Target="/ppt/tableStyles.xml" Id="R0a5618daec6b429b" /><Relationship Type="http://schemas.openxmlformats.org/officeDocument/2006/relationships/slide" Target="/ppt/slides/slide1.xml" Id="Rd6367774ab3147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a6c2babeef245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ee2a91c00f04b2d" /><Relationship Type="http://schemas.openxmlformats.org/officeDocument/2006/relationships/notesMaster" Target="/ppt/notesMasters/notesMaster1.xml" Id="R3aa5e418734448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ec8330b0b746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df6ad1524449cd" /><Relationship Type="http://schemas.openxmlformats.org/officeDocument/2006/relationships/slideLayout" Target="/ppt/slideLayouts/slideLayout1.xml" Id="Rb7a90ccf011f4a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a90ccf011f4a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e17d248ef84d4d" /><Relationship Type="http://schemas.openxmlformats.org/officeDocument/2006/relationships/image" Target="/ppt/media/image.png" Id="Rd9265e35559946a8" /><Relationship Type="http://schemas.openxmlformats.org/officeDocument/2006/relationships/image" Target="/ppt/media/image2.png" Id="Rd6bc8a20f000442e" /><Relationship Type="http://schemas.openxmlformats.org/officeDocument/2006/relationships/image" Target="/ppt/media/image3.png" Id="R63b0bd4d61fe4e33" /><Relationship Type="http://schemas.openxmlformats.org/officeDocument/2006/relationships/image" Target="/ppt/media/image4.png" Id="Ra5ed60c0a820403d" /><Relationship Type="http://schemas.openxmlformats.org/officeDocument/2006/relationships/image" Target="/ppt/media/image5.png" Id="R0e849c01f6074b7d" /><Relationship Type="http://schemas.openxmlformats.org/officeDocument/2006/relationships/notesSlide" Target="/ppt/notesSlides/notesSlide1.xml" Id="R48ef8efff27a4fc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header-background">
            <a:extLst xmlns:a="http://schemas.openxmlformats.org/drawingml/2006/main">
              <a:ext uri="{FF2B5EF4-FFF2-40B4-BE49-F238E27FC236}">
                <a16:creationId xmlns:a16="http://schemas.microsoft.com/office/drawing/2014/main" id="{2B153B00-8905-47BC-BACB-66DD2BF3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91200" cy="5120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header-eyebrow">
            <a:extLst xmlns:a="http://schemas.openxmlformats.org/drawingml/2006/main">
              <a:ext uri="{FF2B5EF4-FFF2-40B4-BE49-F238E27FC236}">
                <a16:creationId xmlns:a16="http://schemas.microsoft.com/office/drawing/2014/main" id="{AA63076C-4B6D-43AA-BF60-D1BA7DB2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658368"/>
            <a:ext cx="14630400" cy="47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36" b="1">
                <a:solidFill>
                  <a:srgbClr val="D9EFFB"/>
                </a:solidFill>
                <a:latin typeface="Arial"/>
                <a:ea typeface="Arial"/>
                <a:cs typeface="Arial"/>
              </a:defRPr>
            </a:pPr>
            <a:r>
              <a:rPr sz="2736" b="1">
                <a:solidFill>
                  <a:srgbClr val="D9EFFB"/>
                </a:solidFill>
                <a:latin typeface="Arial"/>
                <a:ea typeface="Arial"/>
                <a:cs typeface="Arial"/>
              </a:rPr>
              <a:t>SSRP 2026  |  PILOT / METHOD EVIDENCE</a:t>
            </a:r>
          </a:p>
        </p:txBody>
      </p:sp>
      <p:sp>
        <p:nvSpPr>
          <p:cNvPr id="3" name="header-title">
            <a:extLst xmlns:a="http://schemas.openxmlformats.org/drawingml/2006/main">
              <a:ext uri="{FF2B5EF4-FFF2-40B4-BE49-F238E27FC236}">
                <a16:creationId xmlns:a16="http://schemas.microsoft.com/office/drawing/2014/main" id="{6BC2F670-7906-4FC7-A345-C01B97C9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1280160"/>
            <a:ext cx="27980640" cy="1536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216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216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Traceable Consent Interface Audit and Versioning</a:t>
            </a:r>
          </a:p>
        </p:txBody>
      </p:sp>
      <p:sp>
        <p:nvSpPr>
          <p:cNvPr id="4" name="header-subtitle">
            <a:extLst xmlns:a="http://schemas.openxmlformats.org/drawingml/2006/main">
              <a:ext uri="{FF2B5EF4-FFF2-40B4-BE49-F238E27FC236}">
                <a16:creationId xmlns:a16="http://schemas.microsoft.com/office/drawing/2014/main" id="{EEFB1995-DE3C-43F1-B620-AC67EED8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3017520"/>
            <a:ext cx="27980640" cy="841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0">
                <a:solidFill>
                  <a:srgbClr val="DDE7EE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DDE7EE"/>
                </a:solidFill>
                <a:latin typeface="Arial"/>
                <a:ea typeface="Arial"/>
                <a:cs typeface="Arial"/>
              </a:rPr>
              <a:t>A workflow for scoring layered consent interfaces and tracking how privacy-interface evidence changes over time.</a:t>
            </a:r>
          </a:p>
        </p:txBody>
      </p:sp>
      <p:sp>
        <p:nvSpPr>
          <p:cNvPr id="5" name="rq1">
            <a:extLst xmlns:a="http://schemas.openxmlformats.org/drawingml/2006/main">
              <a:ext uri="{FF2B5EF4-FFF2-40B4-BE49-F238E27FC236}">
                <a16:creationId xmlns:a16="http://schemas.microsoft.com/office/drawing/2014/main" id="{F40FF806-B499-4655-8262-AD7EA20AA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0" y="1097280"/>
            <a:ext cx="1033272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96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96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RQ1</a:t>
            </a:r>
          </a:p>
          <a:p xmlns:a="http://schemas.openxmlformats.org/drawingml/2006/main">
            <a:pPr algn="l">
              <a:buNone/>
              <a:defRPr sz="3096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96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How can full consent pathways be scored for unbiased choice?</a:t>
            </a:r>
          </a:p>
        </p:txBody>
      </p:sp>
      <p:sp>
        <p:nvSpPr>
          <p:cNvPr id="6" name="rq2">
            <a:extLst xmlns:a="http://schemas.openxmlformats.org/drawingml/2006/main">
              <a:ext uri="{FF2B5EF4-FFF2-40B4-BE49-F238E27FC236}">
                <a16:creationId xmlns:a16="http://schemas.microsoft.com/office/drawing/2014/main" id="{00425E87-EE5D-4CB7-89F7-96A08DCB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0" y="2834640"/>
            <a:ext cx="1033272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96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96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RQ2</a:t>
            </a:r>
          </a:p>
          <a:p xmlns:a="http://schemas.openxmlformats.org/drawingml/2006/main">
            <a:pPr algn="l">
              <a:buNone/>
              <a:defRPr sz="3096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96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How can consent interfaces be captured and versioned over time?</a:t>
            </a:r>
          </a:p>
        </p:txBody>
      </p:sp>
      <p:sp>
        <p:nvSpPr>
          <p:cNvPr id="7" name="status-strip">
            <a:extLst xmlns:a="http://schemas.openxmlformats.org/drawingml/2006/main">
              <a:ext uri="{FF2B5EF4-FFF2-40B4-BE49-F238E27FC236}">
                <a16:creationId xmlns:a16="http://schemas.microsoft.com/office/drawing/2014/main" id="{A5AFF0C7-7715-4287-ABC5-75A04FBB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20640"/>
            <a:ext cx="43891200" cy="9692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F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atus-text">
            <a:extLst xmlns:a="http://schemas.openxmlformats.org/drawingml/2006/main">
              <a:ext uri="{FF2B5EF4-FFF2-40B4-BE49-F238E27FC236}">
                <a16:creationId xmlns:a16="http://schemas.microsoft.com/office/drawing/2014/main" id="{D40E1DEF-4942-4B55-952B-D8E19339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5340096"/>
            <a:ext cx="40233600" cy="4937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24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24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Current evidence package: pilot/method evidence, not a final 20-site dataset.</a:t>
            </a:r>
          </a:p>
        </p:txBody>
      </p:sp>
      <p:sp>
        <p:nvSpPr>
          <p:cNvPr id="9" name="why-label">
            <a:extLst xmlns:a="http://schemas.openxmlformats.org/drawingml/2006/main">
              <a:ext uri="{FF2B5EF4-FFF2-40B4-BE49-F238E27FC236}">
                <a16:creationId xmlns:a16="http://schemas.microsoft.com/office/drawing/2014/main" id="{08A57F54-1EE0-4EA5-98AE-0C710E162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6949440"/>
            <a:ext cx="1207008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664" b="1">
                <a:solidFill>
                  <a:srgbClr val="1167B1"/>
                </a:solidFill>
                <a:latin typeface="Arial"/>
                <a:ea typeface="Arial"/>
                <a:cs typeface="Arial"/>
              </a:defRPr>
            </a:pPr>
            <a:r>
              <a:rPr sz="2664" b="1">
                <a:solidFill>
                  <a:srgbClr val="1167B1"/>
                </a:solidFill>
                <a:latin typeface="Arial"/>
                <a:ea typeface="Arial"/>
                <a:cs typeface="Arial"/>
              </a:rPr>
              <a:t>WHY THIS MATTERS</a:t>
            </a:r>
          </a:p>
        </p:txBody>
      </p:sp>
      <p:sp>
        <p:nvSpPr>
          <p:cNvPr id="10" name="why-rule">
            <a:extLst xmlns:a="http://schemas.openxmlformats.org/drawingml/2006/main">
              <a:ext uri="{FF2B5EF4-FFF2-40B4-BE49-F238E27FC236}">
                <a16:creationId xmlns:a16="http://schemas.microsoft.com/office/drawing/2014/main" id="{B41391C7-0560-41A1-9403-BEFB6E51B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7644384"/>
            <a:ext cx="1207008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hy-body">
            <a:extLst xmlns:a="http://schemas.openxmlformats.org/drawingml/2006/main">
              <a:ext uri="{FF2B5EF4-FFF2-40B4-BE49-F238E27FC236}">
                <a16:creationId xmlns:a16="http://schemas.microsoft.com/office/drawing/2014/main" id="{772418F5-EDE5-4900-AA90-4EA013AC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8028432"/>
            <a:ext cx="12070080" cy="2176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16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816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Consent interfaces are layered design and communication systems. They can make privacy choices visible or hidden, easy or difficult, stable or volatile over time.</a:t>
            </a:r>
          </a:p>
        </p:txBody>
      </p:sp>
      <p:sp>
        <p:nvSpPr>
          <p:cNvPr id="12" name="feature-bar-0">
            <a:extLst xmlns:a="http://schemas.openxmlformats.org/drawingml/2006/main">
              <a:ext uri="{FF2B5EF4-FFF2-40B4-BE49-F238E27FC236}">
                <a16:creationId xmlns:a16="http://schemas.microsoft.com/office/drawing/2014/main" id="{8FF2B194-38BB-42EB-A7B2-F9913D41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10378440"/>
            <a:ext cx="164592" cy="107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7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eature-title-0">
            <a:extLst xmlns:a="http://schemas.openxmlformats.org/drawingml/2006/main">
              <a:ext uri="{FF2B5EF4-FFF2-40B4-BE49-F238E27FC236}">
                <a16:creationId xmlns:a16="http://schemas.microsoft.com/office/drawing/2014/main" id="{018CA215-7978-4E01-8592-8FA4FE31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544" y="10378440"/>
            <a:ext cx="11649456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6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456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Choice pathway</a:t>
            </a:r>
          </a:p>
        </p:txBody>
      </p:sp>
      <p:sp>
        <p:nvSpPr>
          <p:cNvPr id="14" name="feature-body-0">
            <a:extLst xmlns:a="http://schemas.openxmlformats.org/drawingml/2006/main">
              <a:ext uri="{FF2B5EF4-FFF2-40B4-BE49-F238E27FC236}">
                <a16:creationId xmlns:a16="http://schemas.microsoft.com/office/drawing/2014/main" id="{D5C3B6DE-6679-43F8-81D9-FF869CE0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544" y="10945368"/>
            <a:ext cx="11649456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20" b="0">
                <a:solidFill>
                  <a:srgbClr val="4C5B66"/>
                </a:solidFill>
                <a:latin typeface="Arial"/>
                <a:ea typeface="Arial"/>
                <a:cs typeface="Arial"/>
              </a:defRPr>
            </a:pPr>
            <a:r>
              <a:rPr sz="2520" b="0">
                <a:solidFill>
                  <a:srgbClr val="4C5B66"/>
                </a:solidFill>
                <a:latin typeface="Arial"/>
                <a:ea typeface="Arial"/>
                <a:cs typeface="Arial"/>
              </a:rPr>
              <a:t>Are Accept, Reject, Customize, and Dismiss available?</a:t>
            </a:r>
          </a:p>
        </p:txBody>
      </p:sp>
      <p:sp>
        <p:nvSpPr>
          <p:cNvPr id="15" name="feature-bar-1">
            <a:extLst xmlns:a="http://schemas.openxmlformats.org/drawingml/2006/main">
              <a:ext uri="{FF2B5EF4-FFF2-40B4-BE49-F238E27FC236}">
                <a16:creationId xmlns:a16="http://schemas.microsoft.com/office/drawing/2014/main" id="{3FAB12CE-9962-41E2-81B1-A5101D94B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11841480"/>
            <a:ext cx="164592" cy="107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eature-title-1">
            <a:extLst xmlns:a="http://schemas.openxmlformats.org/drawingml/2006/main">
              <a:ext uri="{FF2B5EF4-FFF2-40B4-BE49-F238E27FC236}">
                <a16:creationId xmlns:a16="http://schemas.microsoft.com/office/drawing/2014/main" id="{DFD74D66-6ACD-413E-B4E4-932DDC98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544" y="11841480"/>
            <a:ext cx="11649456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6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456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Choice effort</a:t>
            </a:r>
          </a:p>
        </p:txBody>
      </p:sp>
      <p:sp>
        <p:nvSpPr>
          <p:cNvPr id="17" name="feature-body-1">
            <a:extLst xmlns:a="http://schemas.openxmlformats.org/drawingml/2006/main">
              <a:ext uri="{FF2B5EF4-FFF2-40B4-BE49-F238E27FC236}">
                <a16:creationId xmlns:a16="http://schemas.microsoft.com/office/drawing/2014/main" id="{7F13FAFE-6567-4F15-91ED-9F8B4DAB5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544" y="12408408"/>
            <a:ext cx="11649456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20" b="0">
                <a:solidFill>
                  <a:srgbClr val="4C5B66"/>
                </a:solidFill>
                <a:latin typeface="Arial"/>
                <a:ea typeface="Arial"/>
                <a:cs typeface="Arial"/>
              </a:defRPr>
            </a:pPr>
            <a:r>
              <a:rPr sz="2520" b="0">
                <a:solidFill>
                  <a:srgbClr val="4C5B66"/>
                </a:solidFill>
                <a:latin typeface="Arial"/>
                <a:ea typeface="Arial"/>
                <a:cs typeface="Arial"/>
              </a:rPr>
              <a:t>How much interaction is needed to reach each path?</a:t>
            </a:r>
          </a:p>
        </p:txBody>
      </p:sp>
      <p:sp>
        <p:nvSpPr>
          <p:cNvPr id="18" name="feature-bar-2">
            <a:extLst xmlns:a="http://schemas.openxmlformats.org/drawingml/2006/main">
              <a:ext uri="{FF2B5EF4-FFF2-40B4-BE49-F238E27FC236}">
                <a16:creationId xmlns:a16="http://schemas.microsoft.com/office/drawing/2014/main" id="{F6DCC143-41C4-4F2E-B33A-84DFAAC4A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13304520"/>
            <a:ext cx="164592" cy="107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4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eature-title-2">
            <a:extLst xmlns:a="http://schemas.openxmlformats.org/drawingml/2006/main">
              <a:ext uri="{FF2B5EF4-FFF2-40B4-BE49-F238E27FC236}">
                <a16:creationId xmlns:a16="http://schemas.microsoft.com/office/drawing/2014/main" id="{F6C243F6-270A-4E43-AE66-174CA1B9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544" y="13304520"/>
            <a:ext cx="11649456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6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456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Choice framing</a:t>
            </a:r>
          </a:p>
        </p:txBody>
      </p:sp>
      <p:sp>
        <p:nvSpPr>
          <p:cNvPr id="20" name="feature-body-2">
            <a:extLst xmlns:a="http://schemas.openxmlformats.org/drawingml/2006/main">
              <a:ext uri="{FF2B5EF4-FFF2-40B4-BE49-F238E27FC236}">
                <a16:creationId xmlns:a16="http://schemas.microsoft.com/office/drawing/2014/main" id="{AB48C177-6B6D-4E91-A558-906A7FDC0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544" y="13871448"/>
            <a:ext cx="11649456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20" b="0">
                <a:solidFill>
                  <a:srgbClr val="4C5B66"/>
                </a:solidFill>
                <a:latin typeface="Arial"/>
                <a:ea typeface="Arial"/>
                <a:cs typeface="Arial"/>
              </a:defRPr>
            </a:pPr>
            <a:r>
              <a:rPr sz="2520" b="0">
                <a:solidFill>
                  <a:srgbClr val="4C5B66"/>
                </a:solidFill>
                <a:latin typeface="Arial"/>
                <a:ea typeface="Arial"/>
                <a:cs typeface="Arial"/>
              </a:rPr>
              <a:t>Does the text support transparent, unbiased choice?</a:t>
            </a:r>
          </a:p>
        </p:txBody>
      </p:sp>
      <p:sp>
        <p:nvSpPr>
          <p:cNvPr id="21" name="pipeline-label">
            <a:extLst xmlns:a="http://schemas.openxmlformats.org/drawingml/2006/main">
              <a:ext uri="{FF2B5EF4-FFF2-40B4-BE49-F238E27FC236}">
                <a16:creationId xmlns:a16="http://schemas.microsoft.com/office/drawing/2014/main" id="{13255898-0311-462E-9900-50D4B125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15087600"/>
            <a:ext cx="1207008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664" b="1">
                <a:solidFill>
                  <a:srgbClr val="1167B1"/>
                </a:solidFill>
                <a:latin typeface="Arial"/>
                <a:ea typeface="Arial"/>
                <a:cs typeface="Arial"/>
              </a:defRPr>
            </a:pPr>
            <a:r>
              <a:rPr sz="2664" b="1">
                <a:solidFill>
                  <a:srgbClr val="1167B1"/>
                </a:solidFill>
                <a:latin typeface="Arial"/>
                <a:ea typeface="Arial"/>
                <a:cs typeface="Arial"/>
              </a:rPr>
              <a:t>EVIDENCE PIPELINE</a:t>
            </a:r>
          </a:p>
        </p:txBody>
      </p:sp>
      <p:sp>
        <p:nvSpPr>
          <p:cNvPr id="22" name="pipeline-rule">
            <a:extLst xmlns:a="http://schemas.openxmlformats.org/drawingml/2006/main">
              <a:ext uri="{FF2B5EF4-FFF2-40B4-BE49-F238E27FC236}">
                <a16:creationId xmlns:a16="http://schemas.microsoft.com/office/drawing/2014/main" id="{872651A8-8814-403A-8B94-CEE60B2A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15782544"/>
            <a:ext cx="1207008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ipeline-num-0">
            <a:extLst xmlns:a="http://schemas.openxmlformats.org/drawingml/2006/main">
              <a:ext uri="{FF2B5EF4-FFF2-40B4-BE49-F238E27FC236}">
                <a16:creationId xmlns:a16="http://schemas.microsoft.com/office/drawing/2014/main" id="{8ACBF7C1-FFCA-4D9D-8C77-6A35B3ADB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16203168"/>
            <a:ext cx="64008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032" b="1">
                <a:solidFill>
                  <a:srgbClr val="1167B1"/>
                </a:solidFill>
                <a:latin typeface="Arial"/>
                <a:ea typeface="Arial"/>
                <a:cs typeface="Arial"/>
              </a:defRPr>
            </a:pPr>
            <a:r>
              <a:rPr sz="4032" b="1">
                <a:solidFill>
                  <a:srgbClr val="1167B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4" name="pipeline-title-0">
            <a:extLst xmlns:a="http://schemas.openxmlformats.org/drawingml/2006/main">
              <a:ext uri="{FF2B5EF4-FFF2-40B4-BE49-F238E27FC236}">
                <a16:creationId xmlns:a16="http://schemas.microsoft.com/office/drawing/2014/main" id="{B57C90A5-8369-44ED-A173-F1ECAB42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" y="16203168"/>
            <a:ext cx="274320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84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84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Capture</a:t>
            </a:r>
          </a:p>
        </p:txBody>
      </p:sp>
      <p:sp>
        <p:nvSpPr>
          <p:cNvPr id="25" name="pipeline-body-0">
            <a:extLst xmlns:a="http://schemas.openxmlformats.org/drawingml/2006/main">
              <a:ext uri="{FF2B5EF4-FFF2-40B4-BE49-F238E27FC236}">
                <a16:creationId xmlns:a16="http://schemas.microsoft.com/office/drawing/2014/main" id="{C526962D-60EC-4607-893E-C2AFC88B2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16267176"/>
            <a:ext cx="841248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20" b="0">
                <a:solidFill>
                  <a:srgbClr val="4C5B66"/>
                </a:solidFill>
                <a:latin typeface="Arial"/>
                <a:ea typeface="Arial"/>
                <a:cs typeface="Arial"/>
              </a:defRPr>
            </a:pPr>
            <a:r>
              <a:rPr sz="2520" b="0">
                <a:solidFill>
                  <a:srgbClr val="4C5B66"/>
                </a:solidFill>
                <a:latin typeface="Arial"/>
                <a:ea typeface="Arial"/>
                <a:cs typeface="Arial"/>
              </a:rPr>
              <a:t>Screenshot, text, DOM ref/hash</a:t>
            </a:r>
          </a:p>
        </p:txBody>
      </p:sp>
      <p:sp>
        <p:nvSpPr>
          <p:cNvPr id="26" name="pipeline-line-0">
            <a:extLst xmlns:a="http://schemas.openxmlformats.org/drawingml/2006/main">
              <a:ext uri="{FF2B5EF4-FFF2-40B4-BE49-F238E27FC236}">
                <a16:creationId xmlns:a16="http://schemas.microsoft.com/office/drawing/2014/main" id="{D6807DA0-FFD6-4125-A9DA-828163FF6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16952976"/>
            <a:ext cx="36576" cy="6949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ipeline-num-1">
            <a:extLst xmlns:a="http://schemas.openxmlformats.org/drawingml/2006/main">
              <a:ext uri="{FF2B5EF4-FFF2-40B4-BE49-F238E27FC236}">
                <a16:creationId xmlns:a16="http://schemas.microsoft.com/office/drawing/2014/main" id="{4D376E35-C848-4DA2-B6F1-5B31EC883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17702784"/>
            <a:ext cx="64008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032" b="1">
                <a:solidFill>
                  <a:srgbClr val="1167B1"/>
                </a:solidFill>
                <a:latin typeface="Arial"/>
                <a:ea typeface="Arial"/>
                <a:cs typeface="Arial"/>
              </a:defRPr>
            </a:pPr>
            <a:r>
              <a:rPr sz="4032" b="1">
                <a:solidFill>
                  <a:srgbClr val="1167B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8" name="pipeline-title-1">
            <a:extLst xmlns:a="http://schemas.openxmlformats.org/drawingml/2006/main">
              <a:ext uri="{FF2B5EF4-FFF2-40B4-BE49-F238E27FC236}">
                <a16:creationId xmlns:a16="http://schemas.microsoft.com/office/drawing/2014/main" id="{2BE1E470-BE72-4592-B026-4D1FE7F80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" y="17702784"/>
            <a:ext cx="274320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84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84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Attempt</a:t>
            </a:r>
          </a:p>
        </p:txBody>
      </p:sp>
      <p:sp>
        <p:nvSpPr>
          <p:cNvPr id="29" name="pipeline-body-1">
            <a:extLst xmlns:a="http://schemas.openxmlformats.org/drawingml/2006/main">
              <a:ext uri="{FF2B5EF4-FFF2-40B4-BE49-F238E27FC236}">
                <a16:creationId xmlns:a16="http://schemas.microsoft.com/office/drawing/2014/main" id="{CE904421-35C4-4473-B4A6-34929F6D0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17766792"/>
            <a:ext cx="841248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20" b="0">
                <a:solidFill>
                  <a:srgbClr val="4C5B66"/>
                </a:solidFill>
                <a:latin typeface="Arial"/>
                <a:ea typeface="Arial"/>
                <a:cs typeface="Arial"/>
              </a:defRPr>
            </a:pPr>
            <a:r>
              <a:rPr sz="2520" b="0">
                <a:solidFill>
                  <a:srgbClr val="4C5B66"/>
                </a:solidFill>
                <a:latin typeface="Arial"/>
                <a:ea typeface="Arial"/>
                <a:cs typeface="Arial"/>
              </a:rPr>
              <a:t>Accept / Reject / Customize / Dismiss</a:t>
            </a:r>
          </a:p>
        </p:txBody>
      </p:sp>
      <p:sp>
        <p:nvSpPr>
          <p:cNvPr id="30" name="pipeline-line-1">
            <a:extLst xmlns:a="http://schemas.openxmlformats.org/drawingml/2006/main">
              <a:ext uri="{FF2B5EF4-FFF2-40B4-BE49-F238E27FC236}">
                <a16:creationId xmlns:a16="http://schemas.microsoft.com/office/drawing/2014/main" id="{67D0EFF1-7CE9-4C02-BE12-2C5497E5F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18452592"/>
            <a:ext cx="36576" cy="6949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ipeline-num-2">
            <a:extLst xmlns:a="http://schemas.openxmlformats.org/drawingml/2006/main">
              <a:ext uri="{FF2B5EF4-FFF2-40B4-BE49-F238E27FC236}">
                <a16:creationId xmlns:a16="http://schemas.microsoft.com/office/drawing/2014/main" id="{CCD94B9B-1FA3-4898-BD65-0DE6A6F6B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19202400"/>
            <a:ext cx="64008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032" b="1">
                <a:solidFill>
                  <a:srgbClr val="1167B1"/>
                </a:solidFill>
                <a:latin typeface="Arial"/>
                <a:ea typeface="Arial"/>
                <a:cs typeface="Arial"/>
              </a:defRPr>
            </a:pPr>
            <a:r>
              <a:rPr sz="4032" b="1">
                <a:solidFill>
                  <a:srgbClr val="1167B1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2" name="pipeline-title-2">
            <a:extLst xmlns:a="http://schemas.openxmlformats.org/drawingml/2006/main">
              <a:ext uri="{FF2B5EF4-FFF2-40B4-BE49-F238E27FC236}">
                <a16:creationId xmlns:a16="http://schemas.microsoft.com/office/drawing/2014/main" id="{8FBD3825-CD9D-437A-9867-89A80EF09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" y="19202400"/>
            <a:ext cx="274320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84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84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Score</a:t>
            </a:r>
          </a:p>
        </p:txBody>
      </p:sp>
      <p:sp>
        <p:nvSpPr>
          <p:cNvPr id="33" name="pipeline-body-2">
            <a:extLst xmlns:a="http://schemas.openxmlformats.org/drawingml/2006/main">
              <a:ext uri="{FF2B5EF4-FFF2-40B4-BE49-F238E27FC236}">
                <a16:creationId xmlns:a16="http://schemas.microsoft.com/office/drawing/2014/main" id="{510B5830-9CB5-4DE3-8834-7529E7F5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19266408"/>
            <a:ext cx="841248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20" b="0">
                <a:solidFill>
                  <a:srgbClr val="4C5B66"/>
                </a:solidFill>
                <a:latin typeface="Arial"/>
                <a:ea typeface="Arial"/>
                <a:cs typeface="Arial"/>
              </a:defRPr>
            </a:pPr>
            <a:r>
              <a:rPr sz="2520" b="0">
                <a:solidFill>
                  <a:srgbClr val="4C5B66"/>
                </a:solidFill>
                <a:latin typeface="Arial"/>
                <a:ea typeface="Arial"/>
                <a:cs typeface="Arial"/>
              </a:rPr>
              <a:t>Three deterministic layers</a:t>
            </a:r>
          </a:p>
        </p:txBody>
      </p:sp>
      <p:sp>
        <p:nvSpPr>
          <p:cNvPr id="34" name="pipeline-line-2">
            <a:extLst xmlns:a="http://schemas.openxmlformats.org/drawingml/2006/main">
              <a:ext uri="{FF2B5EF4-FFF2-40B4-BE49-F238E27FC236}">
                <a16:creationId xmlns:a16="http://schemas.microsoft.com/office/drawing/2014/main" id="{5DCFE4C2-88A6-49DC-9989-54CBCBCC0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19952208"/>
            <a:ext cx="36576" cy="6949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ipeline-num-3">
            <a:extLst xmlns:a="http://schemas.openxmlformats.org/drawingml/2006/main">
              <a:ext uri="{FF2B5EF4-FFF2-40B4-BE49-F238E27FC236}">
                <a16:creationId xmlns:a16="http://schemas.microsoft.com/office/drawing/2014/main" id="{64BED018-84FB-4C50-A755-E18E0FE0B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20702016"/>
            <a:ext cx="64008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032" b="1">
                <a:solidFill>
                  <a:srgbClr val="1167B1"/>
                </a:solidFill>
                <a:latin typeface="Arial"/>
                <a:ea typeface="Arial"/>
                <a:cs typeface="Arial"/>
              </a:defRPr>
            </a:pPr>
            <a:r>
              <a:rPr sz="4032" b="1">
                <a:solidFill>
                  <a:srgbClr val="1167B1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6" name="pipeline-title-3">
            <a:extLst xmlns:a="http://schemas.openxmlformats.org/drawingml/2006/main">
              <a:ext uri="{FF2B5EF4-FFF2-40B4-BE49-F238E27FC236}">
                <a16:creationId xmlns:a16="http://schemas.microsoft.com/office/drawing/2014/main" id="{C980A330-4E0E-4BC9-A5F8-29F79DBB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" y="20702016"/>
            <a:ext cx="274320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84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84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Version</a:t>
            </a:r>
          </a:p>
        </p:txBody>
      </p:sp>
      <p:sp>
        <p:nvSpPr>
          <p:cNvPr id="37" name="pipeline-body-3">
            <a:extLst xmlns:a="http://schemas.openxmlformats.org/drawingml/2006/main">
              <a:ext uri="{FF2B5EF4-FFF2-40B4-BE49-F238E27FC236}">
                <a16:creationId xmlns:a16="http://schemas.microsoft.com/office/drawing/2014/main" id="{EE173F79-BFFA-48FA-B249-0F8812C0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0766024"/>
            <a:ext cx="841248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20" b="0">
                <a:solidFill>
                  <a:srgbClr val="4C5B66"/>
                </a:solidFill>
                <a:latin typeface="Arial"/>
                <a:ea typeface="Arial"/>
                <a:cs typeface="Arial"/>
              </a:defRPr>
            </a:pPr>
            <a:r>
              <a:rPr sz="2520" b="0">
                <a:solidFill>
                  <a:srgbClr val="4C5B66"/>
                </a:solidFill>
                <a:latin typeface="Arial"/>
                <a:ea typeface="Arial"/>
                <a:cs typeface="Arial"/>
              </a:rPr>
              <a:t>AuditReport + WeeklySummary</a:t>
            </a:r>
          </a:p>
        </p:txBody>
      </p:sp>
      <p:sp>
        <p:nvSpPr>
          <p:cNvPr id="38" name="pipeline-note">
            <a:extLst xmlns:a="http://schemas.openxmlformats.org/drawingml/2006/main">
              <a:ext uri="{FF2B5EF4-FFF2-40B4-BE49-F238E27FC236}">
                <a16:creationId xmlns:a16="http://schemas.microsoft.com/office/drawing/2014/main" id="{ABEC31A0-E5DA-43DE-A865-C46C794C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22402800"/>
            <a:ext cx="12070080" cy="1005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80" b="1">
                <a:solidFill>
                  <a:srgbClr val="4C5B66"/>
                </a:solidFill>
                <a:latin typeface="Arial"/>
                <a:ea typeface="Arial"/>
                <a:cs typeface="Arial"/>
              </a:defRPr>
            </a:pPr>
            <a:r>
              <a:rPr sz="2880" b="1">
                <a:solidFill>
                  <a:srgbClr val="4C5B66"/>
                </a:solidFill>
                <a:latin typeface="Arial"/>
                <a:ea typeface="Arial"/>
                <a:cs typeface="Arial"/>
              </a:rPr>
              <a:t>One capture bundle supports both RQ1 scoring and RQ2 longitudinal versioning.</a:t>
            </a:r>
          </a:p>
        </p:txBody>
      </p:sp>
      <p:sp>
        <p:nvSpPr>
          <p:cNvPr id="39" name="guardrail-label">
            <a:extLst xmlns:a="http://schemas.openxmlformats.org/drawingml/2006/main">
              <a:ext uri="{FF2B5EF4-FFF2-40B4-BE49-F238E27FC236}">
                <a16:creationId xmlns:a16="http://schemas.microsoft.com/office/drawing/2014/main" id="{A87BD997-20FD-4E24-81E9-DF9EB0DE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24231600"/>
            <a:ext cx="1207008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664" b="1">
                <a:solidFill>
                  <a:srgbClr val="1167B1"/>
                </a:solidFill>
                <a:latin typeface="Arial"/>
                <a:ea typeface="Arial"/>
                <a:cs typeface="Arial"/>
              </a:defRPr>
            </a:pPr>
            <a:r>
              <a:rPr sz="2664" b="1">
                <a:solidFill>
                  <a:srgbClr val="1167B1"/>
                </a:solidFill>
                <a:latin typeface="Arial"/>
                <a:ea typeface="Arial"/>
                <a:cs typeface="Arial"/>
              </a:rPr>
              <a:t>SCORING GUARDRAIL</a:t>
            </a:r>
          </a:p>
        </p:txBody>
      </p:sp>
      <p:sp>
        <p:nvSpPr>
          <p:cNvPr id="40" name="guardrail-rule">
            <a:extLst xmlns:a="http://schemas.openxmlformats.org/drawingml/2006/main">
              <a:ext uri="{FF2B5EF4-FFF2-40B4-BE49-F238E27FC236}">
                <a16:creationId xmlns:a16="http://schemas.microsoft.com/office/drawing/2014/main" id="{7BEF3017-C1E6-43CA-9FF4-BF69CFDF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24926544"/>
            <a:ext cx="1207008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guardrail-bar">
            <a:extLst xmlns:a="http://schemas.openxmlformats.org/drawingml/2006/main">
              <a:ext uri="{FF2B5EF4-FFF2-40B4-BE49-F238E27FC236}">
                <a16:creationId xmlns:a16="http://schemas.microsoft.com/office/drawing/2014/main" id="{B13B8FD8-6FC8-4D01-A359-C5E537CA5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25328880"/>
            <a:ext cx="128016" cy="3017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guardrail-copy">
            <a:extLst xmlns:a="http://schemas.openxmlformats.org/drawingml/2006/main">
              <a:ext uri="{FF2B5EF4-FFF2-40B4-BE49-F238E27FC236}">
                <a16:creationId xmlns:a16="http://schemas.microsoft.com/office/drawing/2014/main" id="{0CAADBE7-D07B-433B-AB36-EE59681D5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968" y="25347168"/>
            <a:ext cx="11686032" cy="3017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6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456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Current pilot scoring uses deterministic DOM and text rules. External models are not wired into scoring; future model output must be schema-validated and evidence-linked.</a:t>
            </a:r>
          </a:p>
        </p:txBody>
      </p:sp>
      <p:sp>
        <p:nvSpPr>
          <p:cNvPr id="43" name="snapshot-label">
            <a:extLst xmlns:a="http://schemas.openxmlformats.org/drawingml/2006/main">
              <a:ext uri="{FF2B5EF4-FFF2-40B4-BE49-F238E27FC236}">
                <a16:creationId xmlns:a16="http://schemas.microsoft.com/office/drawing/2014/main" id="{BBA76D2B-8545-4CBE-AA37-1417E6BD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6949440"/>
            <a:ext cx="1353312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664" b="1">
                <a:solidFill>
                  <a:srgbClr val="1167B1"/>
                </a:solidFill>
                <a:latin typeface="Arial"/>
                <a:ea typeface="Arial"/>
                <a:cs typeface="Arial"/>
              </a:defRPr>
            </a:pPr>
            <a:r>
              <a:rPr sz="2664" b="1">
                <a:solidFill>
                  <a:srgbClr val="1167B1"/>
                </a:solidFill>
                <a:latin typeface="Arial"/>
                <a:ea typeface="Arial"/>
                <a:cs typeface="Arial"/>
              </a:rPr>
              <a:t>CURRENT EVIDENCE SNAPSHOT</a:t>
            </a:r>
          </a:p>
        </p:txBody>
      </p:sp>
      <p:sp>
        <p:nvSpPr>
          <p:cNvPr id="44" name="snapshot-rule">
            <a:extLst xmlns:a="http://schemas.openxmlformats.org/drawingml/2006/main">
              <a:ext uri="{FF2B5EF4-FFF2-40B4-BE49-F238E27FC236}">
                <a16:creationId xmlns:a16="http://schemas.microsoft.com/office/drawing/2014/main" id="{581AA66B-975B-47D6-AF22-D504E3A6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7644384"/>
            <a:ext cx="1353312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metric-0-label">
            <a:extLst xmlns:a="http://schemas.openxmlformats.org/drawingml/2006/main">
              <a:ext uri="{FF2B5EF4-FFF2-40B4-BE49-F238E27FC236}">
                <a16:creationId xmlns:a16="http://schemas.microsoft.com/office/drawing/2014/main" id="{4E6E51AB-2A3C-4456-AA1B-3F9A1747B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7955280"/>
            <a:ext cx="1170432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08" b="0">
                <a:solidFill>
                  <a:srgbClr val="4C5B66"/>
                </a:solidFill>
                <a:latin typeface="Arial"/>
                <a:ea typeface="Arial"/>
                <a:cs typeface="Arial"/>
              </a:defRPr>
            </a:pPr>
            <a:r>
              <a:rPr sz="2808" b="0">
                <a:solidFill>
                  <a:srgbClr val="4C5B66"/>
                </a:solidFill>
                <a:latin typeface="Arial"/>
                <a:ea typeface="Arial"/>
                <a:cs typeface="Arial"/>
              </a:rPr>
              <a:t>Week 2 target sites</a:t>
            </a:r>
          </a:p>
        </p:txBody>
      </p:sp>
      <p:sp>
        <p:nvSpPr>
          <p:cNvPr id="46" name="metric-0-value">
            <a:extLst xmlns:a="http://schemas.openxmlformats.org/drawingml/2006/main">
              <a:ext uri="{FF2B5EF4-FFF2-40B4-BE49-F238E27FC236}">
                <a16:creationId xmlns:a16="http://schemas.microsoft.com/office/drawing/2014/main" id="{B7E66AD5-7B89-44BD-A3D0-4D1ADCAE3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0" y="7955280"/>
            <a:ext cx="164592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3096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096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7" name="metric-0-line">
            <a:extLst xmlns:a="http://schemas.openxmlformats.org/drawingml/2006/main">
              <a:ext uri="{FF2B5EF4-FFF2-40B4-BE49-F238E27FC236}">
                <a16:creationId xmlns:a16="http://schemas.microsoft.com/office/drawing/2014/main" id="{3A58DB96-8414-4765-9393-FF8DA7F57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8613648"/>
            <a:ext cx="1353312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metric-1-label">
            <a:extLst xmlns:a="http://schemas.openxmlformats.org/drawingml/2006/main">
              <a:ext uri="{FF2B5EF4-FFF2-40B4-BE49-F238E27FC236}">
                <a16:creationId xmlns:a16="http://schemas.microsoft.com/office/drawing/2014/main" id="{9C49E880-5F89-4BEB-85D3-690407177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8650224"/>
            <a:ext cx="1170432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08" b="0">
                <a:solidFill>
                  <a:srgbClr val="4C5B66"/>
                </a:solidFill>
                <a:latin typeface="Arial"/>
                <a:ea typeface="Arial"/>
                <a:cs typeface="Arial"/>
              </a:defRPr>
            </a:pPr>
            <a:r>
              <a:rPr sz="2808" b="0">
                <a:solidFill>
                  <a:srgbClr val="4C5B66"/>
                </a:solidFill>
                <a:latin typeface="Arial"/>
                <a:ea typeface="Arial"/>
                <a:cs typeface="Arial"/>
              </a:rPr>
              <a:t>Audit reports</a:t>
            </a:r>
          </a:p>
        </p:txBody>
      </p:sp>
      <p:sp>
        <p:nvSpPr>
          <p:cNvPr id="49" name="metric-1-value">
            <a:extLst xmlns:a="http://schemas.openxmlformats.org/drawingml/2006/main">
              <a:ext uri="{FF2B5EF4-FFF2-40B4-BE49-F238E27FC236}">
                <a16:creationId xmlns:a16="http://schemas.microsoft.com/office/drawing/2014/main" id="{9CD133CB-EEFB-429F-97B5-733BA0DA5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0" y="8650224"/>
            <a:ext cx="164592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3096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096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42</a:t>
            </a:r>
          </a:p>
        </p:txBody>
      </p:sp>
      <p:sp>
        <p:nvSpPr>
          <p:cNvPr id="50" name="metric-1-line">
            <a:extLst xmlns:a="http://schemas.openxmlformats.org/drawingml/2006/main">
              <a:ext uri="{FF2B5EF4-FFF2-40B4-BE49-F238E27FC236}">
                <a16:creationId xmlns:a16="http://schemas.microsoft.com/office/drawing/2014/main" id="{F656061D-25CB-4A59-A8B9-1E075253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9308592"/>
            <a:ext cx="1353312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metric-2-label">
            <a:extLst xmlns:a="http://schemas.openxmlformats.org/drawingml/2006/main">
              <a:ext uri="{FF2B5EF4-FFF2-40B4-BE49-F238E27FC236}">
                <a16:creationId xmlns:a16="http://schemas.microsoft.com/office/drawing/2014/main" id="{EEF2E639-A62B-40AB-8D45-D9624285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9345168"/>
            <a:ext cx="1170432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08" b="0">
                <a:solidFill>
                  <a:srgbClr val="4C5B66"/>
                </a:solidFill>
                <a:latin typeface="Arial"/>
                <a:ea typeface="Arial"/>
                <a:cs typeface="Arial"/>
              </a:defRPr>
            </a:pPr>
            <a:r>
              <a:rPr sz="2808" b="0">
                <a:solidFill>
                  <a:srgbClr val="4C5B66"/>
                </a:solidFill>
                <a:latin typeface="Arial"/>
                <a:ea typeface="Arial"/>
                <a:cs typeface="Arial"/>
              </a:rPr>
              <a:t>Longitudinal summaries</a:t>
            </a:r>
          </a:p>
        </p:txBody>
      </p:sp>
      <p:sp>
        <p:nvSpPr>
          <p:cNvPr id="52" name="metric-2-value">
            <a:extLst xmlns:a="http://schemas.openxmlformats.org/drawingml/2006/main">
              <a:ext uri="{FF2B5EF4-FFF2-40B4-BE49-F238E27FC236}">
                <a16:creationId xmlns:a16="http://schemas.microsoft.com/office/drawing/2014/main" id="{05585A88-A429-4DE7-8D0C-D7AA4E4E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0" y="9345168"/>
            <a:ext cx="164592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3096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096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53" name="metric-2-line">
            <a:extLst xmlns:a="http://schemas.openxmlformats.org/drawingml/2006/main">
              <a:ext uri="{FF2B5EF4-FFF2-40B4-BE49-F238E27FC236}">
                <a16:creationId xmlns:a16="http://schemas.microsoft.com/office/drawing/2014/main" id="{94610762-16E5-4247-9487-96DCB40C0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10003536"/>
            <a:ext cx="1353312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metric-3-label">
            <a:extLst xmlns:a="http://schemas.openxmlformats.org/drawingml/2006/main">
              <a:ext uri="{FF2B5EF4-FFF2-40B4-BE49-F238E27FC236}">
                <a16:creationId xmlns:a16="http://schemas.microsoft.com/office/drawing/2014/main" id="{E9724762-0C35-47AF-B1BE-9E1A60393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10040112"/>
            <a:ext cx="1170432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08" b="0">
                <a:solidFill>
                  <a:srgbClr val="4C5B66"/>
                </a:solidFill>
                <a:latin typeface="Arial"/>
                <a:ea typeface="Arial"/>
                <a:cs typeface="Arial"/>
              </a:defRPr>
            </a:pPr>
            <a:r>
              <a:rPr sz="2808" b="0">
                <a:solidFill>
                  <a:srgbClr val="4C5B66"/>
                </a:solidFill>
                <a:latin typeface="Arial"/>
                <a:ea typeface="Arial"/>
                <a:cs typeface="Arial"/>
              </a:rPr>
              <a:t>Site layer1.png screenshots</a:t>
            </a:r>
          </a:p>
        </p:txBody>
      </p:sp>
      <p:sp>
        <p:nvSpPr>
          <p:cNvPr id="55" name="metric-3-value">
            <a:extLst xmlns:a="http://schemas.openxmlformats.org/drawingml/2006/main">
              <a:ext uri="{FF2B5EF4-FFF2-40B4-BE49-F238E27FC236}">
                <a16:creationId xmlns:a16="http://schemas.microsoft.com/office/drawing/2014/main" id="{C9A6295A-645B-48AE-907A-0F9BAB80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0" y="10040112"/>
            <a:ext cx="164592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3096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096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326</a:t>
            </a:r>
          </a:p>
        </p:txBody>
      </p:sp>
      <p:sp>
        <p:nvSpPr>
          <p:cNvPr id="56" name="metric-3-line">
            <a:extLst xmlns:a="http://schemas.openxmlformats.org/drawingml/2006/main">
              <a:ext uri="{FF2B5EF4-FFF2-40B4-BE49-F238E27FC236}">
                <a16:creationId xmlns:a16="http://schemas.microsoft.com/office/drawing/2014/main" id="{86B6148A-1DB3-45D6-8B45-9BA37322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10698480"/>
            <a:ext cx="1353312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metric-4-label">
            <a:extLst xmlns:a="http://schemas.openxmlformats.org/drawingml/2006/main">
              <a:ext uri="{FF2B5EF4-FFF2-40B4-BE49-F238E27FC236}">
                <a16:creationId xmlns:a16="http://schemas.microsoft.com/office/drawing/2014/main" id="{ACFFFD0E-D054-497B-93ED-D2788F6F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10735056"/>
            <a:ext cx="1170432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08" b="0">
                <a:solidFill>
                  <a:srgbClr val="4C5B66"/>
                </a:solidFill>
                <a:latin typeface="Arial"/>
                <a:ea typeface="Arial"/>
                <a:cs typeface="Arial"/>
              </a:defRPr>
            </a:pPr>
            <a:r>
              <a:rPr sz="2808" b="0">
                <a:solidFill>
                  <a:srgbClr val="4C5B66"/>
                </a:solidFill>
                <a:latin typeface="Arial"/>
                <a:ea typeface="Arial"/>
                <a:cs typeface="Arial"/>
              </a:rPr>
              <a:t>Synced raw layer1.html files</a:t>
            </a:r>
          </a:p>
        </p:txBody>
      </p:sp>
      <p:sp>
        <p:nvSpPr>
          <p:cNvPr id="58" name="metric-4-value">
            <a:extLst xmlns:a="http://schemas.openxmlformats.org/drawingml/2006/main">
              <a:ext uri="{FF2B5EF4-FFF2-40B4-BE49-F238E27FC236}">
                <a16:creationId xmlns:a16="http://schemas.microsoft.com/office/drawing/2014/main" id="{60F52639-BEDF-4616-AB19-B0CB8B007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0" y="10735056"/>
            <a:ext cx="164592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3096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096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9" name="metric-4-line">
            <a:extLst xmlns:a="http://schemas.openxmlformats.org/drawingml/2006/main">
              <a:ext uri="{FF2B5EF4-FFF2-40B4-BE49-F238E27FC236}">
                <a16:creationId xmlns:a16="http://schemas.microsoft.com/office/drawing/2014/main" id="{3013BCFF-E121-4692-84EA-0998DBDD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11393424"/>
            <a:ext cx="1353312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metric-5-label">
            <a:extLst xmlns:a="http://schemas.openxmlformats.org/drawingml/2006/main">
              <a:ext uri="{FF2B5EF4-FFF2-40B4-BE49-F238E27FC236}">
                <a16:creationId xmlns:a16="http://schemas.microsoft.com/office/drawing/2014/main" id="{A9C75DD1-270E-4330-B3C6-6380D315C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11430000"/>
            <a:ext cx="1170432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08" b="0">
                <a:solidFill>
                  <a:srgbClr val="4C5B66"/>
                </a:solidFill>
                <a:latin typeface="Arial"/>
                <a:ea typeface="Arial"/>
                <a:cs typeface="Arial"/>
              </a:defRPr>
            </a:pPr>
            <a:r>
              <a:rPr sz="2808" b="0">
                <a:solidFill>
                  <a:srgbClr val="4C5B66"/>
                </a:solidFill>
                <a:latin typeface="Arial"/>
                <a:ea typeface="Arial"/>
                <a:cs typeface="Arial"/>
              </a:rPr>
              <a:t>Current-five blank decisions</a:t>
            </a:r>
          </a:p>
        </p:txBody>
      </p:sp>
      <p:sp>
        <p:nvSpPr>
          <p:cNvPr id="61" name="metric-5-value">
            <a:extLst xmlns:a="http://schemas.openxmlformats.org/drawingml/2006/main">
              <a:ext uri="{FF2B5EF4-FFF2-40B4-BE49-F238E27FC236}">
                <a16:creationId xmlns:a16="http://schemas.microsoft.com/office/drawing/2014/main" id="{93D4BC7F-FCEC-4EC5-B31C-8B6A12125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0" y="11430000"/>
            <a:ext cx="164592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3096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096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2" name="metric-5-line">
            <a:extLst xmlns:a="http://schemas.openxmlformats.org/drawingml/2006/main">
              <a:ext uri="{FF2B5EF4-FFF2-40B4-BE49-F238E27FC236}">
                <a16:creationId xmlns:a16="http://schemas.microsoft.com/office/drawing/2014/main" id="{0E8E5228-A010-4118-99E7-90BE246E7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12088368"/>
            <a:ext cx="1353312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metric-6-label">
            <a:extLst xmlns:a="http://schemas.openxmlformats.org/drawingml/2006/main">
              <a:ext uri="{FF2B5EF4-FFF2-40B4-BE49-F238E27FC236}">
                <a16:creationId xmlns:a16="http://schemas.microsoft.com/office/drawing/2014/main" id="{D065E34E-7E45-4B8F-82CF-19981981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12124944"/>
            <a:ext cx="1170432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08" b="0">
                <a:solidFill>
                  <a:srgbClr val="4C5B66"/>
                </a:solidFill>
                <a:latin typeface="Arial"/>
                <a:ea typeface="Arial"/>
                <a:cs typeface="Arial"/>
              </a:defRPr>
            </a:pPr>
            <a:r>
              <a:rPr sz="2808" b="0">
                <a:solidFill>
                  <a:srgbClr val="4C5B66"/>
                </a:solidFill>
                <a:latin typeface="Arial"/>
                <a:ea typeface="Arial"/>
                <a:cs typeface="Arial"/>
              </a:rPr>
              <a:t>Pending CMP confirmations</a:t>
            </a:r>
          </a:p>
        </p:txBody>
      </p:sp>
      <p:sp>
        <p:nvSpPr>
          <p:cNvPr id="64" name="metric-6-value">
            <a:extLst xmlns:a="http://schemas.openxmlformats.org/drawingml/2006/main">
              <a:ext uri="{FF2B5EF4-FFF2-40B4-BE49-F238E27FC236}">
                <a16:creationId xmlns:a16="http://schemas.microsoft.com/office/drawing/2014/main" id="{8B16F471-90C2-416F-9720-65C22B30D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0" y="12124944"/>
            <a:ext cx="164592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3096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096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65" name="metric-6-line">
            <a:extLst xmlns:a="http://schemas.openxmlformats.org/drawingml/2006/main">
              <a:ext uri="{FF2B5EF4-FFF2-40B4-BE49-F238E27FC236}">
                <a16:creationId xmlns:a16="http://schemas.microsoft.com/office/drawing/2014/main" id="{3FAA93E6-4975-43CA-A2E2-6AFDF3174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12783312"/>
            <a:ext cx="1353312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snapshot-caption">
            <a:extLst xmlns:a="http://schemas.openxmlformats.org/drawingml/2006/main">
              <a:ext uri="{FF2B5EF4-FFF2-40B4-BE49-F238E27FC236}">
                <a16:creationId xmlns:a16="http://schemas.microsoft.com/office/drawing/2014/main" id="{F8C0AD96-EB6F-422C-92BC-F2CFFD65C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12865608"/>
            <a:ext cx="1353312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32" b="0">
                <a:solidFill>
                  <a:srgbClr val="4C5B66"/>
                </a:solidFill>
                <a:latin typeface="Arial"/>
                <a:ea typeface="Arial"/>
                <a:cs typeface="Arial"/>
              </a:defRPr>
            </a:pPr>
            <a:r>
              <a:rPr sz="2232" b="0">
                <a:solidFill>
                  <a:srgbClr val="4C5B66"/>
                </a:solidFill>
                <a:latin typeface="Arial"/>
                <a:ea typeface="Arial"/>
                <a:cs typeface="Arial"/>
              </a:rPr>
              <a:t>Counts from the current evidence package, rechecked July 29, 2026.</a:t>
            </a:r>
          </a:p>
        </p:txBody>
      </p:sp>
      <p:sp>
        <p:nvSpPr>
          <p:cNvPr id="67" name="guardian-label">
            <a:extLst xmlns:a="http://schemas.openxmlformats.org/drawingml/2006/main">
              <a:ext uri="{FF2B5EF4-FFF2-40B4-BE49-F238E27FC236}">
                <a16:creationId xmlns:a16="http://schemas.microsoft.com/office/drawing/2014/main" id="{81B8AF6A-F1EA-4473-8A25-3465A9AF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13807440"/>
            <a:ext cx="1353312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664" b="1">
                <a:solidFill>
                  <a:srgbClr val="1167B1"/>
                </a:solidFill>
                <a:latin typeface="Arial"/>
                <a:ea typeface="Arial"/>
                <a:cs typeface="Arial"/>
              </a:defRPr>
            </a:pPr>
            <a:r>
              <a:rPr sz="2664" b="1">
                <a:solidFill>
                  <a:srgbClr val="1167B1"/>
                </a:solidFill>
                <a:latin typeface="Arial"/>
                <a:ea typeface="Arial"/>
                <a:cs typeface="Arial"/>
              </a:rPr>
              <a:t>EVIDENCE CARD: THE GUARDIAN</a:t>
            </a:r>
          </a:p>
        </p:txBody>
      </p:sp>
      <p:sp>
        <p:nvSpPr>
          <p:cNvPr id="68" name="guardian-rule">
            <a:extLst xmlns:a="http://schemas.openxmlformats.org/drawingml/2006/main">
              <a:ext uri="{FF2B5EF4-FFF2-40B4-BE49-F238E27FC236}">
                <a16:creationId xmlns:a16="http://schemas.microsoft.com/office/drawing/2014/main" id="{0CA70EA8-A16F-4C6A-867B-539B74A7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14502384"/>
            <a:ext cx="1353312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guardian-frame">
            <a:extLst xmlns:a="http://schemas.openxmlformats.org/drawingml/2006/main">
              <a:ext uri="{FF2B5EF4-FFF2-40B4-BE49-F238E27FC236}">
                <a16:creationId xmlns:a16="http://schemas.microsoft.com/office/drawing/2014/main" id="{110B314C-2DB5-49C1-9E93-7F0C15CD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14813280"/>
            <a:ext cx="13533120" cy="525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19050">
            <a:solidFill>
              <a:srgbClr val="B8C0C8"/>
            </a:solidFill>
            <a:prstDash val="solid"/>
          </a:ln>
        </p:spPr>
      </p:sp>
      <p:pic>
        <p:nvPicPr>
          <p:cNvPr id="1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265e35559946a8"/>
          <a:stretch xmlns:a="http://schemas.openxmlformats.org/drawingml/2006/main"/>
        </p:blipFill>
        <p:spPr>
          <a:xfrm xmlns:a="http://schemas.openxmlformats.org/drawingml/2006/main">
            <a:off x="17373600" y="14923008"/>
            <a:ext cx="8046720" cy="5029200"/>
          </a:xfrm>
          <a:prstGeom xmlns:a="http://schemas.openxmlformats.org/drawingml/2006/main" prst="rect">
            <a:avLst/>
          </a:prstGeom>
        </p:spPr>
      </p:pic>
      <p:sp>
        <p:nvSpPr>
          <p:cNvPr id="71" name="guardian-caption">
            <a:extLst xmlns:a="http://schemas.openxmlformats.org/drawingml/2006/main">
              <a:ext uri="{FF2B5EF4-FFF2-40B4-BE49-F238E27FC236}">
                <a16:creationId xmlns:a16="http://schemas.microsoft.com/office/drawing/2014/main" id="{79375A12-49D1-466C-89A7-E0BAD2C03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20317968"/>
            <a:ext cx="1353312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8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88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Stored screenshot evidence shows a visible consent-choice screen with accept, reject, and manage-cookie choices. Method evidence only; not a legal-compliance claim.</a:t>
            </a:r>
          </a:p>
        </p:txBody>
      </p:sp>
      <p:sp>
        <p:nvSpPr>
          <p:cNvPr id="72" name="coca-label">
            <a:extLst xmlns:a="http://schemas.openxmlformats.org/drawingml/2006/main">
              <a:ext uri="{FF2B5EF4-FFF2-40B4-BE49-F238E27FC236}">
                <a16:creationId xmlns:a16="http://schemas.microsoft.com/office/drawing/2014/main" id="{88DE1B9E-C94D-4F00-8426-48019AE1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22357080"/>
            <a:ext cx="1353312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664" b="1">
                <a:solidFill>
                  <a:srgbClr val="1167B1"/>
                </a:solidFill>
                <a:latin typeface="Arial"/>
                <a:ea typeface="Arial"/>
                <a:cs typeface="Arial"/>
              </a:defRPr>
            </a:pPr>
            <a:r>
              <a:rPr sz="2664" b="1">
                <a:solidFill>
                  <a:srgbClr val="1167B1"/>
                </a:solidFill>
                <a:latin typeface="Arial"/>
                <a:ea typeface="Arial"/>
                <a:cs typeface="Arial"/>
              </a:rPr>
              <a:t>EVIDENCE CARD: COCA-COLA</a:t>
            </a:r>
          </a:p>
        </p:txBody>
      </p:sp>
      <p:sp>
        <p:nvSpPr>
          <p:cNvPr id="73" name="coca-rule">
            <a:extLst xmlns:a="http://schemas.openxmlformats.org/drawingml/2006/main">
              <a:ext uri="{FF2B5EF4-FFF2-40B4-BE49-F238E27FC236}">
                <a16:creationId xmlns:a16="http://schemas.microsoft.com/office/drawing/2014/main" id="{974E8D42-0773-4F4E-B178-320AB77AF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23052024"/>
            <a:ext cx="1353312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coca-frame">
            <a:extLst xmlns:a="http://schemas.openxmlformats.org/drawingml/2006/main">
              <a:ext uri="{FF2B5EF4-FFF2-40B4-BE49-F238E27FC236}">
                <a16:creationId xmlns:a16="http://schemas.microsoft.com/office/drawing/2014/main" id="{35AB5E3D-7636-405A-8754-BDB92DAF0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23362920"/>
            <a:ext cx="13533120" cy="525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19050">
            <a:solidFill>
              <a:srgbClr val="B8C0C8"/>
            </a:solidFill>
            <a:prstDash val="solid"/>
          </a:ln>
        </p:spPr>
      </p:sp>
      <p:pic>
        <p:nvPicPr>
          <p:cNvPr id="1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bc8a20f000442e"/>
          <a:stretch xmlns:a="http://schemas.openxmlformats.org/drawingml/2006/main"/>
        </p:blipFill>
        <p:spPr>
          <a:xfrm xmlns:a="http://schemas.openxmlformats.org/drawingml/2006/main">
            <a:off x="17373600" y="23472648"/>
            <a:ext cx="8046720" cy="5029200"/>
          </a:xfrm>
          <a:prstGeom xmlns:a="http://schemas.openxmlformats.org/drawingml/2006/main" prst="rect">
            <a:avLst/>
          </a:prstGeom>
        </p:spPr>
      </p:pic>
      <p:sp>
        <p:nvSpPr>
          <p:cNvPr id="76" name="coca-caption">
            <a:extLst xmlns:a="http://schemas.openxmlformats.org/drawingml/2006/main">
              <a:ext uri="{FF2B5EF4-FFF2-40B4-BE49-F238E27FC236}">
                <a16:creationId xmlns:a16="http://schemas.microsoft.com/office/drawing/2014/main" id="{A0F788D5-6631-471D-9DE7-F7DBE945D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28876752"/>
            <a:ext cx="13533120" cy="109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8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88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Stored screenshot evidence shows a visible Privacy Preference Center with consent controls. Method evidence only; not a legal-compliance claim.</a:t>
            </a:r>
          </a:p>
        </p:txBody>
      </p:sp>
      <p:sp>
        <p:nvSpPr>
          <p:cNvPr id="77" name="contrast-label">
            <a:extLst xmlns:a="http://schemas.openxmlformats.org/drawingml/2006/main">
              <a:ext uri="{FF2B5EF4-FFF2-40B4-BE49-F238E27FC236}">
                <a16:creationId xmlns:a16="http://schemas.microsoft.com/office/drawing/2014/main" id="{2F2618AC-C022-4851-A934-6F2A7DB2C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0" y="6949440"/>
            <a:ext cx="1243584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664" b="1">
                <a:solidFill>
                  <a:srgbClr val="1167B1"/>
                </a:solidFill>
                <a:latin typeface="Arial"/>
                <a:ea typeface="Arial"/>
                <a:cs typeface="Arial"/>
              </a:defRPr>
            </a:pPr>
            <a:r>
              <a:rPr sz="2664" b="1">
                <a:solidFill>
                  <a:srgbClr val="1167B1"/>
                </a:solidFill>
                <a:latin typeface="Arial"/>
                <a:ea typeface="Arial"/>
                <a:cs typeface="Arial"/>
              </a:rPr>
              <a:t>CONTRAST CASES</a:t>
            </a:r>
          </a:p>
        </p:txBody>
      </p:sp>
      <p:sp>
        <p:nvSpPr>
          <p:cNvPr id="78" name="contrast-rule">
            <a:extLst xmlns:a="http://schemas.openxmlformats.org/drawingml/2006/main">
              <a:ext uri="{FF2B5EF4-FFF2-40B4-BE49-F238E27FC236}">
                <a16:creationId xmlns:a16="http://schemas.microsoft.com/office/drawing/2014/main" id="{D039FC08-0BEF-4A74-9619-88BD99FD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0" y="7644384"/>
            <a:ext cx="1243584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contrast-subtitle">
            <a:extLst xmlns:a="http://schemas.openxmlformats.org/drawingml/2006/main">
              <a:ext uri="{FF2B5EF4-FFF2-40B4-BE49-F238E27FC236}">
                <a16:creationId xmlns:a16="http://schemas.microsoft.com/office/drawing/2014/main" id="{19901A68-A35D-479B-8673-CC22CCDC9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0" y="7955280"/>
            <a:ext cx="1243584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80" b="1">
                <a:solidFill>
                  <a:srgbClr val="4C5B66"/>
                </a:solidFill>
                <a:latin typeface="Arial"/>
                <a:ea typeface="Arial"/>
                <a:cs typeface="Arial"/>
              </a:defRPr>
            </a:pPr>
            <a:r>
              <a:rPr sz="2880" b="1">
                <a:solidFill>
                  <a:srgbClr val="4C5B66"/>
                </a:solidFill>
                <a:latin typeface="Arial"/>
                <a:ea typeface="Arial"/>
                <a:cs typeface="Arial"/>
              </a:rPr>
              <a:t>No visible first-screen cookie banner in these stored screenshots.</a:t>
            </a:r>
          </a:p>
        </p:txBody>
      </p:sp>
      <p:sp>
        <p:nvSpPr>
          <p:cNvPr id="80" name="contrast-title-0">
            <a:extLst xmlns:a="http://schemas.openxmlformats.org/drawingml/2006/main">
              <a:ext uri="{FF2B5EF4-FFF2-40B4-BE49-F238E27FC236}">
                <a16:creationId xmlns:a16="http://schemas.microsoft.com/office/drawing/2014/main" id="{71CC08E2-4A7A-458E-B1E8-A3CF372E2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0" y="9144000"/>
            <a:ext cx="12435840" cy="512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6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456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CNN</a:t>
            </a:r>
          </a:p>
        </p:txBody>
      </p:sp>
      <p:sp>
        <p:nvSpPr>
          <p:cNvPr id="81" name="contrast-frame-0">
            <a:extLst xmlns:a="http://schemas.openxmlformats.org/drawingml/2006/main">
              <a:ext uri="{FF2B5EF4-FFF2-40B4-BE49-F238E27FC236}">
                <a16:creationId xmlns:a16="http://schemas.microsoft.com/office/drawing/2014/main" id="{EDBFD189-02FE-416E-97EF-0FFC7F0A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0" y="9784080"/>
            <a:ext cx="1243584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19050">
            <a:solidFill>
              <a:srgbClr val="B8C0C8"/>
            </a:solidFill>
            <a:prstDash val="solid"/>
          </a:ln>
        </p:spPr>
      </p:sp>
      <p:pic>
        <p:nvPicPr>
          <p:cNvPr id="1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b0bd4d61fe4e33"/>
          <a:stretch xmlns:a="http://schemas.openxmlformats.org/drawingml/2006/main"/>
        </p:blipFill>
        <p:spPr>
          <a:xfrm xmlns:a="http://schemas.openxmlformats.org/drawingml/2006/main">
            <a:off x="33796224" y="9875520"/>
            <a:ext cx="4462272" cy="2788920"/>
          </a:xfrm>
          <a:prstGeom xmlns:a="http://schemas.openxmlformats.org/drawingml/2006/main" prst="rect">
            <a:avLst/>
          </a:prstGeom>
        </p:spPr>
      </p:pic>
      <p:sp>
        <p:nvSpPr>
          <p:cNvPr id="83" name="contrast-caption-0">
            <a:extLst xmlns:a="http://schemas.openxmlformats.org/drawingml/2006/main">
              <a:ext uri="{FF2B5EF4-FFF2-40B4-BE49-F238E27FC236}">
                <a16:creationId xmlns:a16="http://schemas.microsoft.com/office/drawing/2014/main" id="{CC111A02-2D31-4101-868B-75C14CA31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0" y="12893040"/>
            <a:ext cx="12435840" cy="512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448" b="0">
                <a:solidFill>
                  <a:srgbClr val="4C5B66"/>
                </a:solidFill>
                <a:latin typeface="Arial"/>
                <a:ea typeface="Arial"/>
                <a:cs typeface="Arial"/>
              </a:defRPr>
            </a:pPr>
            <a:r>
              <a:rPr sz="2448" b="0">
                <a:solidFill>
                  <a:srgbClr val="4C5B66"/>
                </a:solidFill>
                <a:latin typeface="Arial"/>
                <a:ea typeface="Arial"/>
                <a:cs typeface="Arial"/>
              </a:rPr>
              <a:t>No visible first-screen cookie banner in stored screenshot.</a:t>
            </a:r>
          </a:p>
        </p:txBody>
      </p:sp>
      <p:sp>
        <p:nvSpPr>
          <p:cNvPr id="84" name="contrast-title-1">
            <a:extLst xmlns:a="http://schemas.openxmlformats.org/drawingml/2006/main">
              <a:ext uri="{FF2B5EF4-FFF2-40B4-BE49-F238E27FC236}">
                <a16:creationId xmlns:a16="http://schemas.microsoft.com/office/drawing/2014/main" id="{E04289A4-7873-424C-BF66-6124A9D4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0" y="13807440"/>
            <a:ext cx="12435840" cy="512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6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456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Booking.com</a:t>
            </a:r>
          </a:p>
        </p:txBody>
      </p:sp>
      <p:sp>
        <p:nvSpPr>
          <p:cNvPr id="85" name="contrast-frame-1">
            <a:extLst xmlns:a="http://schemas.openxmlformats.org/drawingml/2006/main">
              <a:ext uri="{FF2B5EF4-FFF2-40B4-BE49-F238E27FC236}">
                <a16:creationId xmlns:a16="http://schemas.microsoft.com/office/drawing/2014/main" id="{2983B16A-CB9A-4AD2-9CB0-4595E783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0" y="14447520"/>
            <a:ext cx="1243584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19050">
            <a:solidFill>
              <a:srgbClr val="B8C0C8"/>
            </a:solidFill>
            <a:prstDash val="solid"/>
          </a:ln>
        </p:spPr>
      </p:sp>
      <p:pic>
        <p:nvPicPr>
          <p:cNvPr id="1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ed60c0a820403d"/>
          <a:stretch xmlns:a="http://schemas.openxmlformats.org/drawingml/2006/main"/>
        </p:blipFill>
        <p:spPr>
          <a:xfrm xmlns:a="http://schemas.openxmlformats.org/drawingml/2006/main">
            <a:off x="33796224" y="14538960"/>
            <a:ext cx="4462272" cy="2788920"/>
          </a:xfrm>
          <a:prstGeom xmlns:a="http://schemas.openxmlformats.org/drawingml/2006/main" prst="rect">
            <a:avLst/>
          </a:prstGeom>
        </p:spPr>
      </p:pic>
      <p:sp>
        <p:nvSpPr>
          <p:cNvPr id="87" name="contrast-caption-1">
            <a:extLst xmlns:a="http://schemas.openxmlformats.org/drawingml/2006/main">
              <a:ext uri="{FF2B5EF4-FFF2-40B4-BE49-F238E27FC236}">
                <a16:creationId xmlns:a16="http://schemas.microsoft.com/office/drawing/2014/main" id="{39CB8A4F-E31F-4E9F-BA39-03331484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0" y="17556480"/>
            <a:ext cx="12435840" cy="512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448" b="0">
                <a:solidFill>
                  <a:srgbClr val="4C5B66"/>
                </a:solidFill>
                <a:latin typeface="Arial"/>
                <a:ea typeface="Arial"/>
                <a:cs typeface="Arial"/>
              </a:defRPr>
            </a:pPr>
            <a:r>
              <a:rPr sz="2448" b="0">
                <a:solidFill>
                  <a:srgbClr val="4C5B66"/>
                </a:solidFill>
                <a:latin typeface="Arial"/>
                <a:ea typeface="Arial"/>
                <a:cs typeface="Arial"/>
              </a:rPr>
              <a:t>No visible first-screen cookie banner in stored screenshot.</a:t>
            </a:r>
          </a:p>
        </p:txBody>
      </p:sp>
      <p:sp>
        <p:nvSpPr>
          <p:cNvPr id="88" name="contrast-title-2">
            <a:extLst xmlns:a="http://schemas.openxmlformats.org/drawingml/2006/main">
              <a:ext uri="{FF2B5EF4-FFF2-40B4-BE49-F238E27FC236}">
                <a16:creationId xmlns:a16="http://schemas.microsoft.com/office/drawing/2014/main" id="{4C68A8C2-4C70-44ED-A64D-5DFEAB118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0" y="18470880"/>
            <a:ext cx="12435840" cy="512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6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456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NerdWallet</a:t>
            </a:r>
          </a:p>
        </p:txBody>
      </p:sp>
      <p:sp>
        <p:nvSpPr>
          <p:cNvPr id="89" name="contrast-frame-2">
            <a:extLst xmlns:a="http://schemas.openxmlformats.org/drawingml/2006/main">
              <a:ext uri="{FF2B5EF4-FFF2-40B4-BE49-F238E27FC236}">
                <a16:creationId xmlns:a16="http://schemas.microsoft.com/office/drawing/2014/main" id="{03681BF2-913B-4B48-AFE7-367EF9E4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0" y="19110960"/>
            <a:ext cx="1243584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19050">
            <a:solidFill>
              <a:srgbClr val="B8C0C8"/>
            </a:solidFill>
            <a:prstDash val="solid"/>
          </a:ln>
        </p:spPr>
      </p:sp>
      <p:pic>
        <p:nvPicPr>
          <p:cNvPr id="2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849c01f6074b7d"/>
          <a:stretch xmlns:a="http://schemas.openxmlformats.org/drawingml/2006/main"/>
        </p:blipFill>
        <p:spPr>
          <a:xfrm xmlns:a="http://schemas.openxmlformats.org/drawingml/2006/main">
            <a:off x="33796224" y="19202400"/>
            <a:ext cx="4462272" cy="2788920"/>
          </a:xfrm>
          <a:prstGeom xmlns:a="http://schemas.openxmlformats.org/drawingml/2006/main" prst="rect">
            <a:avLst/>
          </a:prstGeom>
        </p:spPr>
      </p:pic>
      <p:sp>
        <p:nvSpPr>
          <p:cNvPr id="91" name="contrast-caption-2">
            <a:extLst xmlns:a="http://schemas.openxmlformats.org/drawingml/2006/main">
              <a:ext uri="{FF2B5EF4-FFF2-40B4-BE49-F238E27FC236}">
                <a16:creationId xmlns:a16="http://schemas.microsoft.com/office/drawing/2014/main" id="{C7E56528-11FC-4DD2-8251-CDC27BC15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0" y="22219920"/>
            <a:ext cx="12435840" cy="512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448" b="0">
                <a:solidFill>
                  <a:srgbClr val="4C5B66"/>
                </a:solidFill>
                <a:latin typeface="Arial"/>
                <a:ea typeface="Arial"/>
                <a:cs typeface="Arial"/>
              </a:defRPr>
            </a:pPr>
            <a:r>
              <a:rPr sz="2448" b="0">
                <a:solidFill>
                  <a:srgbClr val="4C5B66"/>
                </a:solidFill>
                <a:latin typeface="Arial"/>
                <a:ea typeface="Arial"/>
                <a:cs typeface="Arial"/>
              </a:rPr>
              <a:t>No visible first-screen cookie banner in stored screenshot.</a:t>
            </a:r>
          </a:p>
        </p:txBody>
      </p:sp>
      <p:sp>
        <p:nvSpPr>
          <p:cNvPr id="92" name="contrast-note-bar">
            <a:extLst xmlns:a="http://schemas.openxmlformats.org/drawingml/2006/main">
              <a:ext uri="{FF2B5EF4-FFF2-40B4-BE49-F238E27FC236}">
                <a16:creationId xmlns:a16="http://schemas.microsoft.com/office/drawing/2014/main" id="{00EADA2D-3CF0-4238-936E-78024966F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0" y="23225760"/>
            <a:ext cx="1243584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4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contrast-note">
            <a:extLst xmlns:a="http://schemas.openxmlformats.org/drawingml/2006/main">
              <a:ext uri="{FF2B5EF4-FFF2-40B4-BE49-F238E27FC236}">
                <a16:creationId xmlns:a16="http://schemas.microsoft.com/office/drawing/2014/main" id="{9B7A9153-F213-46A0-B535-E77721173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0" y="23500080"/>
            <a:ext cx="12435840" cy="1554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24" b="1">
                <a:solidFill>
                  <a:srgbClr val="9A3412"/>
                </a:solidFill>
                <a:latin typeface="Arial"/>
                <a:ea typeface="Arial"/>
                <a:cs typeface="Arial"/>
              </a:defRPr>
            </a:pPr>
            <a:r>
              <a:rPr sz="3024" b="1">
                <a:solidFill>
                  <a:srgbClr val="9A3412"/>
                </a:solidFill>
                <a:latin typeface="Arial"/>
                <a:ea typeface="Arial"/>
                <a:cs typeface="Arial"/>
              </a:rPr>
              <a:t>Important: no-visible-banner contrast cases are not banner-path failures. They remain separate contrasts; no final scoring claim is made.</a:t>
            </a:r>
          </a:p>
        </p:txBody>
      </p:sp>
      <p:sp>
        <p:nvSpPr>
          <p:cNvPr id="94" name="limits-label">
            <a:extLst xmlns:a="http://schemas.openxmlformats.org/drawingml/2006/main">
              <a:ext uri="{FF2B5EF4-FFF2-40B4-BE49-F238E27FC236}">
                <a16:creationId xmlns:a16="http://schemas.microsoft.com/office/drawing/2014/main" id="{9FDDBE13-DF47-4889-84E1-A0B541CE7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0" y="25511760"/>
            <a:ext cx="1243584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664" b="1">
                <a:solidFill>
                  <a:srgbClr val="1167B1"/>
                </a:solidFill>
                <a:latin typeface="Arial"/>
                <a:ea typeface="Arial"/>
                <a:cs typeface="Arial"/>
              </a:defRPr>
            </a:pPr>
            <a:r>
              <a:rPr sz="2664" b="1">
                <a:solidFill>
                  <a:srgbClr val="1167B1"/>
                </a:solidFill>
                <a:latin typeface="Arial"/>
                <a:ea typeface="Arial"/>
                <a:cs typeface="Arial"/>
              </a:rPr>
              <a:t>LIMITATIONS AND CLOSEOUT DECISIONS</a:t>
            </a:r>
          </a:p>
        </p:txBody>
      </p:sp>
      <p:sp>
        <p:nvSpPr>
          <p:cNvPr id="95" name="limits-rule">
            <a:extLst xmlns:a="http://schemas.openxmlformats.org/drawingml/2006/main">
              <a:ext uri="{FF2B5EF4-FFF2-40B4-BE49-F238E27FC236}">
                <a16:creationId xmlns:a16="http://schemas.microsoft.com/office/drawing/2014/main" id="{EDDAAE13-2D7B-4429-B4D3-2EB54DC2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0" y="26206704"/>
            <a:ext cx="1243584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limits-copy">
            <a:extLst xmlns:a="http://schemas.openxmlformats.org/drawingml/2006/main">
              <a:ext uri="{FF2B5EF4-FFF2-40B4-BE49-F238E27FC236}">
                <a16:creationId xmlns:a16="http://schemas.microsoft.com/office/drawing/2014/main" id="{901A8B80-D5E3-4F6A-BC1D-76FFE76C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0" y="26563320"/>
            <a:ext cx="1243584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08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808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Pilot/method evidence only. Raw layer1.html files are not synced; 7 current-five decisions are blank; 8 CMP/manual-review confirmations are pending.</a:t>
            </a:r>
          </a:p>
        </p:txBody>
      </p:sp>
      <p:sp>
        <p:nvSpPr>
          <p:cNvPr id="97" name="decisions-copy">
            <a:extLst xmlns:a="http://schemas.openxmlformats.org/drawingml/2006/main">
              <a:ext uri="{FF2B5EF4-FFF2-40B4-BE49-F238E27FC236}">
                <a16:creationId xmlns:a16="http://schemas.microsoft.com/office/drawing/2014/main" id="{F135E6D8-67BD-4308-ABB6-F7CEBC5B0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0" y="28117800"/>
            <a:ext cx="12435840" cy="1463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08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808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Project closeout: retain pilot framing and the two main cards; keep contrast cases separate; carry unresolved review counts visibly.</a:t>
            </a:r>
          </a:p>
        </p:txBody>
      </p:sp>
      <p:sp>
        <p:nvSpPr>
          <p:cNvPr id="98" name="footer-background">
            <a:extLst xmlns:a="http://schemas.openxmlformats.org/drawingml/2006/main">
              <a:ext uri="{FF2B5EF4-FFF2-40B4-BE49-F238E27FC236}">
                <a16:creationId xmlns:a16="http://schemas.microsoft.com/office/drawing/2014/main" id="{8B45D4C4-51D2-4955-A923-DAA1E028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815280"/>
            <a:ext cx="43891200" cy="2103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footer-takeaway">
            <a:extLst xmlns:a="http://schemas.openxmlformats.org/drawingml/2006/main">
              <a:ext uri="{FF2B5EF4-FFF2-40B4-BE49-F238E27FC236}">
                <a16:creationId xmlns:a16="http://schemas.microsoft.com/office/drawing/2014/main" id="{EC26128C-CDC5-4BAB-8F3F-C370C9F00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31272480"/>
            <a:ext cx="31455360" cy="8046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6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6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Contribution: a traceable audit-and-versioning workflow for consent-interface evidence. Deep, evidence-linked pilot cases are safer than broad unsupported claims.</a:t>
            </a:r>
          </a:p>
        </p:txBody>
      </p:sp>
      <p:sp>
        <p:nvSpPr>
          <p:cNvPr id="100" name="footer-provenance">
            <a:extLst xmlns:a="http://schemas.openxmlformats.org/drawingml/2006/main">
              <a:ext uri="{FF2B5EF4-FFF2-40B4-BE49-F238E27FC236}">
                <a16:creationId xmlns:a16="http://schemas.microsoft.com/office/drawing/2014/main" id="{CB82A04F-6D33-421B-B7A1-3597EA867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0" y="31363920"/>
            <a:ext cx="886968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2160" b="0">
                <a:solidFill>
                  <a:srgbClr val="DDE7EE"/>
                </a:solidFill>
                <a:latin typeface="Arial"/>
                <a:ea typeface="Arial"/>
                <a:cs typeface="Arial"/>
              </a:defRPr>
            </a:pPr>
            <a:r>
              <a:rPr sz="2160" b="0">
                <a:solidFill>
                  <a:srgbClr val="DDE7EE"/>
                </a:solidFill>
                <a:latin typeface="Arial"/>
                <a:ea typeface="Arial"/>
                <a:cs typeface="Arial"/>
              </a:rPr>
              <a:t>Evidence sources: stored layer1.png screenshots; audit_report_summary.csv; longitudinal_summary.csv. Project closeout | 2026-07-29</a:t>
            </a:r>
          </a:p>
        </p:txBody>
      </p:sp>
    </p:spTree>
    <p:extLst>
      <p:ext uri="{BB962C8B-B14F-4D97-AF65-F5344CB8AC3E}">
        <p14:creationId xmlns:p14="http://schemas.microsoft.com/office/powerpoint/2010/main" val="19207916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2026-07-29T03:14:27.5410000Z</dcterms:created>
  <dcterms:modified xsi:type="dcterms:W3CDTF">2026-07-29T03:14:27.5410000Z</dcterms:modified>
</coreProperties>
</file>