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fe37a2f6d5546ff" /><Relationship Type="http://schemas.openxmlformats.org/officeDocument/2006/relationships/extended-properties" Target="/docProps/app.xml" Id="R60db19189fb24229" /><Relationship Type="http://schemas.openxmlformats.org/officeDocument/2006/relationships/officeDocument" Target="/ppt/presentation.xml" Id="Reff104e8babc47b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ee641337bf1431b"/>
  </p:sldMasterIdLst>
  <p:notesMasterIdLst>
    <p:notesMasterId xmlns:r="http://schemas.openxmlformats.org/officeDocument/2006/relationships" r:id="Re8d446c4212040e1"/>
  </p:notesMasterIdLst>
  <p:sldIdLst>
    <p:sldId xmlns:r="http://schemas.openxmlformats.org/officeDocument/2006/relationships" id="256" r:id="Ree470578594d4084"/>
  </p:sldIdLst>
  <p:sldSz cx="43891200" cy="329184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a9e22752f7e4325" /><Relationship Type="http://schemas.openxmlformats.org/officeDocument/2006/relationships/slideMaster" Target="/ppt/slideMasters/slideMaster1.xml" Id="R5ee641337bf1431b" /><Relationship Type="http://schemas.openxmlformats.org/officeDocument/2006/relationships/notesMaster" Target="/ppt/notesMasters/notesMaster1.xml" Id="Re8d446c4212040e1" /><Relationship Type="http://schemas.openxmlformats.org/officeDocument/2006/relationships/presProps" Target="/ppt/presProps.xml" Id="R7d32f3c292414ea5" /><Relationship Type="http://schemas.openxmlformats.org/officeDocument/2006/relationships/tableStyles" Target="/ppt/tableStyles.xml" Id="R0c2516b9f13c41b8" /><Relationship Type="http://schemas.openxmlformats.org/officeDocument/2006/relationships/slide" Target="/ppt/slides/slide1.xml" Id="Ree470578594d408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2f5d6e575164e3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d4f9ce2eae24a17" /><Relationship Type="http://schemas.openxmlformats.org/officeDocument/2006/relationships/notesMaster" Target="/ppt/notesMasters/notesMaster1.xml" Id="Re30a1024c23d400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https://www.legifrance.gouv.fr/cnil/id/CNILTEXT000044840062</a:t>
            </a:r>
          </a:p>
          <a:p xmlns:a="http://schemas.openxmlformats.org/drawingml/2006/main">
            <a:r>
              <a:t>- https://blog.google/company-news/inside-google/around-the-globe/google-europe/new-cookie-choices-in-europe/</a:t>
            </a:r>
          </a:p>
          <a:p xmlns:a="http://schemas.openxmlformats.org/drawingml/2006/main">
            <a:r>
              <a:t>- https://www.legifrance.gouv.fr/cnil/id/CNILTEXT000044840532</a:t>
            </a:r>
          </a:p>
          <a:p xmlns:a="http://schemas.openxmlformats.org/drawingml/2006/main">
            <a:r>
              <a:t>- https://www.legifrance.gouv.fr/cnil/id/CNILTEXT000046096716</a:t>
            </a:r>
          </a:p>
          <a:p xmlns:a="http://schemas.openxmlformats.org/drawingml/2006/main">
            <a:r>
              <a:t>- https://www.legifrance.gouv.fr/cnil/id/CNILTEXT000046977994/</a:t>
            </a:r>
          </a:p>
          <a:p xmlns:a="http://schemas.openxmlformats.org/drawingml/2006/main">
            <a:r>
              <a:t>- https://www.cnil.fr/en/closure-injunction-issued-against-orange</a:t>
            </a:r>
          </a:p>
          <a:p xmlns:a="http://schemas.openxmlformats.org/drawingml/2006/main">
            <a:r>
              <a:t>- https://www.cnil.fr/en/cookies-placed-without-consent-company-publishes-website-vanityfairfr-fined-750000-euros</a:t>
            </a:r>
          </a:p>
          <a:p xmlns:a="http://schemas.openxmlformats.org/drawingml/2006/main">
            <a:r>
              <a:t>- https://arxiv.org/abs/2606.31485</a:t>
            </a:r>
          </a:p>
          <a:p xmlns:a="http://schemas.openxmlformats.org/drawingml/2006/main">
            <a:r>
              <a:t>- Internal: data/retrospective_source_registry_2026-07-29.csv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154a1d17c064a1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a4e6b99c92f4156" /><Relationship Type="http://schemas.openxmlformats.org/officeDocument/2006/relationships/slideLayout" Target="/ppt/slideLayouts/slideLayout1.xml" Id="Rd37c2a93a3364d7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37c2a93a3364d7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c6a2d6ab8e4da9" /><Relationship Type="http://schemas.openxmlformats.org/officeDocument/2006/relationships/image" Target="/ppt/media/image.png" Id="R08dc2284891f42de" /><Relationship Type="http://schemas.openxmlformats.org/officeDocument/2006/relationships/image" Target="/ppt/media/image2.png" Id="R1a9989e28d8646e3" /><Relationship Type="http://schemas.openxmlformats.org/officeDocument/2006/relationships/image" Target="/ppt/media/image3.png" Id="Rf03d9399bc114d1a" /><Relationship Type="http://schemas.openxmlformats.org/officeDocument/2006/relationships/image" Target="/ppt/media/image4.png" Id="Rb8de997c39234b64" /><Relationship Type="http://schemas.openxmlformats.org/officeDocument/2006/relationships/notesSlide" Target="/ppt/notesSlides/notesSlide1.xml" Id="R8a8fd4ba86c9409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F3BEC536-5BE5-4AA2-B6C1-68403C103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3891200" cy="581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0">
            <a:solidFill>
              <a:srgbClr val="101820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90AB54-B63F-46F9-A175-AA9061D88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28650"/>
            <a:ext cx="17145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DDF2FA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DDF2FA"/>
                </a:solidFill>
                <a:latin typeface="Arial"/>
                <a:ea typeface="Arial"/>
                <a:cs typeface="Arial"/>
              </a:rPr>
              <a:t>SSRP 2026 | LONGITUDINAL CONSENT STUDY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0E8FF3-C0AE-48F4-8CCD-CD7C79D91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352550"/>
            <a:ext cx="31051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70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How Cookie Consent Interfaces Changed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9911E3-403F-4EF8-9F35-9744E1940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952750"/>
            <a:ext cx="2933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850" b="0" i="0">
                <a:solidFill>
                  <a:srgbClr val="D9E0E5"/>
                </a:solidFill>
                <a:latin typeface="Arial"/>
                <a:ea typeface="Arial"/>
                <a:cs typeface="Arial"/>
              </a:defRPr>
            </a:pPr>
            <a:r>
              <a:rPr sz="2850" b="0" i="0">
                <a:solidFill>
                  <a:srgbClr val="D9E0E5"/>
                </a:solidFill>
                <a:latin typeface="Arial"/>
                <a:ea typeface="Arial"/>
                <a:cs typeface="Arial"/>
              </a:rPr>
              <a:t>A controlled capture method plus five dated company trajectories from primary sources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34BEAD-B1EE-461D-B0BA-98E3CFD73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000500"/>
            <a:ext cx="2095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0" i="0">
                <a:solidFill>
                  <a:srgbClr val="BAC4CB"/>
                </a:solidFill>
                <a:latin typeface="Arial"/>
                <a:ea typeface="Arial"/>
                <a:cs typeface="Arial"/>
              </a:defRPr>
            </a:pPr>
            <a:r>
              <a:rPr sz="2025" b="0" i="0">
                <a:solidFill>
                  <a:srgbClr val="BAC4CB"/>
                </a:solidFill>
                <a:latin typeface="Arial"/>
                <a:ea typeface="Arial"/>
                <a:cs typeface="Arial"/>
              </a:rPr>
              <a:t>Qianyi (Alfred) Chen | Mentor: Dr. Jagdip Singh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65456E-3343-4BA5-9004-EDA19A77E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0" y="876300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 i="0">
                <a:solidFill>
                  <a:srgbClr val="66C6E9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66C6E9"/>
                </a:solidFill>
                <a:latin typeface="Arial"/>
                <a:ea typeface="Arial"/>
                <a:cs typeface="Arial"/>
              </a:rPr>
              <a:t>RQ1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6A7D2F-AB0A-493E-B615-73990CC8C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0" y="97155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component rubric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447E71-B25F-4C65-9B73-7D8E08772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0" y="1752600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 i="0">
                <a:solidFill>
                  <a:srgbClr val="66C6E9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66C6E9"/>
                </a:solidFill>
                <a:latin typeface="Arial"/>
                <a:ea typeface="Arial"/>
                <a:cs typeface="Arial"/>
              </a:rPr>
              <a:t>RQ2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95BF40-329D-41EF-987A-AA4A753C0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0" y="184785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dated trajectories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95DCC2-F3BE-421B-8F25-D3C5673A1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0" y="2628900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 i="0">
                <a:solidFill>
                  <a:srgbClr val="66C6E9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66C6E9"/>
                </a:solidFill>
                <a:latin typeface="Arial"/>
                <a:ea typeface="Arial"/>
                <a:cs typeface="Arial"/>
              </a:rPr>
              <a:t>RESULT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458DC3-4C92-4EDD-A09A-8A4496E3C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0" y="272415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 improved | 1 regressed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E72322-B67E-481B-88E3-DA476D98C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0" y="3581400"/>
            <a:ext cx="8286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D9E0E5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D9E0E5"/>
                </a:solidFill>
                <a:latin typeface="Arial"/>
                <a:ea typeface="Arial"/>
                <a:cs typeface="Arial"/>
              </a:rPr>
              <a:t>direction is separated from causal evidence strength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EE4D81-65FD-415D-9441-3436C9C5E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810250"/>
            <a:ext cx="43891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2FA"/>
          </a:solidFill>
          <a:ln xmlns:a="http://schemas.openxmlformats.org/drawingml/2006/main" w="0">
            <a:solidFill>
              <a:srgbClr val="DDF2F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11C0B5-DFCF-4FBB-BD00-1EDABA739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15315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46EA8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46EA8"/>
                </a:solidFill>
                <a:latin typeface="Arial"/>
                <a:ea typeface="Arial"/>
                <a:cs typeface="Arial"/>
              </a:rPr>
              <a:t>THESIS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33723B-DB88-4539-A9CE-613404C46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6076950"/>
            <a:ext cx="3714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00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Concrete interactions improved under regulatory pressure, but consent quality remained component-specific and reversible.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AE5FA4-DB5C-4CF9-B183-028845760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810500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46EA8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146EA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37F74A8-7B4A-4F98-A995-56631AB8C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7791450"/>
            <a:ext cx="11277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46EA8"/>
                </a:solidFill>
                <a:latin typeface="Arial"/>
                <a:ea typeface="Arial"/>
                <a:cs typeface="Arial"/>
              </a:defRPr>
            </a:pPr>
            <a:r>
              <a:rPr sz="2625" b="1" i="0">
                <a:solidFill>
                  <a:srgbClr val="146EA8"/>
                </a:solidFill>
                <a:latin typeface="Arial"/>
                <a:ea typeface="Arial"/>
                <a:cs typeface="Arial"/>
              </a:rPr>
              <a:t>QUESTION + MEASURE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65E906-7B08-43D6-AC16-D50827F9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8362950"/>
            <a:ext cx="1200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4CB"/>
          </a:solidFill>
          <a:ln xmlns:a="http://schemas.openxmlformats.org/drawingml/2006/main" w="0">
            <a:solidFill>
              <a:srgbClr val="BAC4C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735AC8-A602-406F-BC6C-41F104ACB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8724900"/>
            <a:ext cx="12001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550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How did consent interfaces change over time, and what evidence can explain the direction?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FA6246-2631-420D-B362-0A8EA7CA8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0058400"/>
            <a:ext cx="12001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0" i="0">
                <a:solidFill>
                  <a:srgbClr val="4C5B67"/>
                </a:solidFill>
                <a:latin typeface="Arial"/>
                <a:ea typeface="Arial"/>
                <a:cs typeface="Arial"/>
              </a:defRPr>
            </a:pPr>
            <a:r>
              <a:rPr sz="2175" b="0" i="0">
                <a:solidFill>
                  <a:srgbClr val="4C5B67"/>
                </a:solidFill>
                <a:latin typeface="Arial"/>
                <a:ea typeface="Arial"/>
                <a:cs typeface="Arial"/>
              </a:rPr>
              <a:t>RQ1 codes user choice by component. RQ2 compares dated states while keeping direction separate from cause.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235A1B-827E-4241-AA1A-F15475F0E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1906250"/>
            <a:ext cx="1200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146EA8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46EA8"/>
                </a:solidFill>
                <a:latin typeface="Arial"/>
                <a:ea typeface="Arial"/>
                <a:cs typeface="Arial"/>
              </a:rPr>
              <a:t>RQ1: the component ruler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55CC5D-2FCB-4F8E-921A-B856FF4BF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2668250"/>
            <a:ext cx="1524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6EA8"/>
          </a:solidFill>
          <a:ln xmlns:a="http://schemas.openxmlformats.org/drawingml/2006/main" w="0">
            <a:solidFill>
              <a:srgbClr val="146EA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E55CE77-55B5-4DE2-884A-1D4336173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2668250"/>
            <a:ext cx="11601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Path availability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8B24AE-7E12-4619-A268-A8BF6C31F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3163550"/>
            <a:ext cx="11601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0" i="0">
                <a:solidFill>
                  <a:srgbClr val="4C5B67"/>
                </a:solidFill>
                <a:latin typeface="Arial"/>
                <a:ea typeface="Arial"/>
                <a:cs typeface="Arial"/>
              </a:defRPr>
            </a:pPr>
            <a:r>
              <a:rPr sz="2025" b="0" i="0">
                <a:solidFill>
                  <a:srgbClr val="4C5B67"/>
                </a:solidFill>
                <a:latin typeface="Arial"/>
                <a:ea typeface="Arial"/>
                <a:cs typeface="Arial"/>
              </a:rPr>
              <a:t>Can users reach Reject and Customize?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3B8B4FF-8898-42E9-9CCF-9B6DD9DB1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4135100"/>
            <a:ext cx="1524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867F"/>
          </a:solidFill>
          <a:ln xmlns:a="http://schemas.openxmlformats.org/drawingml/2006/main" w="0">
            <a:solidFill>
              <a:srgbClr val="18867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D2ED000-D81E-42A0-9460-9DE74FEC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4135100"/>
            <a:ext cx="11601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Path effort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154FEB3-6355-4DB9-84E4-713D674E2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4630400"/>
            <a:ext cx="11601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0" i="0">
                <a:solidFill>
                  <a:srgbClr val="4C5B67"/>
                </a:solidFill>
                <a:latin typeface="Arial"/>
                <a:ea typeface="Arial"/>
                <a:cs typeface="Arial"/>
              </a:defRPr>
            </a:pPr>
            <a:r>
              <a:rPr sz="2025" b="0" i="0">
                <a:solidFill>
                  <a:srgbClr val="4C5B67"/>
                </a:solidFill>
                <a:latin typeface="Arial"/>
                <a:ea typeface="Arial"/>
                <a:cs typeface="Arial"/>
              </a:rPr>
              <a:t>How much interaction does each path require?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3BA006-DDB4-451B-9B94-6F6633D27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5601950"/>
            <a:ext cx="1524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31A"/>
          </a:solidFill>
          <a:ln xmlns:a="http://schemas.openxmlformats.org/drawingml/2006/main" w="0">
            <a:solidFill>
              <a:srgbClr val="D6A31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46D0614-1D4B-4BC4-B8E6-076358BE3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5601950"/>
            <a:ext cx="11601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Transparency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B0B06C2-8FA1-4761-B409-891EF848E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6097250"/>
            <a:ext cx="11601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0" i="0">
                <a:solidFill>
                  <a:srgbClr val="4C5B67"/>
                </a:solidFill>
                <a:latin typeface="Arial"/>
                <a:ea typeface="Arial"/>
                <a:cs typeface="Arial"/>
              </a:defRPr>
            </a:pPr>
            <a:r>
              <a:rPr sz="2025" b="0" i="0">
                <a:solidFill>
                  <a:srgbClr val="4C5B67"/>
                </a:solidFill>
                <a:latin typeface="Arial"/>
                <a:ea typeface="Arial"/>
                <a:cs typeface="Arial"/>
              </a:rPr>
              <a:t>What is disclosed, and how clearly?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6D639F6-A88B-4EE5-98BB-2CEE504C6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7068800"/>
            <a:ext cx="1524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13B16"/>
          </a:solidFill>
          <a:ln xmlns:a="http://schemas.openxmlformats.org/drawingml/2006/main" w="0">
            <a:solidFill>
              <a:srgbClr val="A13B1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8873230-F174-4443-966A-0D86CF599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7068800"/>
            <a:ext cx="11601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Choice + effectiveness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B7F5F29-B6C6-4FFD-895C-631BD5A38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7564100"/>
            <a:ext cx="11601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0" i="0">
                <a:solidFill>
                  <a:srgbClr val="4C5B67"/>
                </a:solidFill>
                <a:latin typeface="Arial"/>
                <a:ea typeface="Arial"/>
                <a:cs typeface="Arial"/>
              </a:defRPr>
            </a:pPr>
            <a:r>
              <a:rPr sz="2025" b="0" i="0">
                <a:solidFill>
                  <a:srgbClr val="4C5B67"/>
                </a:solidFill>
                <a:latin typeface="Arial"/>
                <a:ea typeface="Arial"/>
                <a:cs typeface="Arial"/>
              </a:rPr>
              <a:t>Are options balanced, and does refusal stop tracking?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812B06F-ADF7-49F1-B1DC-E4397B237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8859500"/>
            <a:ext cx="1200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400" b="1" i="0">
                <a:solidFill>
                  <a:srgbClr val="146EA8"/>
                </a:solidFill>
                <a:latin typeface="Arial"/>
                <a:ea typeface="Arial"/>
                <a:cs typeface="Arial"/>
              </a:defRPr>
            </a:pPr>
            <a:r>
              <a:rPr sz="2400" b="1" i="0">
                <a:solidFill>
                  <a:srgbClr val="146EA8"/>
                </a:solidFill>
                <a:latin typeface="Arial"/>
                <a:ea typeface="Arial"/>
                <a:cs typeface="Arial"/>
              </a:rPr>
              <a:t>Directional coding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3DCA5CB-55B2-4129-8BB2-9B58739BC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9564350"/>
            <a:ext cx="3143250" cy="5334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DCEFEB"/>
          </a:solidFill>
          <a:ln xmlns:a="http://schemas.openxmlformats.org/drawingml/2006/main" w="0">
            <a:solidFill>
              <a:srgbClr val="DCEFEB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556446C-322F-4418-B9C4-C2A599D75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9688175"/>
            <a:ext cx="2876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8867F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8867F"/>
                </a:solidFill>
                <a:latin typeface="Arial"/>
                <a:ea typeface="Arial"/>
                <a:cs typeface="Arial"/>
              </a:rPr>
              <a:t>IMPROVED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8490268-805C-4663-AC28-A763965CC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9659600"/>
            <a:ext cx="8534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one or more dimensions improve; none regress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E691ED1-788E-447C-B69D-93BB4F9F3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0297775"/>
            <a:ext cx="3143250" cy="5334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6E6DF"/>
          </a:solidFill>
          <a:ln xmlns:a="http://schemas.openxmlformats.org/drawingml/2006/main" w="0">
            <a:solidFill>
              <a:srgbClr val="F6E6D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CC1EA5B-5846-4EFB-AA7B-72B37323F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0421600"/>
            <a:ext cx="2876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A13B16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A13B16"/>
                </a:solidFill>
                <a:latin typeface="Arial"/>
                <a:ea typeface="Arial"/>
                <a:cs typeface="Arial"/>
              </a:rPr>
              <a:t>REGRESSED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91B4874-98F2-469F-B9EC-842E30DD6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0393025"/>
            <a:ext cx="8534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one or more regress; none improve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AA70B1B-48A3-4968-8B76-791149F16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031200"/>
            <a:ext cx="3143250" cy="5334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BF3D0"/>
          </a:solidFill>
          <a:ln xmlns:a="http://schemas.openxmlformats.org/drawingml/2006/main" w="0">
            <a:solidFill>
              <a:srgbClr val="FBF3D0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FE69C78-B4E2-48EF-B604-E271DE549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1155025"/>
            <a:ext cx="2876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MIXED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BFD143C-A741-49F6-994E-42F2D735E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1126450"/>
            <a:ext cx="8534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dimensions move in both directions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10D2E81-43DB-4E6C-9DA0-82A35D385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764625"/>
            <a:ext cx="3143250" cy="5334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DDF2FA"/>
          </a:solidFill>
          <a:ln xmlns:a="http://schemas.openxmlformats.org/drawingml/2006/main" w="0">
            <a:solidFill>
              <a:srgbClr val="DDF2F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FAA887C-C895-4B4E-9414-DC9FA9DC4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1888450"/>
            <a:ext cx="2876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146EA8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46EA8"/>
                </a:solidFill>
                <a:latin typeface="Arial"/>
                <a:ea typeface="Arial"/>
                <a:cs typeface="Arial"/>
              </a:rPr>
              <a:t>STABLE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C054DE4-F208-434C-9F79-21B6E8149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1859875"/>
            <a:ext cx="8534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no meaningful component change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5D18F30-18C3-4E3E-8E13-871953DF5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2498050"/>
            <a:ext cx="3143250" cy="5334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3F6F8"/>
          </a:solidFill>
          <a:ln xmlns:a="http://schemas.openxmlformats.org/drawingml/2006/main" w="0">
            <a:solidFill>
              <a:srgbClr val="F3F6F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1EF67E6-254E-4259-AB90-3224F1EDB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21875"/>
            <a:ext cx="2876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650" b="1" i="0">
                <a:solidFill>
                  <a:srgbClr val="4C5B67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4C5B67"/>
                </a:solidFill>
                <a:latin typeface="Arial"/>
                <a:ea typeface="Arial"/>
                <a:cs typeface="Arial"/>
              </a:rPr>
              <a:t>INSUFFICIENT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1537AE6-4570-4482-8DD7-761145A29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2593300"/>
            <a:ext cx="8534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context, evidence, or scoring is not comparable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89B58D4-5910-4C84-A0B3-60C3F0A6A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3574375"/>
            <a:ext cx="120015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D0"/>
          </a:solidFill>
          <a:ln xmlns:a="http://schemas.openxmlformats.org/drawingml/2006/main" w="19050">
            <a:solidFill>
              <a:srgbClr val="D6A31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8802E3C-A48F-417A-972E-11D5CD446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38506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A13B16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A13B16"/>
                </a:solidFill>
                <a:latin typeface="Arial"/>
                <a:ea typeface="Arial"/>
                <a:cs typeface="Arial"/>
              </a:rPr>
              <a:t>Claim guardrail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13B6856-C3F5-4FB1-ABD9-3EDF02E42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4288750"/>
            <a:ext cx="114681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Every direction needs dated before/after evidence. Every causal claim receives a separate strength label.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B46B2E1-4A70-490D-86B6-AEFA1E83C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0" y="7810500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46EA8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146EA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C5F54F7-DBCD-4D82-B305-8478AA3E1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97150" y="7791450"/>
            <a:ext cx="14039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46EA8"/>
                </a:solidFill>
                <a:latin typeface="Arial"/>
                <a:ea typeface="Arial"/>
                <a:cs typeface="Arial"/>
              </a:defRPr>
            </a:pPr>
            <a:r>
              <a:rPr sz="2625" b="1" i="0">
                <a:solidFill>
                  <a:srgbClr val="146EA8"/>
                </a:solidFill>
                <a:latin typeface="Arial"/>
                <a:ea typeface="Arial"/>
                <a:cs typeface="Arial"/>
              </a:rPr>
              <a:t>TWO EVIDENCE LANES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D33D4A1-5883-4162-9944-3DAF75B4A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0" y="8362950"/>
            <a:ext cx="14763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4CB"/>
          </a:solidFill>
          <a:ln xmlns:a="http://schemas.openxmlformats.org/drawingml/2006/main" w="0">
            <a:solidFill>
              <a:srgbClr val="BAC4CB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A18C51D-43E3-4F84-9E36-63C7482F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0" y="8686800"/>
            <a:ext cx="1476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700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700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Controlled local capture + source-complete retrospective cases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1831247-557F-4A1E-9B4E-D49A18B44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0" y="10134600"/>
            <a:ext cx="1247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4CB"/>
          </a:solidFill>
          <a:ln xmlns:a="http://schemas.openxmlformats.org/drawingml/2006/main" w="0">
            <a:solidFill>
              <a:srgbClr val="BAC4CB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2C48F9D-B7EE-4418-A3FD-E73BCBF1A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962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6EA8"/>
          </a:solidFill>
          <a:ln xmlns:a="http://schemas.openxmlformats.org/drawingml/2006/main" w="0">
            <a:solidFill>
              <a:srgbClr val="146EA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B3C2A24-87F6-4014-83CF-B3CC35612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25800" y="9925050"/>
            <a:ext cx="800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T1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DF9030A-81E9-4795-B768-D51DA1CA4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73350" y="10839450"/>
            <a:ext cx="190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capture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6DD2BF4-CADC-45AC-91DC-5E2D8CF47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0" y="962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867F"/>
          </a:solidFill>
          <a:ln xmlns:a="http://schemas.openxmlformats.org/drawingml/2006/main" w="0">
            <a:solidFill>
              <a:srgbClr val="18867F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5A3B9D1-61A1-45BD-83D8-3C368968F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31050" y="9925050"/>
            <a:ext cx="800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RQ1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03E6AC8-A31F-4EA5-9590-2058A95CE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78600" y="10839450"/>
            <a:ext cx="190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8A78B87-9D51-4C17-949F-33002D65D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0" y="962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A31A"/>
          </a:solidFill>
          <a:ln xmlns:a="http://schemas.openxmlformats.org/drawingml/2006/main" w="0">
            <a:solidFill>
              <a:srgbClr val="D6A31A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9012150-ABAE-419E-B325-452CE1914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36300" y="9925050"/>
            <a:ext cx="800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T2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B5B65C9-4F5F-424C-BF94-E58A0160E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83850" y="10839450"/>
            <a:ext cx="190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repeat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DE65ED4-E73C-4587-804B-EFF280975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0" y="962025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13B16"/>
          </a:solidFill>
          <a:ln xmlns:a="http://schemas.openxmlformats.org/drawingml/2006/main" w="0">
            <a:solidFill>
              <a:srgbClr val="A13B16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735CEB78-543B-416A-9FD0-241E2CAD0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41550" y="9925050"/>
            <a:ext cx="800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0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40471C4-87A9-4F23-84C1-5C746D1BF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89100" y="10839450"/>
            <a:ext cx="190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7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validate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BA2E419-18DD-41A7-87B2-12F79D6F4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0" y="11811000"/>
            <a:ext cx="1476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 i="0">
                <a:solidFill>
                  <a:srgbClr val="146EA8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46EA8"/>
                </a:solidFill>
                <a:latin typeface="Arial"/>
                <a:ea typeface="Arial"/>
                <a:cs typeface="Arial"/>
              </a:rPr>
              <a:t>Controlled pilot 1: The Guardian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97BE8B9-D1E7-44C6-8D50-98C28793A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0" y="12401550"/>
            <a:ext cx="2190750" cy="285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DDF2FA"/>
          </a:solidFill>
          <a:ln xmlns:a="http://schemas.openxmlformats.org/drawingml/2006/main" w="0">
            <a:solidFill>
              <a:srgbClr val="DDF2FA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96A0AEB-0D72-4498-854C-83FDF15A9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49450" y="12449175"/>
            <a:ext cx="2038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46EA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46EA8"/>
                </a:solidFill>
                <a:latin typeface="Arial"/>
                <a:ea typeface="Arial"/>
                <a:cs typeface="Arial"/>
              </a:rPr>
              <a:t>MAY 29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69AE249-63B1-47D7-923B-57A893658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0" y="12401550"/>
            <a:ext cx="2190750" cy="285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DCEFEB"/>
          </a:solidFill>
          <a:ln xmlns:a="http://schemas.openxmlformats.org/drawingml/2006/main" w="0">
            <a:solidFill>
              <a:srgbClr val="DCEFEB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F171B78-A15F-40AE-AAA7-9BB66A67A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64700" y="12449175"/>
            <a:ext cx="2038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8867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8867F"/>
                </a:solidFill>
                <a:latin typeface="Arial"/>
                <a:ea typeface="Arial"/>
                <a:cs typeface="Arial"/>
              </a:rPr>
              <a:t>JUNE 5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73246700-8B2C-482D-8309-950057C3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35150" y="12896850"/>
            <a:ext cx="7029450" cy="441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9525">
            <a:solidFill>
              <a:srgbClr val="BAC4CB"/>
            </a:solidFill>
            <a:prstDash val="solid"/>
          </a:ln>
        </p:spPr>
      </p:sp>
      <p:pic>
        <p:nvPicPr>
          <p:cNvPr id="2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dc2284891f42de"/>
          <a:stretch xmlns:a="http://schemas.openxmlformats.org/drawingml/2006/main"/>
        </p:blipFill>
        <p:spPr>
          <a:xfrm xmlns:a="http://schemas.openxmlformats.org/drawingml/2006/main">
            <a:off x="14575155" y="12934950"/>
            <a:ext cx="6949440" cy="4343400"/>
          </a:xfrm>
          <a:prstGeom xmlns:a="http://schemas.openxmlformats.org/drawingml/2006/main" prst="rect">
            <a:avLst/>
          </a:prstGeom>
        </p:spPr>
      </p:pic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4471F8A1-364F-49D8-B68C-C592D5C28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50400" y="12896850"/>
            <a:ext cx="7029450" cy="441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9525">
            <a:solidFill>
              <a:srgbClr val="BAC4CB"/>
            </a:solidFill>
            <a:prstDash val="solid"/>
          </a:ln>
        </p:spPr>
      </p:sp>
      <p:pic>
        <p:nvPicPr>
          <p:cNvPr id="2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9989e28d8646e3"/>
          <a:stretch xmlns:a="http://schemas.openxmlformats.org/drawingml/2006/main"/>
        </p:blipFill>
        <p:spPr>
          <a:xfrm xmlns:a="http://schemas.openxmlformats.org/drawingml/2006/main">
            <a:off x="22290405" y="12934950"/>
            <a:ext cx="6949440" cy="4343400"/>
          </a:xfrm>
          <a:prstGeom xmlns:a="http://schemas.openxmlformats.org/drawingml/2006/main" prst="rect">
            <a:avLst/>
          </a:prstGeom>
        </p:spPr>
      </p:pic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CCF1C12-31ED-4F06-998D-2AD1F3133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0" y="17478375"/>
            <a:ext cx="1476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Local lane: the same visible choice structure remains insufficient for a direction claim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7995141E-39BB-4483-8766-0EB4BA0DE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0" y="18383250"/>
            <a:ext cx="1476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 i="0">
                <a:solidFill>
                  <a:srgbClr val="146EA8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46EA8"/>
                </a:solidFill>
                <a:latin typeface="Arial"/>
                <a:ea typeface="Arial"/>
                <a:cs typeface="Arial"/>
              </a:rPr>
              <a:t>Controlled pilot 2: Coca-Cola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86FAE57-DF2D-44B2-A070-59B7E62E5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0" y="18973800"/>
            <a:ext cx="2190750" cy="285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DDF2FA"/>
          </a:solidFill>
          <a:ln xmlns:a="http://schemas.openxmlformats.org/drawingml/2006/main" w="0">
            <a:solidFill>
              <a:srgbClr val="DDF2FA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52763835-AD89-4FB0-A871-E313CB374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49450" y="19021425"/>
            <a:ext cx="2038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46EA8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46EA8"/>
                </a:solidFill>
                <a:latin typeface="Arial"/>
                <a:ea typeface="Arial"/>
                <a:cs typeface="Arial"/>
              </a:rPr>
              <a:t>MAY 29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4B0D8A10-6A9E-4CBD-91A9-519463041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0" y="18973800"/>
            <a:ext cx="2190750" cy="2857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DCEFEB"/>
          </a:solidFill>
          <a:ln xmlns:a="http://schemas.openxmlformats.org/drawingml/2006/main" w="0">
            <a:solidFill>
              <a:srgbClr val="DCEFEB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67D36728-30FB-43E8-AB3B-70148976D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64700" y="19021425"/>
            <a:ext cx="2038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 i="0">
                <a:solidFill>
                  <a:srgbClr val="18867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8867F"/>
                </a:solidFill>
                <a:latin typeface="Arial"/>
                <a:ea typeface="Arial"/>
                <a:cs typeface="Arial"/>
              </a:rPr>
              <a:t>JUNE 5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71BCAE4B-22A9-4256-94A1-EA6C5887E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35150" y="19469100"/>
            <a:ext cx="7029450" cy="441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9525">
            <a:solidFill>
              <a:srgbClr val="BAC4CB"/>
            </a:solidFill>
            <a:prstDash val="solid"/>
          </a:ln>
        </p:spPr>
      </p:sp>
      <p:pic>
        <p:nvPicPr>
          <p:cNvPr id="2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3d9399bc114d1a"/>
          <a:stretch xmlns:a="http://schemas.openxmlformats.org/drawingml/2006/main"/>
        </p:blipFill>
        <p:spPr>
          <a:xfrm xmlns:a="http://schemas.openxmlformats.org/drawingml/2006/main">
            <a:off x="14575155" y="19507200"/>
            <a:ext cx="6949440" cy="4343400"/>
          </a:xfrm>
          <a:prstGeom xmlns:a="http://schemas.openxmlformats.org/drawingml/2006/main" prst="rect">
            <a:avLst/>
          </a:prstGeom>
        </p:spPr>
      </p:pic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A81471A3-9ECA-405C-9A2B-2ADF51ECB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50400" y="19469100"/>
            <a:ext cx="7029450" cy="441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9525">
            <a:solidFill>
              <a:srgbClr val="BAC4CB"/>
            </a:solidFill>
            <a:prstDash val="solid"/>
          </a:ln>
        </p:spPr>
      </p:sp>
      <p:pic>
        <p:nvPicPr>
          <p:cNvPr id="2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de997c39234b64"/>
          <a:stretch xmlns:a="http://schemas.openxmlformats.org/drawingml/2006/main"/>
        </p:blipFill>
        <p:spPr>
          <a:xfrm xmlns:a="http://schemas.openxmlformats.org/drawingml/2006/main">
            <a:off x="22290405" y="19507200"/>
            <a:ext cx="6949440" cy="4343400"/>
          </a:xfrm>
          <a:prstGeom xmlns:a="http://schemas.openxmlformats.org/drawingml/2006/main" prst="rect">
            <a:avLst/>
          </a:prstGeom>
        </p:spPr>
      </p:pic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F07E535E-F24E-44D3-8D9E-59CCA051C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0" y="24050625"/>
            <a:ext cx="14763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02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Local lane validates the comparison method. Historical direction comes from five dated primary-source cases.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D906AA95-07F6-4D50-846A-5008C73EE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0" y="7810500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 i="0">
                <a:solidFill>
                  <a:srgbClr val="146EA8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146EA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B249F7FD-5592-4032-AE01-96378B24C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3400" y="7791450"/>
            <a:ext cx="11258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625" b="1" i="0">
                <a:solidFill>
                  <a:srgbClr val="146EA8"/>
                </a:solidFill>
                <a:latin typeface="Arial"/>
                <a:ea typeface="Arial"/>
                <a:cs typeface="Arial"/>
              </a:defRPr>
            </a:pPr>
            <a:r>
              <a:rPr sz="2625" b="1" i="0">
                <a:solidFill>
                  <a:srgbClr val="146EA8"/>
                </a:solidFill>
                <a:latin typeface="Arial"/>
                <a:ea typeface="Arial"/>
                <a:cs typeface="Arial"/>
              </a:rPr>
              <a:t>CASE SERIES RESULT + DISCUSSION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C584096B-32E6-4D6C-A051-15B7D2346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0" y="8362950"/>
            <a:ext cx="1198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4CB"/>
          </a:solidFill>
          <a:ln xmlns:a="http://schemas.openxmlformats.org/drawingml/2006/main" w="0">
            <a:solidFill>
              <a:srgbClr val="BAC4CB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FF4E343D-6B1A-494F-B261-FF3EC9FDC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0" y="876300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4650" b="1" i="0">
                <a:solidFill>
                  <a:srgbClr val="146EA8"/>
                </a:solidFill>
                <a:latin typeface="Arial"/>
                <a:ea typeface="Arial"/>
                <a:cs typeface="Arial"/>
              </a:defRPr>
            </a:pPr>
            <a:r>
              <a:rPr sz="4650" b="1" i="0">
                <a:solidFill>
                  <a:srgbClr val="146EA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2CDB69C2-229A-405D-9479-F20371BC4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0" y="94869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4C5B67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4C5B67"/>
                </a:solidFill>
                <a:latin typeface="Arial"/>
                <a:ea typeface="Arial"/>
                <a:cs typeface="Arial"/>
              </a:rPr>
              <a:t>companies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0275C6AE-BACB-4D65-A92E-94BFDBF33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0" y="876300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4650" b="1" i="0">
                <a:solidFill>
                  <a:srgbClr val="18867F"/>
                </a:solidFill>
                <a:latin typeface="Arial"/>
                <a:ea typeface="Arial"/>
                <a:cs typeface="Arial"/>
              </a:defRPr>
            </a:pPr>
            <a:r>
              <a:rPr sz="4650" b="1" i="0">
                <a:solidFill>
                  <a:srgbClr val="18867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A0D9C5D-8ECB-40F7-BD4D-021AEBE9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0" y="94869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4C5B67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4C5B67"/>
                </a:solidFill>
                <a:latin typeface="Arial"/>
                <a:ea typeface="Arial"/>
                <a:cs typeface="Arial"/>
              </a:rPr>
              <a:t>improved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31F71F8F-2D46-43A1-B24F-37F785D7D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0" y="8763000"/>
            <a:ext cx="285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4650" b="1" i="0">
                <a:solidFill>
                  <a:srgbClr val="A13B16"/>
                </a:solidFill>
                <a:latin typeface="Arial"/>
                <a:ea typeface="Arial"/>
                <a:cs typeface="Arial"/>
              </a:defRPr>
            </a:pPr>
            <a:r>
              <a:rPr sz="4650" b="1" i="0">
                <a:solidFill>
                  <a:srgbClr val="A13B1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B48AC2C0-2073-4476-9A4E-B017A71FF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0" y="9486900"/>
            <a:ext cx="285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4C5B67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4C5B67"/>
                </a:solidFill>
                <a:latin typeface="Arial"/>
                <a:ea typeface="Arial"/>
                <a:cs typeface="Arial"/>
              </a:rPr>
              <a:t>regressed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79271388-4F86-475E-966E-67F115635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0" y="10382250"/>
            <a:ext cx="1198245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0">
            <a:solidFill>
              <a:srgbClr val="101820"/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3876349F-2852-4088-943A-55564682D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56200" y="10668000"/>
            <a:ext cx="11449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66C6E9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66C6E9"/>
                </a:solidFill>
                <a:latin typeface="Arial"/>
                <a:ea typeface="Arial"/>
                <a:cs typeface="Arial"/>
              </a:rPr>
              <a:t>RETROSPECTIVE RESULT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13B18B8E-94EC-436C-87C2-26A3CF54A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56200" y="11144250"/>
            <a:ext cx="114490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Across five purposively selected dated trajectories, four improved in at least one audited component; Vanity Fair regressed in functional refusal. This is not a prevalence estimate.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CDFD6D76-AC66-4025-8081-B94659C8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0" y="13030200"/>
            <a:ext cx="11982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 i="0">
                <a:solidFill>
                  <a:srgbClr val="146EA8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46EA8"/>
                </a:solidFill>
                <a:latin typeface="Arial"/>
                <a:ea typeface="Arial"/>
                <a:cs typeface="Arial"/>
              </a:rPr>
              <a:t>Three first-layer cases</a:t>
            </a:r>
          </a:p>
        </p:txBody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E3E7A1C9-74FC-4C08-B92A-BAFA0CC66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0" y="13639800"/>
            <a:ext cx="119824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0" i="0">
                <a:solidFill>
                  <a:srgbClr val="4C5B67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4C5B67"/>
                </a:solidFill>
                <a:latin typeface="Arial"/>
                <a:ea typeface="Arial"/>
                <a:cs typeface="Arial"/>
              </a:rPr>
              <a:t>Google, Facebook, and TikTok moved from acceptance-favoring rejection effort to one-click or equivalent first-layer refusal. TikTok still had deficient purpose information.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CCC166A2-1710-4D62-8B62-D073C0A94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0" y="15525750"/>
            <a:ext cx="11982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 i="0">
                <a:solidFill>
                  <a:srgbClr val="146EA8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46EA8"/>
                </a:solidFill>
                <a:latin typeface="Arial"/>
                <a:ea typeface="Arial"/>
                <a:cs typeface="Arial"/>
              </a:rPr>
              <a:t>What changed, and what explains it?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4F61FB8E-3C7A-4367-8BAF-3FD0CFE1A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0" y="16173450"/>
            <a:ext cx="119824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- Google: &gt;=5 reject actions -&gt; 1; direct company attribution</a:t>
            </a:r>
          </a:p>
          <a:p xmlns:a="http://schemas.openxmlformats.org/drawingml/2006/main">
            <a:pPr algn="l">
              <a:buNone/>
              <a:defRPr sz="2100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- Facebook: equivalent reject; CNIL verified the order</a:t>
            </a:r>
          </a:p>
          <a:p xmlns:a="http://schemas.openxmlformats.org/drawingml/2006/main">
            <a:pPr algn="l">
              <a:buNone/>
              <a:defRPr sz="2100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- TikTok: first-layer reject; changed during investigation</a:t>
            </a:r>
          </a:p>
          <a:p xmlns:a="http://schemas.openxmlformats.org/drawingml/2006/main">
            <a:pPr algn="l">
              <a:buNone/>
              <a:defRPr sz="2100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- Orange: withdrawal stopped reads/writes; CNIL verified</a:t>
            </a:r>
          </a:p>
          <a:p xmlns:a="http://schemas.openxmlformats.org/drawingml/2006/main">
            <a:pPr algn="l">
              <a:buNone/>
              <a:defRPr sz="2100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100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- Vanity Fair: refusal failed after closure; cause unknown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89D385D6-B67B-4265-BF7D-2F375489C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0" y="19373850"/>
            <a:ext cx="11982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325" b="1" i="0">
                <a:solidFill>
                  <a:srgbClr val="146EA8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46EA8"/>
                </a:solidFill>
                <a:latin typeface="Arial"/>
                <a:ea typeface="Arial"/>
                <a:cs typeface="Arial"/>
              </a:rPr>
              <a:t>Discussion prompts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A685CA5E-F011-4612-89C5-57EF1CA38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0" y="200406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C6E9"/>
          </a:solidFill>
          <a:ln xmlns:a="http://schemas.openxmlformats.org/drawingml/2006/main" w="0">
            <a:solidFill>
              <a:srgbClr val="66C6E9"/>
            </a:solidFill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FDE627D1-FF6A-4544-A847-1B19EF2C7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65700" y="201930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8674A6EE-4F60-4548-8D3F-1A51659C1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27700" y="20097750"/>
            <a:ext cx="11144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950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Visible parity or genuine user autonomy?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6BA1CFF7-7430-4739-A471-810727C85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0" y="210502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C6E9"/>
          </a:solidFill>
          <a:ln xmlns:a="http://schemas.openxmlformats.org/drawingml/2006/main" w="0">
            <a:solidFill>
              <a:srgbClr val="66C6E9"/>
            </a:solidFill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A5FD3626-352A-4C9E-9C50-7EF774E55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65700" y="212026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710EE3C6-4EE1-4317-B366-5831F9A29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27700" y="21107400"/>
            <a:ext cx="11144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950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Publisher, CMP, or both when refusal fails?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A3B4D087-6776-4B1A-B460-F9CDDFE5B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0" y="220599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C6E9"/>
          </a:solidFill>
          <a:ln xmlns:a="http://schemas.openxmlformats.org/drawingml/2006/main" w="0">
            <a:solidFill>
              <a:srgbClr val="66C6E9"/>
            </a:solidFill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D7BB539C-BD97-4E6E-BE01-CD25D6E79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65700" y="222123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F6D4A8CA-5717-4F29-8FC4-9BD5AD562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27700" y="22117050"/>
            <a:ext cx="11144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950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One-time certification or recurring re-audit?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37CDEE62-1715-4537-91A9-6D695537E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0" y="230695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C6E9"/>
          </a:solidFill>
          <a:ln xmlns:a="http://schemas.openxmlformats.org/drawingml/2006/main" w="0">
            <a:solidFill>
              <a:srgbClr val="66C6E9"/>
            </a:solidFill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232D7F05-1D93-4556-8D1D-124713CA7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65700" y="2322195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C5613B1D-2867-4A7D-81E9-D7AB59971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27700" y="23126700"/>
            <a:ext cx="11144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950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Which component changes first under enforcement?</a:t>
            </a:r>
          </a:p>
        </p:txBody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D0D7D6BF-DF25-488B-A79D-15ADE310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0" y="240792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C6E9"/>
          </a:solidFill>
          <a:ln xmlns:a="http://schemas.openxmlformats.org/drawingml/2006/main" w="0">
            <a:solidFill>
              <a:srgbClr val="66C6E9"/>
            </a:solidFill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C54A841B-E7F0-43F5-8EBB-E50694EBF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65700" y="242316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725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C9D745C2-9B69-4DB2-B048-E5EE0F319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27700" y="24136350"/>
            <a:ext cx="11144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0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1950" b="0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Can controlled captures reproduce these cases?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E6F6E41C-45B2-4643-A48A-B8EC06727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0" y="25336500"/>
            <a:ext cx="11982450" cy="1676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FEB"/>
          </a:solidFill>
          <a:ln xmlns:a="http://schemas.openxmlformats.org/drawingml/2006/main" w="19050">
            <a:solidFill>
              <a:srgbClr val="18867F"/>
            </a:solidFill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52E64B76-5B6A-448F-84D8-B996E07CC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56200" y="25584150"/>
            <a:ext cx="11449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 i="0">
                <a:solidFill>
                  <a:srgbClr val="18867F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8867F"/>
                </a:solidFill>
                <a:latin typeface="Arial"/>
                <a:ea typeface="Arial"/>
                <a:cs typeface="Arial"/>
              </a:rPr>
              <a:t>DISCUSSION FINDING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119B9DF1-94B7-4C10-9D2C-89198F6E2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56200" y="26041350"/>
            <a:ext cx="11449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 i="0">
                <a:solidFill>
                  <a:srgbClr val="101820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101820"/>
                </a:solidFill>
                <a:latin typeface="Arial"/>
                <a:ea typeface="Arial"/>
                <a:cs typeface="Arial"/>
              </a:rPr>
              <a:t>Regulators appear most effective where they can specify and verify a concrete interaction.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5115CB95-C22D-4BF6-8C7B-547006DEB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241750"/>
            <a:ext cx="43891200" cy="3676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0">
            <a:solidFill>
              <a:srgbClr val="101820"/>
            </a:solidFill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E0BE6C80-541D-466E-B87C-08D113512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9737050"/>
            <a:ext cx="400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75" b="1" i="0">
                <a:solidFill>
                  <a:srgbClr val="66C6E9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66C6E9"/>
                </a:solidFill>
                <a:latin typeface="Arial"/>
                <a:ea typeface="Arial"/>
                <a:cs typeface="Arial"/>
              </a:rPr>
              <a:t>CONCLUSION</a:t>
            </a:r>
          </a:p>
        </p:txBody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8FE7D147-8913-45A9-97E7-522BC6C44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9622750"/>
            <a:ext cx="2552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7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Consent interfaces improved where concrete interactions were specified and checked, but improvement was partial and reversible.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B3BA75B1-B847-40A6-A28B-38EB24AE2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0" y="29698950"/>
            <a:ext cx="762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00" b="1" i="0">
                <a:solidFill>
                  <a:srgbClr val="66C6E9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66C6E9"/>
                </a:solidFill>
                <a:latin typeface="Arial"/>
                <a:ea typeface="Arial"/>
                <a:cs typeface="Arial"/>
              </a:rPr>
              <a:t>Methods and evidence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74589713-92EF-42A6-A35B-FD70600A1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0" y="30175200"/>
            <a:ext cx="1000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D9E0E5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D9E0E5"/>
                </a:solidFill>
                <a:latin typeface="Arial"/>
                <a:ea typeface="Arial"/>
                <a:cs typeface="Arial"/>
              </a:rPr>
              <a:t>CONCEPTS.md | retrospective cases.csv | source registry.csv | local directional review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620BF126-2636-4DCD-8753-B35CC4A21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1318200"/>
            <a:ext cx="40005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0" i="0">
                <a:solidFill>
                  <a:srgbClr val="BAC4CB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BAC4CB"/>
                </a:solidFill>
                <a:latin typeface="Arial"/>
                <a:ea typeface="Arial"/>
                <a:cs typeface="Arial"/>
              </a:rPr>
              <a:t>CWRU SOURCE / Intersections alignment: title, introduction, methods, results, conclusion, future research, and references. Poster size: 48 x 36 inches.</a:t>
            </a:r>
          </a:p>
        </p:txBody>
      </p:sp>
    </p:spTree>
    <p:extLst>
      <p:ext uri="{BB962C8B-B14F-4D97-AF65-F5344CB8AC3E}">
        <p14:creationId xmlns:p14="http://schemas.microsoft.com/office/powerpoint/2010/main" val="19207916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2026-07-29T15:12:20.5020000Z</dcterms:created>
  <dcterms:modified xsi:type="dcterms:W3CDTF">2026-07-29T15:12:20.5020000Z</dcterms:modified>
</coreProperties>
</file>