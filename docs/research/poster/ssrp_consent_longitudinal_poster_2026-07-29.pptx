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e6a08ca6a5485d" /><Relationship Type="http://schemas.openxmlformats.org/officeDocument/2006/relationships/extended-properties" Target="/docProps/app.xml" Id="Rc2186fd220fc4fe6" /><Relationship Type="http://schemas.openxmlformats.org/officeDocument/2006/relationships/officeDocument" Target="/ppt/presentation.xml" Id="R168c9ae0f72743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cc5c365cd4c87"/>
  </p:sldMasterIdLst>
  <p:notesMasterIdLst>
    <p:notesMasterId xmlns:r="http://schemas.openxmlformats.org/officeDocument/2006/relationships" r:id="R7dc803fddcfa4b41"/>
  </p:notesMasterIdLst>
  <p:sldIdLst>
    <p:sldId xmlns:r="http://schemas.openxmlformats.org/officeDocument/2006/relationships" id="256" r:id="Ra04969bb6b384780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cc0bdbfae24304" /><Relationship Type="http://schemas.openxmlformats.org/officeDocument/2006/relationships/slideMaster" Target="/ppt/slideMasters/slideMaster1.xml" Id="Rdc0cc5c365cd4c87" /><Relationship Type="http://schemas.openxmlformats.org/officeDocument/2006/relationships/notesMaster" Target="/ppt/notesMasters/notesMaster1.xml" Id="R7dc803fddcfa4b41" /><Relationship Type="http://schemas.openxmlformats.org/officeDocument/2006/relationships/presProps" Target="/ppt/presProps.xml" Id="R0823a52f26a54edf" /><Relationship Type="http://schemas.openxmlformats.org/officeDocument/2006/relationships/tableStyles" Target="/ppt/tableStyles.xml" Id="R16f38cc990ae41f2" /><Relationship Type="http://schemas.openxmlformats.org/officeDocument/2006/relationships/slide" Target="/ppt/slides/slide1.xml" Id="Ra04969bb6b38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9ab8b25cdf47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529c5a6bff4114" /><Relationship Type="http://schemas.openxmlformats.org/officeDocument/2006/relationships/notesMaster" Target="/ppt/notesMasters/notesMaster1.xml" Id="R50f6ac79c98b45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poster is organized left-to-right: question and measure, matched longitudinal design, pilot result and next study. The one-interval limitation is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https://case.edu/studentlife/ugresearch/share-your-work/intersections-poster-symposium/preparing-intersections</a:t>
            </a:r>
          </a:p>
          <a:p xmlns:a="http://schemas.openxmlformats.org/drawingml/2006/main">
            <a:r>
              <a:t>- https://case.edu/studentlife/ugresearch/sites/default/files/2022-12/SOURCE_%20Improving%20Presentation%20Skills.pptx%20%281%29.pdf</a:t>
            </a:r>
          </a:p>
          <a:p xmlns:a="http://schemas.openxmlformats.org/drawingml/2006/main">
            <a:r>
              <a:t>- data/research_package/audit_report_summary.csv</a:t>
            </a:r>
          </a:p>
          <a:p xmlns:a="http://schemas.openxmlformats.org/drawingml/2006/main">
            <a:r>
              <a:t>- data/research_package/longitudinal_summary.csv</a:t>
            </a:r>
          </a:p>
          <a:p xmlns:a="http://schemas.openxmlformats.org/drawingml/2006/main">
            <a:r>
              <a:t>- data/longitudinal_directional_review_2026-07-29.csv</a:t>
            </a:r>
          </a:p>
          <a:p xmlns:a="http://schemas.openxmlformats.org/drawingml/2006/main">
            <a:r>
              <a:t>- docs/research/june14_capture_attempt_audit_2026-06-14.md</a:t>
            </a:r>
          </a:p>
          <a:p xmlns:a="http://schemas.openxmlformats.org/drawingml/2006/main">
            <a:r>
              <a:t>- docs/research/june15_coca_cola_smoke_audit_2026-06-15.md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6546d07f043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be096054d843e0" /><Relationship Type="http://schemas.openxmlformats.org/officeDocument/2006/relationships/slideLayout" Target="/ppt/slideLayouts/slideLayout1.xml" Id="Rb184c8ac4f954f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84c8ac4f954f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9a23d11024989" /><Relationship Type="http://schemas.openxmlformats.org/officeDocument/2006/relationships/image" Target="/ppt/media/image.png" Id="R4fe8d22dc1a64c6e" /><Relationship Type="http://schemas.openxmlformats.org/officeDocument/2006/relationships/image" Target="/ppt/media/image2.png" Id="Rfcd25b28fbcb4ea0" /><Relationship Type="http://schemas.openxmlformats.org/officeDocument/2006/relationships/image" Target="/ppt/media/image3.png" Id="Rf060aea3cc004c5c" /><Relationship Type="http://schemas.openxmlformats.org/officeDocument/2006/relationships/image" Target="/ppt/media/image4.png" Id="Re3cb426789e340cc" /><Relationship Type="http://schemas.openxmlformats.org/officeDocument/2006/relationships/notesSlide" Target="/ppt/notesSlides/notesSlide1.xml" Id="R84735f5363074f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3BEC536-5BE5-4AA2-B6C1-68403C10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0AB54-B63F-46F9-A175-AA9061D8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8650"/>
            <a:ext cx="1714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DDF2F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DF2FA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E8FF3-C0AE-48F4-8CCD-CD7C79D9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52550"/>
            <a:ext cx="3105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Tracking How Consent Interfaces Evolve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911E3-403F-4EF8-9F35-9744E194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52750"/>
            <a:ext cx="2933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D9E0E5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D9E0E5"/>
                </a:solidFill>
                <a:latin typeface="Arial"/>
                <a:ea typeface="Arial"/>
                <a:cs typeface="Arial"/>
              </a:rPr>
              <a:t>A repeatable, evidence-linked framework for comparing the same website over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4BEAD-B1EE-461D-B0BA-98E3CFD7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00500"/>
            <a:ext cx="2095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BAC4CB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BAC4CB"/>
                </a:solidFill>
                <a:latin typeface="Arial"/>
                <a:ea typeface="Arial"/>
                <a:cs typeface="Arial"/>
              </a:rPr>
              <a:t>Qianyi (Alfred) Chen | Mentor: Dr. Jagdip Singh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5456E-3343-4BA5-9004-EDA19A77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876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A7D2F-AB0A-493E-B615-73990CC8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9715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repeatable measure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47E71-B25F-4C65-9B73-7D8E0877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17526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5BF40-329D-41EF-987A-AA4A753C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18478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matched 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5DCC2-F3BE-421B-8F25-D3C5673A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26289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58DC3-4C92-4EDD-A09A-8A4496E3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724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trajectory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72322-B67E-481B-88E3-DA476D98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0" y="35814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9E0E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9E0E5"/>
                </a:solidFill>
                <a:latin typeface="Arial"/>
                <a:ea typeface="Arial"/>
                <a:cs typeface="Arial"/>
              </a:rPr>
              <a:t>improved | regressed | mixed | stable | insufficient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E4D81-65FD-415D-9441-3436C9C5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43891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1C0B5-DFCF-4FBB-BD00-1EDABA73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531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3723B-DB88-4539-A9CE-613404C4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76950"/>
            <a:ext cx="3714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RQ1 defines the ruler. RQ2 repeats the measurement. Evidence review determines whether a change has direction.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E5FA4-DB5C-4CF9-B183-02884576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8105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7F74A8-7B4A-4F98-A995-56631AB8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7914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QUESTION + MEASURE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5E906-7B08-43D6-AC16-D50827F9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362950"/>
            <a:ext cx="1200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35AC8-A602-406F-BC6C-41F104AC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24900"/>
            <a:ext cx="1200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snapshot can describe one consent interface. It cannot show how that interface evolves.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A6246-2631-420D-B362-0A8EA7CA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058400"/>
            <a:ext cx="1200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The study compares repeated observations of the same site and asks whether user choice became easier, clearer, more balanced, or worse.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35A1B-827E-4241-AA1A-F15475F0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1906250"/>
            <a:ext cx="1200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RQ1: the repeatable ruler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5CC5D-2FCB-4F8E-921A-B856FF4B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668250"/>
            <a:ext cx="152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5CE77-55B5-4DE2-884A-1D433617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668250"/>
            <a:ext cx="1160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Path availability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8B24AE-7E12-4619-A268-A8BF6C31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3163550"/>
            <a:ext cx="1160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Can users reach Reject and Customize?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8B4FF-8898-42E9-9CCF-9B6DD9DB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135100"/>
            <a:ext cx="152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7F"/>
          </a:solidFill>
          <a:ln xmlns:a="http://schemas.openxmlformats.org/drawingml/2006/main" w="0">
            <a:solidFill>
              <a:srgbClr val="1886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2ED000-D81E-42A0-9460-9DE74FEC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135100"/>
            <a:ext cx="1160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Path effort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4FEB3-6355-4DB9-84E4-713D674E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630400"/>
            <a:ext cx="1160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How much interaction does each path require?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BA006-DDB4-451B-9B94-6F6633D2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601950"/>
            <a:ext cx="152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1A"/>
          </a:solidFill>
          <a:ln xmlns:a="http://schemas.openxmlformats.org/drawingml/2006/main" w="0">
            <a:solidFill>
              <a:srgbClr val="D6A31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6D0614-1D4B-4BC4-B8E6-076358BE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5601950"/>
            <a:ext cx="1160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Transparency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0B06C2-8FA1-4761-B409-891EF848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097250"/>
            <a:ext cx="1160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What is disclosed, and how clearly?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D639F6-A88B-4EE5-98BB-2CEE504C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068800"/>
            <a:ext cx="152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3B16"/>
          </a:solidFill>
          <a:ln xmlns:a="http://schemas.openxmlformats.org/drawingml/2006/main" w="0">
            <a:solidFill>
              <a:srgbClr val="A13B1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73230-F174-4443-966A-0D86CF5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068800"/>
            <a:ext cx="1160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Unbiased choice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7F5F29-B6C6-4FFD-895C-631BD5A3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564100"/>
            <a:ext cx="1160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Are options visually and structurally balanced?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12B06F-ADF7-49F1-B1DC-E4397B23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0"/>
            <a:ext cx="1200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Directional coding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DCA5CB-55B2-4129-8BB2-9B58739B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64350"/>
            <a:ext cx="31432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solidFill>
              <a:srgbClr val="DCEF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56446C-322F-4418-B9C4-C2A599D7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68817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490268-805C-4663-AC28-A763965C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659600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or more dimensions improve; none regress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691ED1-788E-447C-B69D-93BB4F9F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97775"/>
            <a:ext cx="31432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E6DF"/>
          </a:solidFill>
          <a:ln xmlns:a="http://schemas.openxmlformats.org/drawingml/2006/main" w="0">
            <a:solidFill>
              <a:srgbClr val="F6E6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C1EA5B-5846-4EFB-AA7B-72B37323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4216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REGRESSED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1B4874-98F2-469F-B9EC-842E30DD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393025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or more regress; none improve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A70B1B-48A3-4968-8B76-791149F1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031200"/>
            <a:ext cx="31432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0">
            <a:solidFill>
              <a:srgbClr val="FBF3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E69C78-B4E2-48EF-B604-E271DE54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1550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MIXED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FD143C-A741-49F6-994E-42F2D735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126450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dimensions move in both directions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0D2E81-43DB-4E6C-9DA0-82A35D38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764625"/>
            <a:ext cx="31432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AA887C-C895-4B4E-9414-DC9FA9DC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888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STABLE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054DE4-F208-434C-9F79-21B6E814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859875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no meaningful component change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D18F30-18C3-4E3E-8E13-871953DF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498050"/>
            <a:ext cx="31432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EF67E6-254E-4259-AB90-3224F1ED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2187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INSUFFICIENT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537AE6-4570-4482-8DD7-761145A2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593300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context, evidence, or scoring is not comparable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9B58D4-5910-4C84-A0B3-60C3F0A6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574375"/>
            <a:ext cx="12001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19050">
            <a:solidFill>
              <a:srgbClr val="D6A31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802E3C-A48F-417A-972E-11D5CD44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850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Guardrail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3B6856-C3F5-4FB1-ABD9-3EDF02E4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288750"/>
            <a:ext cx="11468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Copy, DOM, layout, and image hashes trigger review. They do not show improvement or regression by themselves.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46B2E1-4A70-490D-86B6-AEFA1E83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78105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5F54F7-DBCD-4D82-B305-8478AA3E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7791450"/>
            <a:ext cx="1403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MATCHED LONGITUDINAL DESIGN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33D4A1-5883-4162-9944-3DAF75B4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362950"/>
            <a:ext cx="1476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18C51D-43E3-4F84-9E36-63C7482F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686800"/>
            <a:ext cx="1476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Same site + same context + same ruler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831247-557F-4A1E-9B4E-D49A18B4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134600"/>
            <a:ext cx="1247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C48F9D-B7EE-4418-A3FD-E73BCBF1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62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3C2A24-87F6-4014-83CF-B3CC3561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992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F9030A-81E9-4795-B768-D51DA1CA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10839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DD2BF4-CADC-45AC-91DC-5E2D8CF4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0" y="962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7F"/>
          </a:solidFill>
          <a:ln xmlns:a="http://schemas.openxmlformats.org/drawingml/2006/main" w="0">
            <a:solidFill>
              <a:srgbClr val="18867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A3B9D1-61A1-45BD-83D8-3C368968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992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3E6AC8-A31F-4EA5-9590-2058A95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0" y="10839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A78B87-9D51-4C17-949F-33002D65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0" y="962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1A"/>
          </a:solidFill>
          <a:ln xmlns:a="http://schemas.openxmlformats.org/drawingml/2006/main" w="0">
            <a:solidFill>
              <a:srgbClr val="D6A31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012150-ABAE-419E-B325-452CE191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300" y="992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5B65C9-4F5F-424C-BF94-E58A0160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0839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E65ED4-E73C-4587-804B-EFF28097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0" y="962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3B16"/>
          </a:solidFill>
          <a:ln xmlns:a="http://schemas.openxmlformats.org/drawingml/2006/main" w="0">
            <a:solidFill>
              <a:srgbClr val="A13B1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5CEB78-543B-416A-9FD0-241E2CAD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1550" y="992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40471C4-87A9-4F23-84C1-5C746D1B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0" y="10839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A2E419-18DD-41A7-87B2-12F79D6F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1811000"/>
            <a:ext cx="1476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Matched pair 1: The Guardian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7BE8B9-D1E7-44C6-8D50-98C28793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2401550"/>
            <a:ext cx="2190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96A0AEB-0D72-4498-854C-83FDF15A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1244917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MAY 29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9AE249-63B1-47D7-923B-57A89365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0" y="12401550"/>
            <a:ext cx="2190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solidFill>
              <a:srgbClr val="DCEFE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F171B78-A15F-40AE-AAA7-9BB66A67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4700" y="1244917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JUNE 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3246700-8B2C-482D-8309-950057C3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12896850"/>
            <a:ext cx="70294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8d22dc1a64c6e"/>
          <a:stretch xmlns:a="http://schemas.openxmlformats.org/drawingml/2006/main"/>
        </p:blipFill>
        <p:spPr>
          <a:xfrm xmlns:a="http://schemas.openxmlformats.org/drawingml/2006/main">
            <a:off x="14575155" y="12934950"/>
            <a:ext cx="6949440" cy="4343400"/>
          </a:xfrm>
          <a:prstGeom xmlns:a="http://schemas.openxmlformats.org/drawingml/2006/main" prst="rect">
            <a:avLst/>
          </a:prstGeom>
        </p:spPr>
      </p:pic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471F8A1-364F-49D8-B68C-C592D5C2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0400" y="12896850"/>
            <a:ext cx="70294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25b28fbcb4ea0"/>
          <a:stretch xmlns:a="http://schemas.openxmlformats.org/drawingml/2006/main"/>
        </p:blipFill>
        <p:spPr>
          <a:xfrm xmlns:a="http://schemas.openxmlformats.org/drawingml/2006/main">
            <a:off x="22290405" y="12934950"/>
            <a:ext cx="6949440" cy="4343400"/>
          </a:xfrm>
          <a:prstGeom xmlns:a="http://schemas.openxmlformats.org/drawingml/2006/main" prst="rect">
            <a:avLst/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CCF1C12-31ED-4F06-998D-2AD1F313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7478375"/>
            <a:ext cx="1476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Raw alert: D | Evidence review: same visible choice structure | Direction: insufficient evidence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995141E-39BB-4483-8766-0EB4BA0D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8383250"/>
            <a:ext cx="1476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Matched pair 2: Coca-Cola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6FAE57-DF2D-44B2-A070-59B7E62E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18973800"/>
            <a:ext cx="2190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2763835-AD89-4FB0-A871-E313CB37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190214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MAY 29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B0D8A10-6A9E-4CBD-91A9-51946304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0" y="18973800"/>
            <a:ext cx="2190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solidFill>
              <a:srgbClr val="DCEFE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D36728-30FB-43E8-AB3B-70148976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4700" y="190214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JUNE 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1BCAE4B-22A9-4256-94A1-EA6C5887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19469100"/>
            <a:ext cx="70294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0aea3cc004c5c"/>
          <a:stretch xmlns:a="http://schemas.openxmlformats.org/drawingml/2006/main"/>
        </p:blipFill>
        <p:spPr>
          <a:xfrm xmlns:a="http://schemas.openxmlformats.org/drawingml/2006/main">
            <a:off x="14575155" y="19507200"/>
            <a:ext cx="6949440" cy="4343400"/>
          </a:xfrm>
          <a:prstGeom xmlns:a="http://schemas.openxmlformats.org/drawingml/2006/main" prst="rect">
            <a:avLst/>
          </a:prstGeom>
        </p:spPr>
      </p:pic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81471A3-9ECA-405C-9A2B-2ADF51EC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0400" y="19469100"/>
            <a:ext cx="70294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b426789e340cc"/>
          <a:stretch xmlns:a="http://schemas.openxmlformats.org/drawingml/2006/main"/>
        </p:blipFill>
        <p:spPr>
          <a:xfrm xmlns:a="http://schemas.openxmlformats.org/drawingml/2006/main">
            <a:off x="22290405" y="19507200"/>
            <a:ext cx="6949440" cy="4343400"/>
          </a:xfrm>
          <a:prstGeom xmlns:a="http://schemas.openxmlformats.org/drawingml/2006/main" prst="rect">
            <a:avLst/>
          </a:prstGeom>
        </p:spPr>
      </p:pic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07E535E-F24E-44D3-8D9E-59CCA051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4050625"/>
            <a:ext cx="1476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Stored controls look stable; automated tier changed; a later detector fix changed recognition. Back-coding is required.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06AA95-07F6-4D50-846A-5008C73E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78105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249F7FD-5592-4032-AE01-96378B24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0" y="7791450"/>
            <a:ext cx="1125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PILOT RESULT + NEXT STUDY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584096B-32E6-4D6C-A051-15B7D234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8362950"/>
            <a:ext cx="1198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F4E343D-6B1A-494F-B261-FF3EC9FD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87630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CDB69C2-229A-405D-9479-F20371B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94869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sites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275C6AE-BACB-4D65-A92E-94BFDBF3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0" y="87630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A0D9C5D-8ECB-40F7-BD4D-021AEBE9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0" y="94869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matched interval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1F71F8F-2D46-43A1-B24F-37F785D7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0" y="87630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48AC2C0-2073-4476-9A4E-B017A71F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0" y="94869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raw candidates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9271388-4F86-475E-966E-67F11563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0382250"/>
            <a:ext cx="119824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876349F-2852-4088-943A-55564682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0" y="10668000"/>
            <a:ext cx="1144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CURRENT FINDING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3B18B8E-94EC-436C-87C2-26A3CF54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0" y="11144250"/>
            <a:ext cx="11449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pipeline can surface evidence-linked change candidates. The current one-interval pilot does not establish improvement or regression for any site.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DFD6D76-AC66-4025-8081-B94659C8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3030200"/>
            <a:ext cx="1198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Three context cases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3E7A1C9-74FC-4C08-B92A-BAFA0CC6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3639800"/>
            <a:ext cx="11982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CNN, Booking.com, and NerdWallet show no visible first-screen banner at either stored time point. They are repeated non-observations, not banner-path failures.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CC166A2-1710-4D62-8B62-D073C0A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5525750"/>
            <a:ext cx="1198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Why the depth is not enough yet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F61FB8E-3C7A-4367-8BAF-3FD0CFE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6173450"/>
            <a:ext cx="119824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one validated interval, not a long trajectory</a:t>
            </a:r>
          </a:p>
          <a:p xmlns:a="http://schemas.openxmlformats.org/drawingml/2006/main">
            <a:pPr algn="l">
              <a:defRPr sz="21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capture context is not fully modeled</a:t>
            </a:r>
          </a:p>
          <a:p xmlns:a="http://schemas.openxmlformats.org/drawingml/2006/main">
            <a:pPr algn="l">
              <a:defRPr sz="21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scorer-version confound in Coca-Cola</a:t>
            </a:r>
          </a:p>
          <a:p xmlns:a="http://schemas.openxmlformats.org/drawingml/2006/main">
            <a:pPr algn="l">
              <a:defRPr sz="21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no reliability estimate</a:t>
            </a:r>
          </a:p>
          <a:p xmlns:a="http://schemas.openxmlformats.org/drawingml/2006/main">
            <a:pPr algn="l">
              <a:defRPr sz="21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five selective cases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9D385D6-B67B-4265-BF7D-2F375489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19373850"/>
            <a:ext cx="1198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Next study protocol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85CA5E-F011-4612-89C5-57EF1CA3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0040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DE627D1-FF6A-4544-A847-1B19EF2C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0" y="20193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674A6EE-4F60-4548-8D3F-1A51659C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0" y="20097750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Collect at least three validated time points per site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BA1CFF7-7430-4739-A471-810727C8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105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5FD3626-352A-4C9E-9C50-7EF774E5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0" y="21202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10EE3C6-4EE1-4317-B366-5831F9A2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0" y="21107400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Freeze geography, language, viewport, browser, and consent state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3B4D087-6776-4B1A-B460-F9CDDFE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20599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7BB539C-BD97-4E6E-BE01-CD25D6E7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0" y="222123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6D4A8CA-5717-4F29-8FC4-9BD5AD56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0" y="22117050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Store scorer version and back-code after detector changes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7CDEE62-1715-4537-91A9-6D695537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3069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32D7F05-1D93-4556-8D1D-124713CA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0" y="23221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5613B1D-2867-4A7D-81E9-D7AB5997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0" y="23126700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Manually validate component deltas; double-code a subset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0D7D6BF-DF25-488B-A79D-15ADE310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4079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54A841B-E7F0-43F5-8EBB-E50694EB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0" y="24231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9D745C2-9B69-4DB2-B048-E5EE0F31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0" y="24136350"/>
            <a:ext cx="1114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Report trajectories only after evidence passes these gates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6F6E41C-45B2-4643-A48A-B8EC0672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5336500"/>
            <a:ext cx="119824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  <a:ln xmlns:a="http://schemas.openxmlformats.org/drawingml/2006/main" w="19050">
            <a:solidFill>
              <a:srgbClr val="18867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2E64B76-5B6A-448F-84D8-B996E07C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0" y="25584150"/>
            <a:ext cx="1144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CONTRIBUTION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19B9DF1-94B7-4C10-9D2C-89198F6E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0" y="26041350"/>
            <a:ext cx="11449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traceable method for separating real consent-interface evolution from technical noise.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115CB95-C22D-4BF6-8C7B-547006DE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241750"/>
            <a:ext cx="43891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0BE6C80-541D-466E-B87C-08D11351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7370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FE7D147-8913-45A9-97E7-522BC6C4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622750"/>
            <a:ext cx="2552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 know how to build the comparison. We do not yet have enough validated time to claim which sites improved.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3BA75B1-B847-40A6-A28B-38EB24AE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0" y="296989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Methods and evidence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4589713-92EF-42A6-A35B-FD70600A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0" y="30175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9E0E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9E0E5"/>
                </a:solidFill>
                <a:latin typeface="Arial"/>
                <a:ea typeface="Arial"/>
                <a:cs typeface="Arial"/>
              </a:rPr>
              <a:t>CONCEPTS.md | audit_report_summary.csv | longitudinal_summary.csv | directional review 2026-07-29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20BF126-2636-4DCD-8753-B35CC4A2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318200"/>
            <a:ext cx="4000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BAC4C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AC4CB"/>
                </a:solidFill>
                <a:latin typeface="Arial"/>
                <a:ea typeface="Arial"/>
                <a:cs typeface="Arial"/>
              </a:rPr>
              <a:t>CWRU SOURCE / Intersections alignment: title, introduction, methods, results, conclusion, future research, and references. Official board fit: 40 x 60 option; confirm registration before printing.</a:t>
            </a:r>
          </a:p>
        </p:txBody>
      </p:sp>
    </p:spTree>
    <p:extLst>
      <p:ext uri="{BB962C8B-B14F-4D97-AF65-F5344CB8AC3E}">
        <p14:creationId xmlns:p14="http://schemas.microsoft.com/office/powerpoint/2010/main" val="1920791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2026-07-29T13:34:57.0890000Z</dcterms:created>
  <dcterms:modified xsi:type="dcterms:W3CDTF">2026-07-29T13:34:57.0890000Z</dcterms:modified>
</coreProperties>
</file>