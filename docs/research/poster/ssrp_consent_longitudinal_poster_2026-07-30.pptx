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55752a4b7c448d" /><Relationship Type="http://schemas.openxmlformats.org/officeDocument/2006/relationships/extended-properties" Target="/docProps/app.xml" Id="Ra774e8f9782c4e3a" /><Relationship Type="http://schemas.openxmlformats.org/officeDocument/2006/relationships/officeDocument" Target="/ppt/presentation.xml" Id="Rde864b4f4302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77e1c07e746f2"/>
  </p:sldMasterIdLst>
  <p:notesMasterIdLst>
    <p:notesMasterId xmlns:r="http://schemas.openxmlformats.org/officeDocument/2006/relationships" r:id="R5ccf68abb2c44584"/>
  </p:notesMasterIdLst>
  <p:sldIdLst>
    <p:sldId xmlns:r="http://schemas.openxmlformats.org/officeDocument/2006/relationships" id="256" r:id="R034018e6531847e5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d8dde42e04505" /><Relationship Type="http://schemas.openxmlformats.org/officeDocument/2006/relationships/slideMaster" Target="/ppt/slideMasters/slideMaster1.xml" Id="R30577e1c07e746f2" /><Relationship Type="http://schemas.openxmlformats.org/officeDocument/2006/relationships/notesMaster" Target="/ppt/notesMasters/notesMaster1.xml" Id="R5ccf68abb2c44584" /><Relationship Type="http://schemas.openxmlformats.org/officeDocument/2006/relationships/presProps" Target="/ppt/presProps.xml" Id="R6912869e31f649bd" /><Relationship Type="http://schemas.openxmlformats.org/officeDocument/2006/relationships/tableStyles" Target="/ppt/tableStyles.xml" Id="Re5fc3a3ccfaa4251" /><Relationship Type="http://schemas.openxmlformats.org/officeDocument/2006/relationships/slide" Target="/ppt/slides/slide1.xml" Id="R034018e65318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73bbef635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ec5c4f9c45486f" /><Relationship Type="http://schemas.openxmlformats.org/officeDocument/2006/relationships/notesMaster" Target="/ppt/notesMasters/notesMaster1.xml" Id="R3861e2820d1f41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https://www.legifrance.gouv.fr/cnil/id/CNILTEXT000044840062</a:t>
            </a:r>
          </a:p>
          <a:p xmlns:a="http://schemas.openxmlformats.org/drawingml/2006/main">
            <a:r>
              <a:t>- https://blog.google/company-news/inside-google/around-the-globe/google-europe/new-cookie-choices-in-europe/</a:t>
            </a:r>
          </a:p>
          <a:p xmlns:a="http://schemas.openxmlformats.org/drawingml/2006/main">
            <a:r>
              <a:t>- https://www.legifrance.gouv.fr/cnil/id/CNILTEXT000044840532</a:t>
            </a:r>
          </a:p>
          <a:p xmlns:a="http://schemas.openxmlformats.org/drawingml/2006/main">
            <a:r>
              <a:t>- https://www.legifrance.gouv.fr/cnil/id/CNILTEXT000046096716</a:t>
            </a:r>
          </a:p>
          <a:p xmlns:a="http://schemas.openxmlformats.org/drawingml/2006/main">
            <a:r>
              <a:t>- https://www.legifrance.gouv.fr/cnil/id/CNILTEXT000046977994/</a:t>
            </a:r>
          </a:p>
          <a:p xmlns:a="http://schemas.openxmlformats.org/drawingml/2006/main">
            <a:r>
              <a:t>- https://www.cnil.fr/en/closure-injunction-issued-against-orange</a:t>
            </a:r>
          </a:p>
          <a:p xmlns:a="http://schemas.openxmlformats.org/drawingml/2006/main">
            <a:r>
              <a:t>- https://www.cnil.fr/sites/default/files/2025-09/cnil_sanction_shein_en.pdf</a:t>
            </a:r>
          </a:p>
          <a:p xmlns:a="http://schemas.openxmlformats.org/drawingml/2006/main">
            <a:r>
              <a:t>- https://www.cnil.fr/en/cookies-placed-without-consent-company-publishes-website-vanityfairfr-fined-750000-euros</a:t>
            </a:r>
          </a:p>
          <a:p xmlns:a="http://schemas.openxmlformats.org/drawingml/2006/main">
            <a:r>
              <a:t>- https://arxiv.org/abs/2606.31485</a:t>
            </a:r>
          </a:p>
          <a:p xmlns:a="http://schemas.openxmlformats.org/drawingml/2006/main">
            <a:r>
              <a:t>- Internal: data/retrospective_source_registry_2026-07-29.csv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eb4ad5257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5edd54053418c" /><Relationship Type="http://schemas.openxmlformats.org/officeDocument/2006/relationships/slideLayout" Target="/ppt/slideLayouts/slideLayout1.xml" Id="R6a816a6ca8bd4c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816a6ca8bd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bb839d1c24d69" /><Relationship Type="http://schemas.openxmlformats.org/officeDocument/2006/relationships/image" Target="/ppt/media/image.png" Id="Rfcc5a12d839848fa" /><Relationship Type="http://schemas.openxmlformats.org/officeDocument/2006/relationships/image" Target="/ppt/media/image2.png" Id="R26b0e6d887c64777" /><Relationship Type="http://schemas.openxmlformats.org/officeDocument/2006/relationships/image" Target="/ppt/media/image3.png" Id="R1e80d8a14d01438e" /><Relationship Type="http://schemas.openxmlformats.org/officeDocument/2006/relationships/image" Target="/ppt/media/image4.png" Id="Rc7caebb6c6ac4b27" /><Relationship Type="http://schemas.openxmlformats.org/officeDocument/2006/relationships/notesSlide" Target="/ppt/notesSlides/notesSlide1.xml" Id="R651c1a6e06494c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3BEC536-5BE5-4AA2-B6C1-68403C10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0AB54-B63F-46F9-A175-AA9061D8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86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DDF2F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DF2FA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E8FF3-C0AE-48F4-8CCD-CD7C79D9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52550"/>
            <a:ext cx="3105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Cookie Consent Interfaces 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911E3-403F-4EF8-9F35-9744E19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2933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D9E0E5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D9E0E5"/>
                </a:solidFill>
                <a:latin typeface="Arial"/>
                <a:ea typeface="Arial"/>
                <a:cs typeface="Arial"/>
              </a:rPr>
              <a:t>A controlled capture method plus six dated company trajectories from primary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4BEAD-B1EE-461D-B0BA-98E3CFD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2095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BAC4C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AC4CB"/>
                </a:solidFill>
                <a:latin typeface="Arial"/>
                <a:ea typeface="Arial"/>
                <a:cs typeface="Arial"/>
              </a:rPr>
              <a:t>Qianyi (Alfred) Chen | Mentor: Dr. Jagdip Singh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5456E-3343-4BA5-9004-EDA19A77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876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A7D2F-AB0A-493E-B615-73990CC8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9715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 rubric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47E71-B25F-4C65-9B73-7D8E0877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1752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5BF40-329D-41EF-987A-AA4A753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18478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dated trajectories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5DCC2-F3BE-421B-8F25-D3C5673A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2628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58DC3-4C92-4EDD-A09A-8A4496E3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724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improved | 1 regressed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72322-B67E-481B-88E3-DA476D98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35814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D9E0E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9E0E5"/>
                </a:solidFill>
                <a:latin typeface="Arial"/>
                <a:ea typeface="Arial"/>
                <a:cs typeface="Arial"/>
              </a:rPr>
              <a:t>direction is separated from causal evidence strength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E4D81-65FD-415D-9441-3436C9C5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43891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1C0B5-DFCF-4FBB-BD00-1EDABA73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3723B-DB88-4539-A9CE-613404C4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76950"/>
            <a:ext cx="3714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Concrete interactions improved under regulatory pressure, but consent quality remained component-specific and reversible.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E5FA4-DB5C-4CF9-B183-0288457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10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F74A8-7B4A-4F98-A995-56631AB8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7914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QUESTION + MEASURE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5E906-7B08-43D6-AC16-D50827F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362950"/>
            <a:ext cx="1200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35AC8-A602-406F-BC6C-41F104AC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24900"/>
            <a:ext cx="1200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How did consent interfaces change over time, and what evidence can explain the direction?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A6246-2631-420D-B362-0A8EA7CA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058400"/>
            <a:ext cx="1200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RQ1 codes user choice by component. RQ2 compares dated states while keeping direction separate from cause.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35A1B-827E-4241-AA1A-F15475F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906250"/>
            <a:ext cx="1200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RQ1: the component ruler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5CC5D-2FCB-4F8E-921A-B856FF4B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66825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5CE77-55B5-4DE2-884A-1D433617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B24AE-7E12-4619-A268-A8BF6C31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16355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Can users reach Reject and Customize?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8B4FF-8898-42E9-9CCF-9B6DD9DB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13510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ED000-D81E-42A0-9460-9DE74FE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13510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effort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4FEB3-6355-4DB9-84E4-713D674E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63040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How much interaction does each path require?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BA006-DDB4-451B-9B94-6F6633D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60195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D0614-1D4B-4BC4-B8E6-076358BE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60195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Transparency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B06C2-8FA1-4761-B409-891EF848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9725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What is disclosed, and how clearly?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639F6-A88B-4EE5-98BB-2CEE504C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06880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73230-F174-4443-966A-0D86CF5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06880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+ effectiveness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7F5F29-B6C6-4FFD-895C-631BD5A3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56410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Are options balanced, and does refusal stop tracking?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12B06F-ADF7-49F1-B1DC-E4397B23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0"/>
            <a:ext cx="1200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Directional coding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DCA5CB-55B2-4129-8BB2-9B58739B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64350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6446C-322F-4418-B9C4-C2A599D7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6881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490268-805C-4663-AC28-A763965C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659600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or more dimensions improve; none regress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691ED1-788E-447C-B69D-93BB4F9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97775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E6DF"/>
          </a:solidFill>
          <a:ln xmlns:a="http://schemas.openxmlformats.org/drawingml/2006/main" w="0">
            <a:solidFill>
              <a:srgbClr val="F6E6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C1EA5B-5846-4EFB-AA7B-72B37323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4216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REGRESSED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1B4874-98F2-469F-B9EC-842E30DD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393025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or more regress; none improve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A70B1B-48A3-4968-8B76-791149F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031200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0">
            <a:solidFill>
              <a:srgbClr val="FBF3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E69C78-B4E2-48EF-B604-E271DE5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1550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FD143C-A741-49F6-994E-42F2D735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26450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dimensions move in both directions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0D2E81-43DB-4E6C-9DA0-82A35D3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64625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AA887C-C895-4B4E-9414-DC9FA9DC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888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054DE4-F208-434C-9F79-21B6E81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859875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meaningful component change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D18F30-18C3-4E3E-8E13-871953DF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98050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EF67E6-254E-4259-AB90-3224F1ED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218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537AE6-4570-4482-8DD7-761145A2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593300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context, evidence, or scoring is not comparable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9B58D4-5910-4C84-A0B3-60C3F0A6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75"/>
            <a:ext cx="12001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6A31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802E3C-A48F-417A-972E-11D5CD44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850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Claim guardrail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3B6856-C3F5-4FB1-ABD9-3EDF02E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288750"/>
            <a:ext cx="11468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Every direction needs dated before/after evidence. Every causal claim receives a separate strength label.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46B2E1-4A70-490D-86B6-AEFA1E8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7810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5F54F7-DBCD-4D82-B305-8478AA3E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7791450"/>
            <a:ext cx="1403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TWO EVIDENCE LANES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33D4A1-5883-4162-9944-3DAF75B4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362950"/>
            <a:ext cx="1476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18C51D-43E3-4F84-9E36-63C7482F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686800"/>
            <a:ext cx="1476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Controlled local capture + source-complete retrospective cases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831247-557F-4A1E-9B4E-D49A18B4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134600"/>
            <a:ext cx="1247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C48F9D-B7EE-4418-A3FD-E73BCBF1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3C2A24-87F6-4014-83CF-B3CC3561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F9030A-81E9-4795-B768-D51DA1CA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DD2BF4-CADC-45AC-91DC-5E2D8CF4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A3B9D1-61A1-45BD-83D8-3C36896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3E6AC8-A31F-4EA5-9590-2058A95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A78B87-9D51-4C17-949F-33002D65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012150-ABAE-419E-B325-452CE191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5B65C9-4F5F-424C-BF94-E58A016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E65ED4-E73C-4587-804B-EFF28097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5CEB78-543B-416A-9FD0-241E2CAD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155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0471C4-87A9-4F23-84C1-5C746D1B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A2E419-18DD-41A7-87B2-12F79D6F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1811000"/>
            <a:ext cx="1476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Controlled pilot 1: The Guardian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7BE8B9-D1E7-44C6-8D50-98C28793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240155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6A0AEB-0D72-4498-854C-83FDF15A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1244917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9AE249-63B1-47D7-923B-57A89365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1240155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171B78-A15F-40AE-AAA7-9BB66A67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4700" y="1244917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3246700-8B2C-482D-8309-950057C3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289685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5a12d839848fa"/>
          <a:stretch xmlns:a="http://schemas.openxmlformats.org/drawingml/2006/main"/>
        </p:blipFill>
        <p:spPr>
          <a:xfrm xmlns:a="http://schemas.openxmlformats.org/drawingml/2006/main">
            <a:off x="14575155" y="1293495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71F8A1-364F-49D8-B68C-C592D5C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0400" y="1289685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0e6d887c64777"/>
          <a:stretch xmlns:a="http://schemas.openxmlformats.org/drawingml/2006/main"/>
        </p:blipFill>
        <p:spPr>
          <a:xfrm xmlns:a="http://schemas.openxmlformats.org/drawingml/2006/main">
            <a:off x="22290405" y="1293495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CF1C12-31ED-4F06-998D-2AD1F313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7478375"/>
            <a:ext cx="1476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Local lane: the same visible choice structure remains insufficient for a direction claim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95141E-39BB-4483-8766-0EB4BA0D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8383250"/>
            <a:ext cx="1476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Controlled pilot 2: Coca-Cola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6FAE57-DF2D-44B2-A070-59B7E62E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897380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763835-AD89-4FB0-A871-E313CB37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190214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B0D8A10-6A9E-4CBD-91A9-51946304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1897380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D36728-30FB-43E8-AB3B-70148976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4700" y="190214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BCAE4B-22A9-4256-94A1-EA6C588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946910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0d8a14d01438e"/>
          <a:stretch xmlns:a="http://schemas.openxmlformats.org/drawingml/2006/main"/>
        </p:blipFill>
        <p:spPr>
          <a:xfrm xmlns:a="http://schemas.openxmlformats.org/drawingml/2006/main">
            <a:off x="14575155" y="1950720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1471A3-9ECA-405C-9A2B-2ADF51EC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0400" y="1946910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aebb6c6ac4b27"/>
          <a:stretch xmlns:a="http://schemas.openxmlformats.org/drawingml/2006/main"/>
        </p:blipFill>
        <p:spPr>
          <a:xfrm xmlns:a="http://schemas.openxmlformats.org/drawingml/2006/main">
            <a:off x="22290405" y="1950720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07E535E-F24E-44D3-8D9E-59CCA05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4050625"/>
            <a:ext cx="1476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Local lane validates the comparison method. Historical direction comes from six dated primary-source cases.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06AA95-07F6-4D50-846A-5008C73E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7810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249F7FD-5592-4032-AE01-96378B24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0" y="7791450"/>
            <a:ext cx="1125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CASE SERIES RESULT + DISCUSSION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84096B-32E6-4D6C-A051-15B7D234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8362950"/>
            <a:ext cx="1198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F4E343D-6B1A-494F-B261-FF3EC9FD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87630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DB69C2-229A-405D-9479-F20371B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9486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companies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75C6AE-BACB-4D65-A92E-94BFDBF3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87630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0D9C5D-8ECB-40F7-BD4D-021AEBE9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9486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1F71F8F-2D46-43A1-B24F-37F785D7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0" y="87630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8AC2C0-2073-4476-9A4E-B017A71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0" y="9486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regressed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9271388-4F86-475E-966E-67F11563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0382250"/>
            <a:ext cx="119824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76349F-2852-4088-943A-5556468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10668000"/>
            <a:ext cx="1144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RETROSPECTIVE RESULT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B18B8E-94EC-436C-87C2-26A3CF54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11144250"/>
            <a:ext cx="11449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Across six purposively selected dated trajectories, five improved in at least one audited component; Vanity Fair regressed in functional refusal. This is not a prevalence estimate.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DFD6D76-AC66-4025-8081-B94659C8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3030200"/>
            <a:ext cx="1198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Three first-layer cases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3E7A1C9-74FC-4C08-B92A-BAFA0CC6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3639800"/>
            <a:ext cx="11982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Google, Facebook, and TikTok moved from acceptance-favoring rejection effort to one-click or equivalent first-layer refusal. TikTok still had deficient purpose information.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CC166A2-1710-4D62-8B62-D073C0A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5525750"/>
            <a:ext cx="1198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What changed, and what explains it?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F61FB8E-3C7A-4367-8BAF-3FD0CFE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6173450"/>
            <a:ext cx="119824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Google: &gt;=5 -&gt; 1 reject action; direct attribution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Facebook: equivalent reject; order verified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TikTok: first-layer reject; investigation-period change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Orange: withdrawal fixed; order verified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SHEIN: refusal/withdrawal fixed during proceedings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Vanity Fair: later functional failure; cause unknown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9D385D6-B67B-4265-BF7D-2F375489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9373850"/>
            <a:ext cx="1198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Discussion prompts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85CA5E-F011-4612-89C5-57EF1CA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0040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E627D1-FF6A-4544-A847-1B19EF2C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0193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74A6EE-4F60-4548-8D3F-1A51659C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009775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Visible parity or genuine user autonomy?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BA1CFF7-7430-4739-A471-810727C8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105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FD3626-352A-4C9E-9C50-7EF774E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1202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10EE3C6-4EE1-4317-B366-5831F9A2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110740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Publisher, CMP, or both when refusal fails?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3B4D087-6776-4B1A-B460-F9CDDFE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20599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7BB539C-BD97-4E6E-BE01-CD25D6E7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2212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6D4A8CA-5717-4F29-8FC4-9BD5AD5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211705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One-time certification or recurring re-audit?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7CDEE62-1715-4537-91A9-6D695537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3069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32D7F05-1D93-4556-8D1D-124713CA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322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5613B1D-2867-4A7D-81E9-D7AB599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312670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component changes first under enforcement?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0D7D6BF-DF25-488B-A79D-15ADE310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4079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54A841B-E7F0-43F5-8EBB-E50694EB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4231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9D745C2-9B69-4DB2-B048-E5EE0F3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413635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controlled captures reproduce these cases?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6F6E41C-45B2-4643-A48A-B8EC067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5336500"/>
            <a:ext cx="11982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  <a:ln xmlns:a="http://schemas.openxmlformats.org/drawingml/2006/main" w="19050">
            <a:solidFill>
              <a:srgbClr val="18867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2E64B76-5B6A-448F-84D8-B996E07C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25584150"/>
            <a:ext cx="1144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DISCUSSION FINDING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19B9DF1-94B7-4C10-9D2C-89198F6E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26041350"/>
            <a:ext cx="11449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Regulators appear most effective where they can specify and verify a concrete interaction.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115CB95-C22D-4BF6-8C7B-547006DE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241750"/>
            <a:ext cx="43891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0BE6C80-541D-466E-B87C-08D1135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7370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E7D147-8913-45A9-97E7-522BC6C4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622750"/>
            <a:ext cx="2552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Consent interfaces improved where concrete interactions were specified and checked, but improvement was partial and reversible.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3BA75B1-B847-40A6-A28B-38EB24A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0" y="296989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Methods and evidence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4589713-92EF-42A6-A35B-FD70600A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0" y="30175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9E0E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9E0E5"/>
                </a:solidFill>
                <a:latin typeface="Arial"/>
                <a:ea typeface="Arial"/>
                <a:cs typeface="Arial"/>
              </a:rPr>
              <a:t>CONCEPTS.md | retrospective cases.csv | source registry.csv | local directional review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20BF126-2636-4DCD-8753-B35CC4A2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318200"/>
            <a:ext cx="400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BAC4C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AC4CB"/>
                </a:solidFill>
                <a:latin typeface="Arial"/>
                <a:ea typeface="Arial"/>
                <a:cs typeface="Arial"/>
              </a:rPr>
              <a:t>CWRU SOURCE / Intersections alignment: title, introduction, methods, results, conclusion, future research, and references. Poster size: 48 x 36 inches.</a:t>
            </a:r>
          </a:p>
        </p:txBody>
      </p:sp>
    </p:spTree>
    <p:extLst>
      <p:ext uri="{BB962C8B-B14F-4D97-AF65-F5344CB8AC3E}">
        <p14:creationId xmlns:p14="http://schemas.microsoft.com/office/powerpoint/2010/main" val="192079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2026-07-30T04:35:01.4640000Z</dcterms:created>
  <dcterms:modified xsi:type="dcterms:W3CDTF">2026-07-30T04:35:01.4640000Z</dcterms:modified>
</coreProperties>
</file>