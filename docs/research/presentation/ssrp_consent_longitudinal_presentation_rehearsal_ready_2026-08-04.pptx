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6b0ae70f594005" /><Relationship Type="http://schemas.openxmlformats.org/officeDocument/2006/relationships/extended-properties" Target="/docProps/app.xml" Id="R5d380df90107475d" /><Relationship Type="http://schemas.openxmlformats.org/officeDocument/2006/relationships/officeDocument" Target="/ppt/presentation.xml" Id="R7126e76fd34147b1" /></Relationships>
</file>

<file path=ppt/presentation.xml><?xml version="1.0" encoding="utf-8"?>
<p:presentation xmlns:p="http://schemas.openxmlformats.org/presentationml/2006/main">
  <p:sldMasterIdLst>
    <p:sldMasterId xmlns:r="http://schemas.openxmlformats.org/officeDocument/2006/relationships" id="2147483648" r:id="Rec9abafa9b6a4806"/>
  </p:sldMasterIdLst>
  <p:notesMasterIdLst>
    <p:notesMasterId xmlns:r="http://schemas.openxmlformats.org/officeDocument/2006/relationships" r:id="Rc02847d762b145bc"/>
  </p:notesMasterIdLst>
  <p:sldIdLst>
    <p:sldId xmlns:r="http://schemas.openxmlformats.org/officeDocument/2006/relationships" id="256" r:id="R279848ef6f104c6f"/>
    <p:sldId xmlns:r="http://schemas.openxmlformats.org/officeDocument/2006/relationships" id="257" r:id="R0c18327820474b0a"/>
    <p:sldId xmlns:r="http://schemas.openxmlformats.org/officeDocument/2006/relationships" id="258" r:id="Rc691275de0114842"/>
    <p:sldId xmlns:r="http://schemas.openxmlformats.org/officeDocument/2006/relationships" id="259" r:id="R78326ccf39914098"/>
    <p:sldId xmlns:r="http://schemas.openxmlformats.org/officeDocument/2006/relationships" id="260" r:id="R6a9ee7f88d6741a0"/>
    <p:sldId xmlns:r="http://schemas.openxmlformats.org/officeDocument/2006/relationships" id="261" r:id="Re3dfc5fbd44b4f7b"/>
    <p:sldId xmlns:r="http://schemas.openxmlformats.org/officeDocument/2006/relationships" id="262" r:id="R3225d13010f4463e"/>
    <p:sldId xmlns:r="http://schemas.openxmlformats.org/officeDocument/2006/relationships" id="263" r:id="R54da0df09db54e45"/>
    <p:sldId xmlns:r="http://schemas.openxmlformats.org/officeDocument/2006/relationships" id="264" r:id="Ra7b71f214e7e4c11"/>
    <p:sldId xmlns:r="http://schemas.openxmlformats.org/officeDocument/2006/relationships" id="265" r:id="Rb017ed33e2884b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0696b720a7404f" /><Relationship Type="http://schemas.openxmlformats.org/officeDocument/2006/relationships/slideMaster" Target="/ppt/slideMasters/slideMaster1.xml" Id="Rec9abafa9b6a4806" /><Relationship Type="http://schemas.openxmlformats.org/officeDocument/2006/relationships/notesMaster" Target="/ppt/notesMasters/notesMaster1.xml" Id="Rc02847d762b145bc" /><Relationship Type="http://schemas.openxmlformats.org/officeDocument/2006/relationships/presProps" Target="/ppt/presProps.xml" Id="R11ac1eb4a08e46c8" /><Relationship Type="http://schemas.openxmlformats.org/officeDocument/2006/relationships/tableStyles" Target="/ppt/tableStyles.xml" Id="R0748b56f43a0422c" /><Relationship Type="http://schemas.openxmlformats.org/officeDocument/2006/relationships/slide" Target="/ppt/slides/slide1.xml" Id="R279848ef6f104c6f" /><Relationship Type="http://schemas.openxmlformats.org/officeDocument/2006/relationships/slide" Target="/ppt/slides/slide2.xml" Id="R0c18327820474b0a" /><Relationship Type="http://schemas.openxmlformats.org/officeDocument/2006/relationships/slide" Target="/ppt/slides/slide3.xml" Id="Rc691275de0114842" /><Relationship Type="http://schemas.openxmlformats.org/officeDocument/2006/relationships/slide" Target="/ppt/slides/slide4.xml" Id="R78326ccf39914098" /><Relationship Type="http://schemas.openxmlformats.org/officeDocument/2006/relationships/slide" Target="/ppt/slides/slide5.xml" Id="R6a9ee7f88d6741a0" /><Relationship Type="http://schemas.openxmlformats.org/officeDocument/2006/relationships/slide" Target="/ppt/slides/slide6.xml" Id="Re3dfc5fbd44b4f7b" /><Relationship Type="http://schemas.openxmlformats.org/officeDocument/2006/relationships/slide" Target="/ppt/slides/slide7.xml" Id="R3225d13010f4463e" /><Relationship Type="http://schemas.openxmlformats.org/officeDocument/2006/relationships/slide" Target="/ppt/slides/slide8.xml" Id="R54da0df09db54e45" /><Relationship Type="http://schemas.openxmlformats.org/officeDocument/2006/relationships/slide" Target="/ppt/slides/slide9.xml" Id="Ra7b71f214e7e4c11" /><Relationship Type="http://schemas.openxmlformats.org/officeDocument/2006/relationships/slide" Target="/ppt/slides/slide10.xml" Id="Rb017ed33e2884b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ddbfc0ccbd4b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e29f18ef0b44c9" /><Relationship Type="http://schemas.openxmlformats.org/officeDocument/2006/relationships/notesMaster" Target="/ppt/notesMasters/notesMaster1.xml" Id="R264928cd261649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253e6ce0bd4311" /><Relationship Type="http://schemas.openxmlformats.org/officeDocument/2006/relationships/notesMaster" Target="/ppt/notesMasters/notesMaster1.xml" Id="Rf7751cbbe2f442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0a7a91b2a64d51" /><Relationship Type="http://schemas.openxmlformats.org/officeDocument/2006/relationships/notesMaster" Target="/ppt/notesMasters/notesMaster1.xml" Id="R18287593fe4c4a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a1d2bb06294f92" /><Relationship Type="http://schemas.openxmlformats.org/officeDocument/2006/relationships/notesMaster" Target="/ppt/notesMasters/notesMaster1.xml" Id="Rc3a91566cc2b4e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0225e74da24909" /><Relationship Type="http://schemas.openxmlformats.org/officeDocument/2006/relationships/notesMaster" Target="/ppt/notesMasters/notesMaster1.xml" Id="Rf4e7b4eaf23643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219f4cc5e541cf" /><Relationship Type="http://schemas.openxmlformats.org/officeDocument/2006/relationships/notesMaster" Target="/ppt/notesMasters/notesMaster1.xml" Id="R3ded9beb590d4f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65aed46c73405a" /><Relationship Type="http://schemas.openxmlformats.org/officeDocument/2006/relationships/notesMaster" Target="/ppt/notesMasters/notesMaster1.xml" Id="R33a2684156634e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3c04253c6141bb" /><Relationship Type="http://schemas.openxmlformats.org/officeDocument/2006/relationships/notesMaster" Target="/ppt/notesMasters/notesMaster1.xml" Id="R1fd1eff525a445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88bea6215b4efa" /><Relationship Type="http://schemas.openxmlformats.org/officeDocument/2006/relationships/notesMaster" Target="/ppt/notesMasters/notesMaster1.xml" Id="R2bfc9d4e338b44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e7d88fd06841af" /><Relationship Type="http://schemas.openxmlformats.org/officeDocument/2006/relationships/notesMaster" Target="/ppt/notesMasters/notesMaster1.xml" Id="Rca42d0c772134e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Open with the tension: cookie-consent screenshots are easy to collect, but the research question is whether the same interface becomes easier or harder to refuse over time. This project keeps one ruler for user choice, then follows dated changes rather than treating one screen as the conclusion. The result is six documented company trajectories: five improve at least one component and one regresses.</a:t>
            </a:r>
          </a:p>
          <a:p xmlns:a="http://schemas.openxmlformats.org/drawingml/2006/main">
            <a:r>
              <a:t/>
            </a:r>
          </a:p>
          <a:p xmlns:a="http://schemas.openxmlformats.org/drawingml/2006/main">
            <a:r>
              <a:t>[Transition]</a:t>
            </a:r>
          </a:p>
          <a:p xmlns:a="http://schemas.openxmlformats.org/drawingml/2006/main">
            <a:r>
              <a:t>First, the two questions that organize the whole project.</a:t>
            </a:r>
          </a:p>
          <a:p xmlns:a="http://schemas.openxmlformats.org/drawingml/2006/main">
            <a:r>
              <a:t/>
            </a:r>
          </a:p>
          <a:p xmlns:a="http://schemas.openxmlformats.org/drawingml/2006/main">
            <a:r>
              <a:t>[Sources]</a:t>
            </a:r>
          </a:p>
          <a:p xmlns:a="http://schemas.openxmlformats.org/drawingml/2006/main">
            <a:r>
              <a:t>- Internal: data/retrospective_longitudinal_cases_2026-07-29.csv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RQ1 is the ruler: can a person reach Reject or Customize, how much effort does each path take, is the information clear, and does refusal work technically? RQ2 asks what happens to those components across dated versions. The answer is intentionally bounded: these six purposively selected cases show directional change, not an internet-wide rate or a randomized causal effect.</a:t>
            </a:r>
          </a:p>
          <a:p xmlns:a="http://schemas.openxmlformats.org/drawingml/2006/main">
            <a:r>
              <a:t/>
            </a:r>
          </a:p>
          <a:p xmlns:a="http://schemas.openxmlformats.org/drawingml/2006/main">
            <a:r>
              <a:t>[Transition]</a:t>
            </a:r>
          </a:p>
          <a:p xmlns:a="http://schemas.openxmlformats.org/drawingml/2006/main">
            <a:r>
              <a:t>That boundary comes from separating the evidence into two lanes.</a:t>
            </a:r>
          </a:p>
          <a:p xmlns:a="http://schemas.openxmlformats.org/drawingml/2006/main">
            <a:r>
              <a:t/>
            </a:r>
          </a:p>
          <a:p xmlns:a="http://schemas.openxmlformats.org/drawingml/2006/main">
            <a:r>
              <a:t>[Sources]</a:t>
            </a:r>
          </a:p>
          <a:p xmlns:a="http://schemas.openxmlformats.org/drawingml/2006/main">
            <a:r>
              <a:t>- Internal: CONCEPTS.md</a:t>
            </a:r>
          </a:p>
          <a:p xmlns:a="http://schemas.openxmlformats.org/drawingml/2006/main">
            <a:r>
              <a:t>- Internal: data/retrospective_longitudinal_cases_2026-07-29.csv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local pilot stays in the story because it validates the capture and comparison workflow, but five sites with only one matched interval cannot support a directional claim. Rather than inflate that thin evidence, I use a separate retrospective series with dated primary sources. The key discipline is that method feasibility and historical direction are not the same result.</a:t>
            </a:r>
          </a:p>
          <a:p xmlns:a="http://schemas.openxmlformats.org/drawingml/2006/main">
            <a:r>
              <a:t/>
            </a:r>
          </a:p>
          <a:p xmlns:a="http://schemas.openxmlformats.org/drawingml/2006/main">
            <a:r>
              <a:t>[Transition]</a:t>
            </a:r>
          </a:p>
          <a:p xmlns:a="http://schemas.openxmlformats.org/drawingml/2006/main">
            <a:r>
              <a:t>To make that separation operational, direction is coded component by component.</a:t>
            </a:r>
          </a:p>
          <a:p xmlns:a="http://schemas.openxmlformats.org/drawingml/2006/main">
            <a:r>
              <a:t/>
            </a:r>
          </a:p>
          <a:p xmlns:a="http://schemas.openxmlformats.org/drawingml/2006/main">
            <a:r>
              <a:t>[Sources]</a:t>
            </a:r>
          </a:p>
          <a:p xmlns:a="http://schemas.openxmlformats.org/drawingml/2006/main">
            <a:r>
              <a:t>- Internal: data/longitudinal_directional_review_2026-07-29.csv</a:t>
            </a:r>
          </a:p>
          <a:p xmlns:a="http://schemas.openxmlformats.org/drawingml/2006/main">
            <a:r>
              <a:t>- Internal: data/retrospective_source_registry_2026-07-29.csv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do not score a page as simply good or bad. I compare availability, path effort, transparency, and whether a refusal or withdrawal actually stops tracking. A dated interface change is only an improvement when the evidence identifies a better component; cause needs a separate and stronger attribution record. That keeps visual parity from being mistaken for working refusal.</a:t>
            </a:r>
          </a:p>
          <a:p xmlns:a="http://schemas.openxmlformats.org/drawingml/2006/main">
            <a:r>
              <a:t/>
            </a:r>
          </a:p>
          <a:p xmlns:a="http://schemas.openxmlformats.org/drawingml/2006/main">
            <a:r>
              <a:t>[Transition]</a:t>
            </a:r>
          </a:p>
          <a:p xmlns:a="http://schemas.openxmlformats.org/drawingml/2006/main">
            <a:r>
              <a:t>Before looking at the six cases, the broader history shows why this question matters.</a:t>
            </a:r>
          </a:p>
          <a:p xmlns:a="http://schemas.openxmlformats.org/drawingml/2006/main">
            <a:r>
              <a:t/>
            </a:r>
          </a:p>
          <a:p xmlns:a="http://schemas.openxmlformats.org/drawingml/2006/main">
            <a:r>
              <a:t>[Sources]</a:t>
            </a:r>
          </a:p>
          <a:p xmlns:a="http://schemas.openxmlformats.org/drawingml/2006/main">
            <a:r>
              <a:t>- https://www.edpb.europa.eu/system/files/2023-01/edpb_20230118_report_cookie_banner_taskforce_en.pdf</a:t>
            </a:r>
          </a:p>
          <a:p xmlns:a="http://schemas.openxmlformats.org/drawingml/2006/main">
            <a:r>
              <a:t>- Internal: CONCEPTS.md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A separate historical study of 11,364 sites across 30 countries found that first-layer accept-and-reject availability grew from 2.94 percent in 2018 to 30.66 percent in 2024. That is useful context, but it is not my causal result: archive gaps make it a lower-bound estimate, and an aggregate trend cannot explain why any one company changed.</a:t>
            </a:r>
          </a:p>
          <a:p xmlns:a="http://schemas.openxmlformats.org/drawingml/2006/main">
            <a:r>
              <a:t/>
            </a:r>
          </a:p>
          <a:p xmlns:a="http://schemas.openxmlformats.org/drawingml/2006/main">
            <a:r>
              <a:t>[Transition]</a:t>
            </a:r>
          </a:p>
          <a:p xmlns:a="http://schemas.openxmlformats.org/drawingml/2006/main">
            <a:r>
              <a:t>The case series supplies the company-level direction and the evidence grades.</a:t>
            </a:r>
          </a:p>
          <a:p xmlns:a="http://schemas.openxmlformats.org/drawingml/2006/main">
            <a:r>
              <a:t/>
            </a:r>
          </a:p>
          <a:p xmlns:a="http://schemas.openxmlformats.org/drawingml/2006/main">
            <a:r>
              <a:t>[Sources]</a:t>
            </a:r>
          </a:p>
          <a:p xmlns:a="http://schemas.openxmlformats.org/drawingml/2006/main">
            <a:r>
              <a:t>- https://arxiv.org/abs/2606.31485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Across six source-complete trajectories, five improve at least one component and one later regresses. Google, Facebook, and TikTok reduce first-layer rejection asymmetry. Orange and SHEIN improve the technical effect of refusal or withdrawal. Vanity Fair shows a later functional regression after an earlier proceeding had closed. These fractions describe the selected cases only; they are not a prevalence estimate.</a:t>
            </a:r>
          </a:p>
          <a:p xmlns:a="http://schemas.openxmlformats.org/drawingml/2006/main">
            <a:r>
              <a:t/>
            </a:r>
          </a:p>
          <a:p xmlns:a="http://schemas.openxmlformats.org/drawingml/2006/main">
            <a:r>
              <a:t>[Transition]</a:t>
            </a:r>
          </a:p>
          <a:p xmlns:a="http://schemas.openxmlformats.org/drawingml/2006/main">
            <a:r>
              <a:t>Google is the strongest example of a directly stated reason for redesign.</a:t>
            </a:r>
          </a:p>
          <a:p xmlns:a="http://schemas.openxmlformats.org/drawingml/2006/main">
            <a:r>
              <a:t/>
            </a:r>
          </a:p>
          <a:p xmlns:a="http://schemas.openxmlformats.org/drawingml/2006/main">
            <a:r>
              <a:t>[Sources]</a:t>
            </a:r>
          </a:p>
          <a:p xmlns:a="http://schemas.openxmlformats.org/drawingml/2006/main">
            <a:r>
              <a:t>- Internal: data/retrospective_longitudinal_cases_2026-07-29.csv</a:t>
            </a:r>
          </a:p>
          <a:p xmlns:a="http://schemas.openxmlformats.org/drawingml/2006/main">
            <a:r>
              <a:t>- Internal: data/retrospective_source_registry_2026-07-29.csv</a:t>
            </a:r>
          </a:p>
          <a:p xmlns:a="http://schemas.openxmlformats.org/drawingml/2006/main">
            <a:r>
              <a:t>- https://www.cnil.fr/sites/default/files/2025-09/cnil_sanction_shein_en.pdf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For Google, a regulator recorded an earlier path where acceptance took one action but rejection took at least five. Google later introduced equal first-screen Reject all and Accept all buttons, and its announcement explicitly connected the redesign to updated guidance and CNIL direction. That makes the direction evidence split-source but usable, and the reason evidence unusually direct.</a:t>
            </a:r>
          </a:p>
          <a:p xmlns:a="http://schemas.openxmlformats.org/drawingml/2006/main">
            <a:r>
              <a:t/>
            </a:r>
          </a:p>
          <a:p xmlns:a="http://schemas.openxmlformats.org/drawingml/2006/main">
            <a:r>
              <a:t>[Transition]</a:t>
            </a:r>
          </a:p>
          <a:p xmlns:a="http://schemas.openxmlformats.org/drawingml/2006/main">
            <a:r>
              <a:t>The next two cases show why button parity is important but not sufficient.</a:t>
            </a:r>
          </a:p>
          <a:p xmlns:a="http://schemas.openxmlformats.org/drawingml/2006/main">
            <a:r>
              <a:t/>
            </a:r>
          </a:p>
          <a:p xmlns:a="http://schemas.openxmlformats.org/drawingml/2006/main">
            <a:r>
              <a:t>[Sources]</a:t>
            </a:r>
          </a:p>
          <a:p xmlns:a="http://schemas.openxmlformats.org/drawingml/2006/main">
            <a:r>
              <a:t>- https://www.legifrance.gouv.fr/cnil/id/CNILTEXT000044840062</a:t>
            </a:r>
          </a:p>
          <a:p xmlns:a="http://schemas.openxmlformats.org/drawingml/2006/main">
            <a:r>
              <a:t>- https://blog.google/company-news/inside-google/around-the-globe/google-europe/new-cookie-choices-in-europe/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Facebook's refusal became equivalently simple and CNIL later found its injunction satisfied. TikTok added a first-layer Tout refuser button during the investigation, but the regulator still found its purpose information insufficient. Together, they show an important limitation: a cleaner interaction can improve effort without proving that every element of consent is informed or compliant.</a:t>
            </a:r>
          </a:p>
          <a:p xmlns:a="http://schemas.openxmlformats.org/drawingml/2006/main">
            <a:r>
              <a:t/>
            </a:r>
          </a:p>
          <a:p xmlns:a="http://schemas.openxmlformats.org/drawingml/2006/main">
            <a:r>
              <a:t>[Transition]</a:t>
            </a:r>
          </a:p>
          <a:p xmlns:a="http://schemas.openxmlformats.org/drawingml/2006/main">
            <a:r>
              <a:t>The last set moves below the button layer to technical effect and reversibility.</a:t>
            </a:r>
          </a:p>
          <a:p xmlns:a="http://schemas.openxmlformats.org/drawingml/2006/main">
            <a:r>
              <a:t/>
            </a:r>
          </a:p>
          <a:p xmlns:a="http://schemas.openxmlformats.org/drawingml/2006/main">
            <a:r>
              <a:t>[Sources]</a:t>
            </a:r>
          </a:p>
          <a:p xmlns:a="http://schemas.openxmlformats.org/drawingml/2006/main">
            <a:r>
              <a:t>- https://www.legifrance.gouv.fr/cnil/id/CNILTEXT000044840532</a:t>
            </a:r>
          </a:p>
          <a:p xmlns:a="http://schemas.openxmlformats.org/drawingml/2006/main">
            <a:r>
              <a:t>- https://www.legifrance.gouv.fr/cnil/id/CNILTEXT000046096716</a:t>
            </a:r>
          </a:p>
          <a:p xmlns:a="http://schemas.openxmlformats.org/drawingml/2006/main">
            <a:r>
              <a:t>- https://www.legifrance.gouv.fr/cnil/id/CNILTEXT000046977994/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Orange and SHEIN demonstrate technical remediation: regulator records indicate that refusal or withdrawal stopped the relevant continued operations. Vanity Fair is the counterexample. Later checks found cookies before choice and continued activity after rejection or withdrawal, even though an earlier proceeding had closed. I can state the functional regression, but the available source does not establish why it happened.</a:t>
            </a:r>
          </a:p>
          <a:p xmlns:a="http://schemas.openxmlformats.org/drawingml/2006/main">
            <a:r>
              <a:t/>
            </a:r>
          </a:p>
          <a:p xmlns:a="http://schemas.openxmlformats.org/drawingml/2006/main">
            <a:r>
              <a:t>[Transition]</a:t>
            </a:r>
          </a:p>
          <a:p xmlns:a="http://schemas.openxmlformats.org/drawingml/2006/main">
            <a:r>
              <a:t>That uncertainty is precisely what the conclusion has to preserve.</a:t>
            </a:r>
          </a:p>
          <a:p xmlns:a="http://schemas.openxmlformats.org/drawingml/2006/main">
            <a:r>
              <a:t/>
            </a:r>
          </a:p>
          <a:p xmlns:a="http://schemas.openxmlformats.org/drawingml/2006/main">
            <a:r>
              <a:t>[Sources]</a:t>
            </a:r>
          </a:p>
          <a:p xmlns:a="http://schemas.openxmlformats.org/drawingml/2006/main">
            <a:r>
              <a:t>- https://www.cnil.fr/en/closure-injunction-issued-against-orange</a:t>
            </a:r>
          </a:p>
          <a:p xmlns:a="http://schemas.openxmlformats.org/drawingml/2006/main">
            <a:r>
              <a:t>- https://www.cnil.fr/en/cookies-placed-without-consent-company-publishes-website-vanityfairfr-fined-750000-euros</a:t>
            </a:r>
          </a:p>
          <a:p xmlns:a="http://schemas.openxmlformats.org/drawingml/2006/main">
            <a:r>
              <a:t>- https://www.cnil.fr/sites/default/files/2025-09/cnil_sanction_shein_en.pdf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evidence supports a discussion, not a universal causal story. Concrete interactions that regulators can specify and verify tend to be the components that improve most clearly. But those gains can coexist with weak information, incomplete technical compliance, or later regression. The practical implication is to audit consent continuously and component by component, rather than certify a banner once because it looks balanced.</a:t>
            </a:r>
          </a:p>
          <a:p xmlns:a="http://schemas.openxmlformats.org/drawingml/2006/main">
            <a:r>
              <a:t/>
            </a:r>
          </a:p>
          <a:p xmlns:a="http://schemas.openxmlformats.org/drawingml/2006/main">
            <a:r>
              <a:t>[Close]</a:t>
            </a:r>
          </a:p>
          <a:p xmlns:a="http://schemas.openxmlformats.org/drawingml/2006/main">
            <a:r>
              <a:t>I would welcome discussion of who should own backend refusal failures and what continuous auditing should require.</a:t>
            </a:r>
          </a:p>
          <a:p xmlns:a="http://schemas.openxmlformats.org/drawingml/2006/main">
            <a:r>
              <a:t/>
            </a:r>
          </a:p>
          <a:p xmlns:a="http://schemas.openxmlformats.org/drawingml/2006/main">
            <a:r>
              <a:t>[Sources]</a:t>
            </a:r>
          </a:p>
          <a:p xmlns:a="http://schemas.openxmlformats.org/drawingml/2006/main">
            <a:r>
              <a:t>- Internal: docs/research/july29_retrospective_longitudinal_evidence_rescue_2026-07-29.md</a:t>
            </a:r>
          </a:p>
          <a:p xmlns:a="http://schemas.openxmlformats.org/drawingml/2006/main">
            <a:r>
              <a:t>- https://www.edpb.europa.eu/system/files/2023-01/edpb_20230118_report_cookie_banner_taskforce_en.pdf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f4ad8bb3a348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24746b8c2942ec" /><Relationship Type="http://schemas.openxmlformats.org/officeDocument/2006/relationships/slideLayout" Target="/ppt/slideLayouts/slideLayout1.xml" Id="R7fcdf3c24fda47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cdf3c24fda47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b04d17d0774fa7" /><Relationship Type="http://schemas.openxmlformats.org/officeDocument/2006/relationships/notesSlide" Target="/ppt/notesSlides/notesSlide1.xml" Id="R8097f0c5d4464d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867133c8d24713" /><Relationship Type="http://schemas.openxmlformats.org/officeDocument/2006/relationships/notesSlide" Target="/ppt/notesSlides/notesSlide2.xml" Id="R3c0c40eacd6341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346491bdfb4799" /><Relationship Type="http://schemas.openxmlformats.org/officeDocument/2006/relationships/notesSlide" Target="/ppt/notesSlides/notesSlide3.xml" Id="R19ff69f65eea40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dac271bc9f48e7" /><Relationship Type="http://schemas.openxmlformats.org/officeDocument/2006/relationships/notesSlide" Target="/ppt/notesSlides/notesSlide4.xml" Id="R3c517caf99d543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08afbe6efb4c47" /><Relationship Type="http://schemas.openxmlformats.org/officeDocument/2006/relationships/notesSlide" Target="/ppt/notesSlides/notesSlide5.xml" Id="R860d47611e7c49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bf984df750482f" /><Relationship Type="http://schemas.openxmlformats.org/officeDocument/2006/relationships/notesSlide" Target="/ppt/notesSlides/notesSlide6.xml" Id="R884a4542dca84c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3ade3e46eb4cd4" /><Relationship Type="http://schemas.openxmlformats.org/officeDocument/2006/relationships/notesSlide" Target="/ppt/notesSlides/notesSlide7.xml" Id="Rb40dcbd63b5f42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510945d1dd42c2" /><Relationship Type="http://schemas.openxmlformats.org/officeDocument/2006/relationships/notesSlide" Target="/ppt/notesSlides/notesSlide8.xml" Id="Rec89971c0f5e4b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6e687f216848db" /><Relationship Type="http://schemas.openxmlformats.org/officeDocument/2006/relationships/notesSlide" Target="/ppt/notesSlides/notesSlide9.xml" Id="Re762da0fed8846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3ce60088ba4fd9" /><Relationship Type="http://schemas.openxmlformats.org/officeDocument/2006/relationships/notesSlide" Target="/ppt/notesSlides/notesSlide10.xml" Id="R6c8ff2578d354c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F292DC-D677-445C-899C-7A5D6C327FCD}"/>
              </a:ext>
            </a:extLst>
          </p:cNvPr>
          <p:cNvSpPr>
            <a:spLocks xmlns:a="http://schemas.openxmlformats.org/drawingml/2006/main" noGrp="1"/>
          </p:cNvSpPr>
          <p:nvPr/>
        </p:nvSpPr>
        <p:spPr>
          <a:xfrm xmlns:a="http://schemas.openxmlformats.org/drawingml/2006/main">
            <a:off x="400050" y="361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146EA8"/>
                </a:solidFill>
                <a:latin typeface="Arial"/>
                <a:ea typeface="Arial"/>
                <a:cs typeface="Arial"/>
              </a:defRPr>
            </a:pPr>
            <a:r>
              <a:rPr sz="900" b="1" i="0">
                <a:solidFill>
                  <a:srgbClr val="146EA8"/>
                </a:solidFill>
                <a:latin typeface="Arial"/>
                <a:ea typeface="Arial"/>
                <a:cs typeface="Arial"/>
              </a:rPr>
              <a:t>SSRP 2026 | LONGITUDINAL CONSENT RESEARCH</a:t>
            </a:r>
          </a:p>
        </p:txBody>
      </p:sp>
      <p:sp>
        <p:nvSpPr>
          <p:cNvPr id="2" name="">
            <a:extLst xmlns:a="http://schemas.openxmlformats.org/drawingml/2006/main">
              <a:ext uri="{FF2B5EF4-FFF2-40B4-BE49-F238E27FC236}">
                <a16:creationId xmlns:a16="http://schemas.microsoft.com/office/drawing/2014/main" id="{6C632FF4-5CA6-46B9-B04B-DA660E6105E5}"/>
              </a:ext>
            </a:extLst>
          </p:cNvPr>
          <p:cNvSpPr>
            <a:spLocks xmlns:a="http://schemas.openxmlformats.org/drawingml/2006/main" noGrp="1"/>
          </p:cNvSpPr>
          <p:nvPr/>
        </p:nvSpPr>
        <p:spPr>
          <a:xfrm xmlns:a="http://schemas.openxmlformats.org/drawingml/2006/main">
            <a:off x="400050" y="1676400"/>
            <a:ext cx="714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75" b="1" i="0">
                <a:solidFill>
                  <a:srgbClr val="101820"/>
                </a:solidFill>
                <a:latin typeface="Arial"/>
                <a:ea typeface="Arial"/>
                <a:cs typeface="Arial"/>
              </a:defRPr>
            </a:pPr>
            <a:r>
              <a:rPr sz="3675" b="1" i="0">
                <a:solidFill>
                  <a:srgbClr val="101820"/>
                </a:solidFill>
                <a:latin typeface="Arial"/>
                <a:ea typeface="Arial"/>
                <a:cs typeface="Arial"/>
              </a:rPr>
              <a:t>How Cookie Consent</a:t>
            </a:r>
          </a:p>
          <a:p xmlns:a="http://schemas.openxmlformats.org/drawingml/2006/main">
            <a:pPr algn="l">
              <a:buNone/>
              <a:defRPr sz="3675" b="1" i="0">
                <a:solidFill>
                  <a:srgbClr val="101820"/>
                </a:solidFill>
                <a:latin typeface="Arial"/>
                <a:ea typeface="Arial"/>
                <a:cs typeface="Arial"/>
              </a:defRPr>
            </a:pPr>
            <a:r>
              <a:rPr sz="3675" b="1" i="0">
                <a:solidFill>
                  <a:srgbClr val="101820"/>
                </a:solidFill>
                <a:latin typeface="Arial"/>
                <a:ea typeface="Arial"/>
                <a:cs typeface="Arial"/>
              </a:rPr>
              <a:t>Interfaces Changed</a:t>
            </a:r>
          </a:p>
        </p:txBody>
      </p:sp>
      <p:sp>
        <p:nvSpPr>
          <p:cNvPr id="3" name="">
            <a:extLst xmlns:a="http://schemas.openxmlformats.org/drawingml/2006/main">
              <a:ext uri="{FF2B5EF4-FFF2-40B4-BE49-F238E27FC236}">
                <a16:creationId xmlns:a16="http://schemas.microsoft.com/office/drawing/2014/main" id="{A9615F99-E439-4595-A308-257A33C32302}"/>
              </a:ext>
            </a:extLst>
          </p:cNvPr>
          <p:cNvSpPr>
            <a:spLocks xmlns:a="http://schemas.openxmlformats.org/drawingml/2006/main" noGrp="1"/>
          </p:cNvSpPr>
          <p:nvPr/>
        </p:nvSpPr>
        <p:spPr>
          <a:xfrm xmlns:a="http://schemas.openxmlformats.org/drawingml/2006/main">
            <a:off x="400050" y="3371850"/>
            <a:ext cx="733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4C5B67"/>
                </a:solidFill>
                <a:latin typeface="Arial"/>
                <a:ea typeface="Arial"/>
                <a:cs typeface="Arial"/>
              </a:defRPr>
            </a:pPr>
            <a:r>
              <a:rPr sz="1575" b="0" i="0">
                <a:solidFill>
                  <a:srgbClr val="4C5B67"/>
                </a:solidFill>
                <a:latin typeface="Arial"/>
                <a:ea typeface="Arial"/>
                <a:cs typeface="Arial"/>
              </a:rPr>
              <a:t>Six dated company trajectories, paired with a controlled capture method</a:t>
            </a:r>
          </a:p>
        </p:txBody>
      </p:sp>
      <p:sp>
        <p:nvSpPr>
          <p:cNvPr id="4" name="">
            <a:extLst xmlns:a="http://schemas.openxmlformats.org/drawingml/2006/main">
              <a:ext uri="{FF2B5EF4-FFF2-40B4-BE49-F238E27FC236}">
                <a16:creationId xmlns:a16="http://schemas.microsoft.com/office/drawing/2014/main" id="{A641B920-5506-451A-9C87-0384ADDCA531}"/>
              </a:ext>
            </a:extLst>
          </p:cNvPr>
          <p:cNvSpPr>
            <a:spLocks xmlns:a="http://schemas.openxmlformats.org/drawingml/2006/main" noGrp="1"/>
          </p:cNvSpPr>
          <p:nvPr/>
        </p:nvSpPr>
        <p:spPr>
          <a:xfrm xmlns:a="http://schemas.openxmlformats.org/drawingml/2006/main">
            <a:off x="9525000" y="1485900"/>
            <a:ext cx="1952625" cy="3333750"/>
          </a:xfrm>
          <a:prstGeom xmlns:a="http://schemas.openxmlformats.org/drawingml/2006/main" prst="rect">
            <a:avLst/>
          </a:prstGeom>
          <a:solidFill xmlns:a="http://schemas.openxmlformats.org/drawingml/2006/main">
            <a:srgbClr val="66C6E9"/>
          </a:solidFill>
          <a:ln xmlns:a="http://schemas.openxmlformats.org/drawingml/2006/main" w="0">
            <a:solidFill>
              <a:srgbClr val="66C6E9"/>
            </a:solidFill>
            <a:prstDash val="solid"/>
          </a:ln>
        </p:spPr>
      </p:sp>
      <p:sp>
        <p:nvSpPr>
          <p:cNvPr id="5" name="">
            <a:extLst xmlns:a="http://schemas.openxmlformats.org/drawingml/2006/main">
              <a:ext uri="{FF2B5EF4-FFF2-40B4-BE49-F238E27FC236}">
                <a16:creationId xmlns:a16="http://schemas.microsoft.com/office/drawing/2014/main" id="{02114391-CE39-4657-A842-9F3D53523347}"/>
              </a:ext>
            </a:extLst>
          </p:cNvPr>
          <p:cNvSpPr>
            <a:spLocks xmlns:a="http://schemas.openxmlformats.org/drawingml/2006/main" noGrp="1"/>
          </p:cNvSpPr>
          <p:nvPr/>
        </p:nvSpPr>
        <p:spPr>
          <a:xfrm xmlns:a="http://schemas.openxmlformats.org/drawingml/2006/main">
            <a:off x="9753600" y="17526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01820"/>
                </a:solidFill>
                <a:latin typeface="Arial"/>
                <a:ea typeface="Arial"/>
                <a:cs typeface="Arial"/>
              </a:defRPr>
            </a:pPr>
            <a:r>
              <a:rPr sz="1500" b="1" i="0">
                <a:solidFill>
                  <a:srgbClr val="101820"/>
                </a:solidFill>
                <a:latin typeface="Arial"/>
                <a:ea typeface="Arial"/>
                <a:cs typeface="Arial"/>
              </a:rPr>
              <a:t>RQ1</a:t>
            </a:r>
          </a:p>
        </p:txBody>
      </p:sp>
      <p:sp>
        <p:nvSpPr>
          <p:cNvPr id="6" name="">
            <a:extLst xmlns:a="http://schemas.openxmlformats.org/drawingml/2006/main">
              <a:ext uri="{FF2B5EF4-FFF2-40B4-BE49-F238E27FC236}">
                <a16:creationId xmlns:a16="http://schemas.microsoft.com/office/drawing/2014/main" id="{D0A5A6D2-16A4-4363-BCD6-66D1D4CDB40A}"/>
              </a:ext>
            </a:extLst>
          </p:cNvPr>
          <p:cNvSpPr>
            <a:spLocks xmlns:a="http://schemas.openxmlformats.org/drawingml/2006/main" noGrp="1"/>
          </p:cNvSpPr>
          <p:nvPr/>
        </p:nvSpPr>
        <p:spPr>
          <a:xfrm xmlns:a="http://schemas.openxmlformats.org/drawingml/2006/main">
            <a:off x="9753600" y="2076450"/>
            <a:ext cx="1485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101820"/>
                </a:solidFill>
                <a:latin typeface="Arial"/>
                <a:ea typeface="Arial"/>
                <a:cs typeface="Arial"/>
              </a:defRPr>
            </a:pPr>
            <a:r>
              <a:rPr sz="1125" b="1" i="0">
                <a:solidFill>
                  <a:srgbClr val="101820"/>
                </a:solidFill>
                <a:latin typeface="Arial"/>
                <a:ea typeface="Arial"/>
                <a:cs typeface="Arial"/>
              </a:rPr>
              <a:t>measure</a:t>
            </a:r>
          </a:p>
          <a:p xmlns:a="http://schemas.openxmlformats.org/drawingml/2006/main">
            <a:pPr algn="l">
              <a:buNone/>
              <a:defRPr sz="1125" b="1" i="0">
                <a:solidFill>
                  <a:srgbClr val="101820"/>
                </a:solidFill>
                <a:latin typeface="Arial"/>
                <a:ea typeface="Arial"/>
                <a:cs typeface="Arial"/>
              </a:defRPr>
            </a:pPr>
            <a:r>
              <a:rPr sz="1125" b="1" i="0">
                <a:solidFill>
                  <a:srgbClr val="101820"/>
                </a:solidFill>
                <a:latin typeface="Arial"/>
                <a:ea typeface="Arial"/>
                <a:cs typeface="Arial"/>
              </a:rPr>
              <a:t>user choice</a:t>
            </a:r>
          </a:p>
        </p:txBody>
      </p:sp>
      <p:sp>
        <p:nvSpPr>
          <p:cNvPr id="7" name="">
            <a:extLst xmlns:a="http://schemas.openxmlformats.org/drawingml/2006/main">
              <a:ext uri="{FF2B5EF4-FFF2-40B4-BE49-F238E27FC236}">
                <a16:creationId xmlns:a16="http://schemas.microsoft.com/office/drawing/2014/main" id="{A0556019-6D45-4210-B327-05661AA143B8}"/>
              </a:ext>
            </a:extLst>
          </p:cNvPr>
          <p:cNvSpPr>
            <a:spLocks xmlns:a="http://schemas.openxmlformats.org/drawingml/2006/main" noGrp="1"/>
          </p:cNvSpPr>
          <p:nvPr/>
        </p:nvSpPr>
        <p:spPr>
          <a:xfrm xmlns:a="http://schemas.openxmlformats.org/drawingml/2006/main">
            <a:off x="9753600" y="2781300"/>
            <a:ext cx="1485900" cy="19050"/>
          </a:xfrm>
          <a:prstGeom xmlns:a="http://schemas.openxmlformats.org/drawingml/2006/main" prst="rect">
            <a:avLst/>
          </a:prstGeom>
          <a:solidFill xmlns:a="http://schemas.openxmlformats.org/drawingml/2006/main">
            <a:srgbClr val="101820"/>
          </a:solidFill>
          <a:ln xmlns:a="http://schemas.openxmlformats.org/drawingml/2006/main" w="0">
            <a:solidFill>
              <a:srgbClr val="101820"/>
            </a:solidFill>
            <a:prstDash val="solid"/>
          </a:ln>
        </p:spPr>
      </p:sp>
      <p:sp>
        <p:nvSpPr>
          <p:cNvPr id="8" name="">
            <a:extLst xmlns:a="http://schemas.openxmlformats.org/drawingml/2006/main">
              <a:ext uri="{FF2B5EF4-FFF2-40B4-BE49-F238E27FC236}">
                <a16:creationId xmlns:a16="http://schemas.microsoft.com/office/drawing/2014/main" id="{72E5508E-2BFD-4007-BDC5-997E4AFFA3B3}"/>
              </a:ext>
            </a:extLst>
          </p:cNvPr>
          <p:cNvSpPr>
            <a:spLocks xmlns:a="http://schemas.openxmlformats.org/drawingml/2006/main" noGrp="1"/>
          </p:cNvSpPr>
          <p:nvPr/>
        </p:nvSpPr>
        <p:spPr>
          <a:xfrm xmlns:a="http://schemas.openxmlformats.org/drawingml/2006/main">
            <a:off x="9753600" y="300990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01820"/>
                </a:solidFill>
                <a:latin typeface="Arial"/>
                <a:ea typeface="Arial"/>
                <a:cs typeface="Arial"/>
              </a:defRPr>
            </a:pPr>
            <a:r>
              <a:rPr sz="1500" b="1" i="0">
                <a:solidFill>
                  <a:srgbClr val="101820"/>
                </a:solidFill>
                <a:latin typeface="Arial"/>
                <a:ea typeface="Arial"/>
                <a:cs typeface="Arial"/>
              </a:rPr>
              <a:t>RQ2</a:t>
            </a:r>
          </a:p>
        </p:txBody>
      </p:sp>
      <p:sp>
        <p:nvSpPr>
          <p:cNvPr id="9" name="">
            <a:extLst xmlns:a="http://schemas.openxmlformats.org/drawingml/2006/main">
              <a:ext uri="{FF2B5EF4-FFF2-40B4-BE49-F238E27FC236}">
                <a16:creationId xmlns:a16="http://schemas.microsoft.com/office/drawing/2014/main" id="{4CAABEE5-77C3-4389-9D72-0B244A27D37A}"/>
              </a:ext>
            </a:extLst>
          </p:cNvPr>
          <p:cNvSpPr>
            <a:spLocks xmlns:a="http://schemas.openxmlformats.org/drawingml/2006/main" noGrp="1"/>
          </p:cNvSpPr>
          <p:nvPr/>
        </p:nvSpPr>
        <p:spPr>
          <a:xfrm xmlns:a="http://schemas.openxmlformats.org/drawingml/2006/main">
            <a:off x="9753600" y="3333750"/>
            <a:ext cx="1485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101820"/>
                </a:solidFill>
                <a:latin typeface="Arial"/>
                <a:ea typeface="Arial"/>
                <a:cs typeface="Arial"/>
              </a:defRPr>
            </a:pPr>
            <a:r>
              <a:rPr sz="1125" b="1" i="0">
                <a:solidFill>
                  <a:srgbClr val="101820"/>
                </a:solidFill>
                <a:latin typeface="Arial"/>
                <a:ea typeface="Arial"/>
                <a:cs typeface="Arial"/>
              </a:rPr>
              <a:t>compare</a:t>
            </a:r>
          </a:p>
          <a:p xmlns:a="http://schemas.openxmlformats.org/drawingml/2006/main">
            <a:pPr algn="l">
              <a:buNone/>
              <a:defRPr sz="1125" b="1" i="0">
                <a:solidFill>
                  <a:srgbClr val="101820"/>
                </a:solidFill>
                <a:latin typeface="Arial"/>
                <a:ea typeface="Arial"/>
                <a:cs typeface="Arial"/>
              </a:defRPr>
            </a:pPr>
            <a:r>
              <a:rPr sz="1125" b="1" i="0">
                <a:solidFill>
                  <a:srgbClr val="101820"/>
                </a:solidFill>
                <a:latin typeface="Arial"/>
                <a:ea typeface="Arial"/>
                <a:cs typeface="Arial"/>
              </a:rPr>
              <a:t>over time</a:t>
            </a:r>
          </a:p>
        </p:txBody>
      </p:sp>
      <p:sp>
        <p:nvSpPr>
          <p:cNvPr id="10" name="">
            <a:extLst xmlns:a="http://schemas.openxmlformats.org/drawingml/2006/main">
              <a:ext uri="{FF2B5EF4-FFF2-40B4-BE49-F238E27FC236}">
                <a16:creationId xmlns:a16="http://schemas.microsoft.com/office/drawing/2014/main" id="{8F6EDCAA-525F-44BE-B72E-73BB2BBC9037}"/>
              </a:ext>
            </a:extLst>
          </p:cNvPr>
          <p:cNvSpPr>
            <a:spLocks xmlns:a="http://schemas.openxmlformats.org/drawingml/2006/main" noGrp="1"/>
          </p:cNvSpPr>
          <p:nvPr/>
        </p:nvSpPr>
        <p:spPr>
          <a:xfrm xmlns:a="http://schemas.openxmlformats.org/drawingml/2006/main">
            <a:off x="9753600" y="4038600"/>
            <a:ext cx="1485900" cy="19050"/>
          </a:xfrm>
          <a:prstGeom xmlns:a="http://schemas.openxmlformats.org/drawingml/2006/main" prst="rect">
            <a:avLst/>
          </a:prstGeom>
          <a:solidFill xmlns:a="http://schemas.openxmlformats.org/drawingml/2006/main">
            <a:srgbClr val="101820"/>
          </a:solidFill>
          <a:ln xmlns:a="http://schemas.openxmlformats.org/drawingml/2006/main" w="0">
            <a:solidFill>
              <a:srgbClr val="101820"/>
            </a:solidFill>
            <a:prstDash val="solid"/>
          </a:ln>
        </p:spPr>
      </p:sp>
      <p:sp>
        <p:nvSpPr>
          <p:cNvPr id="11" name="">
            <a:extLst xmlns:a="http://schemas.openxmlformats.org/drawingml/2006/main">
              <a:ext uri="{FF2B5EF4-FFF2-40B4-BE49-F238E27FC236}">
                <a16:creationId xmlns:a16="http://schemas.microsoft.com/office/drawing/2014/main" id="{BE566CC4-66DF-4218-B278-72FB4258CC2D}"/>
              </a:ext>
            </a:extLst>
          </p:cNvPr>
          <p:cNvSpPr>
            <a:spLocks xmlns:a="http://schemas.openxmlformats.org/drawingml/2006/main" noGrp="1"/>
          </p:cNvSpPr>
          <p:nvPr/>
        </p:nvSpPr>
        <p:spPr>
          <a:xfrm xmlns:a="http://schemas.openxmlformats.org/drawingml/2006/main">
            <a:off x="9753600" y="42672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101820"/>
                </a:solidFill>
                <a:latin typeface="Arial"/>
                <a:ea typeface="Arial"/>
                <a:cs typeface="Arial"/>
              </a:defRPr>
            </a:pPr>
            <a:r>
              <a:rPr sz="1125" b="1" i="0">
                <a:solidFill>
                  <a:srgbClr val="101820"/>
                </a:solidFill>
                <a:latin typeface="Arial"/>
                <a:ea typeface="Arial"/>
                <a:cs typeface="Arial"/>
              </a:rPr>
              <a:t>Result</a:t>
            </a:r>
          </a:p>
        </p:txBody>
      </p:sp>
      <p:sp>
        <p:nvSpPr>
          <p:cNvPr id="12" name="">
            <a:extLst xmlns:a="http://schemas.openxmlformats.org/drawingml/2006/main">
              <a:ext uri="{FF2B5EF4-FFF2-40B4-BE49-F238E27FC236}">
                <a16:creationId xmlns:a16="http://schemas.microsoft.com/office/drawing/2014/main" id="{B424FF41-DB1F-4511-B5B0-7B54D2D9731F}"/>
              </a:ext>
            </a:extLst>
          </p:cNvPr>
          <p:cNvSpPr>
            <a:spLocks xmlns:a="http://schemas.openxmlformats.org/drawingml/2006/main" noGrp="1"/>
          </p:cNvSpPr>
          <p:nvPr/>
        </p:nvSpPr>
        <p:spPr>
          <a:xfrm xmlns:a="http://schemas.openxmlformats.org/drawingml/2006/main">
            <a:off x="9753600" y="4514850"/>
            <a:ext cx="1485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i="0">
                <a:solidFill>
                  <a:srgbClr val="101820"/>
                </a:solidFill>
                <a:latin typeface="Arial"/>
                <a:ea typeface="Arial"/>
                <a:cs typeface="Arial"/>
              </a:defRPr>
            </a:pPr>
            <a:r>
              <a:rPr sz="825" b="0" i="0">
                <a:solidFill>
                  <a:srgbClr val="101820"/>
                </a:solidFill>
                <a:latin typeface="Arial"/>
                <a:ea typeface="Arial"/>
                <a:cs typeface="Arial"/>
              </a:rPr>
              <a:t>5 improved</a:t>
            </a:r>
          </a:p>
          <a:p xmlns:a="http://schemas.openxmlformats.org/drawingml/2006/main">
            <a:pPr algn="l">
              <a:buNone/>
              <a:defRPr sz="825" b="0" i="0">
                <a:solidFill>
                  <a:srgbClr val="101820"/>
                </a:solidFill>
                <a:latin typeface="Arial"/>
                <a:ea typeface="Arial"/>
                <a:cs typeface="Arial"/>
              </a:defRPr>
            </a:pPr>
            <a:r>
              <a:rPr sz="825" b="0" i="0">
                <a:solidFill>
                  <a:srgbClr val="101820"/>
                </a:solidFill>
                <a:latin typeface="Arial"/>
                <a:ea typeface="Arial"/>
                <a:cs typeface="Arial"/>
              </a:rPr>
              <a:t>1 regressed</a:t>
            </a:r>
          </a:p>
        </p:txBody>
      </p:sp>
      <p:sp>
        <p:nvSpPr>
          <p:cNvPr id="13" name="">
            <a:extLst xmlns:a="http://schemas.openxmlformats.org/drawingml/2006/main">
              <a:ext uri="{FF2B5EF4-FFF2-40B4-BE49-F238E27FC236}">
                <a16:creationId xmlns:a16="http://schemas.microsoft.com/office/drawing/2014/main" id="{9DCEE580-259A-4501-A40F-3E885628F4C3}"/>
              </a:ext>
            </a:extLst>
          </p:cNvPr>
          <p:cNvSpPr>
            <a:spLocks xmlns:a="http://schemas.openxmlformats.org/drawingml/2006/main" noGrp="1"/>
          </p:cNvSpPr>
          <p:nvPr/>
        </p:nvSpPr>
        <p:spPr>
          <a:xfrm xmlns:a="http://schemas.openxmlformats.org/drawingml/2006/main">
            <a:off x="400050" y="5734050"/>
            <a:ext cx="742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4C5B67"/>
                </a:solidFill>
                <a:latin typeface="Arial"/>
                <a:ea typeface="Arial"/>
                <a:cs typeface="Arial"/>
              </a:defRPr>
            </a:pPr>
            <a:r>
              <a:rPr sz="1050" b="0" i="0">
                <a:solidFill>
                  <a:srgbClr val="4C5B67"/>
                </a:solidFill>
                <a:latin typeface="Arial"/>
                <a:ea typeface="Arial"/>
                <a:cs typeface="Arial"/>
              </a:rPr>
              <a:t>Qianyi (Alfred) Chen | Mentor: Dr. Jagdip Singh</a:t>
            </a:r>
          </a:p>
        </p:txBody>
      </p:sp>
      <p:sp>
        <p:nvSpPr>
          <p:cNvPr id="14" name="">
            <a:extLst xmlns:a="http://schemas.openxmlformats.org/drawingml/2006/main">
              <a:ext uri="{FF2B5EF4-FFF2-40B4-BE49-F238E27FC236}">
                <a16:creationId xmlns:a16="http://schemas.microsoft.com/office/drawing/2014/main" id="{B6F88EB7-3B05-46F3-833F-2AE0B0DBDCD7}"/>
              </a:ext>
            </a:extLst>
          </p:cNvPr>
          <p:cNvSpPr>
            <a:spLocks xmlns:a="http://schemas.openxmlformats.org/drawingml/2006/main" noGrp="1"/>
          </p:cNvSpPr>
          <p:nvPr/>
        </p:nvSpPr>
        <p:spPr>
          <a:xfrm xmlns:a="http://schemas.openxmlformats.org/drawingml/2006/main">
            <a:off x="400050" y="610552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0" i="0">
                <a:solidFill>
                  <a:srgbClr val="73818B"/>
                </a:solidFill>
                <a:latin typeface="Arial"/>
                <a:ea typeface="Arial"/>
                <a:cs typeface="Arial"/>
              </a:defRPr>
            </a:pPr>
            <a:r>
              <a:rPr sz="750" b="0" i="0">
                <a:solidFill>
                  <a:srgbClr val="73818B"/>
                </a:solidFill>
                <a:latin typeface="Arial"/>
                <a:ea typeface="Arial"/>
                <a:cs typeface="Arial"/>
              </a:rPr>
              <a:t>Evidence reviewed through July 30, 2026</a:t>
            </a:r>
          </a:p>
        </p:txBody>
      </p:sp>
    </p:spTree>
    <p:extLst>
      <p:ext uri="{BB962C8B-B14F-4D97-AF65-F5344CB8AC3E}">
        <p14:creationId xmlns:p14="http://schemas.microsoft.com/office/powerpoint/2010/main" val="18978723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FA111D4-0C27-408A-91B8-FB686A07BB7B}"/>
              </a:ext>
            </a:extLst>
          </p:cNvPr>
          <p:cNvSpPr>
            <a:spLocks xmlns:a="http://schemas.openxmlformats.org/drawingml/2006/main" noGrp="1"/>
          </p:cNvSpPr>
          <p:nvPr/>
        </p:nvSpPr>
        <p:spPr>
          <a:xfrm xmlns:a="http://schemas.openxmlformats.org/drawingml/2006/main">
            <a:off x="400050" y="247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146EA8"/>
                </a:solidFill>
                <a:latin typeface="Arial"/>
                <a:ea typeface="Arial"/>
                <a:cs typeface="Arial"/>
              </a:defRPr>
            </a:pPr>
            <a:r>
              <a:rPr sz="825" b="1" i="0">
                <a:solidFill>
                  <a:srgbClr val="146EA8"/>
                </a:solidFill>
                <a:latin typeface="Arial"/>
                <a:ea typeface="Arial"/>
                <a:cs typeface="Arial"/>
              </a:rPr>
              <a:t>SSRP 2026 | LONGITUDINAL CONSENT STUDY</a:t>
            </a:r>
          </a:p>
        </p:txBody>
      </p:sp>
      <p:sp>
        <p:nvSpPr>
          <p:cNvPr id="2" name="">
            <a:extLst xmlns:a="http://schemas.openxmlformats.org/drawingml/2006/main">
              <a:ext uri="{FF2B5EF4-FFF2-40B4-BE49-F238E27FC236}">
                <a16:creationId xmlns:a16="http://schemas.microsoft.com/office/drawing/2014/main" id="{225BA080-224D-4DEC-9C07-6624B512F30E}"/>
              </a:ext>
            </a:extLst>
          </p:cNvPr>
          <p:cNvSpPr>
            <a:spLocks xmlns:a="http://schemas.openxmlformats.org/drawingml/2006/main" noGrp="1"/>
          </p:cNvSpPr>
          <p:nvPr/>
        </p:nvSpPr>
        <p:spPr>
          <a:xfrm xmlns:a="http://schemas.openxmlformats.org/drawingml/2006/main">
            <a:off x="11334750" y="2571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73818B"/>
                </a:solidFill>
                <a:latin typeface="Arial"/>
                <a:ea typeface="Arial"/>
                <a:cs typeface="Arial"/>
              </a:defRPr>
            </a:pPr>
            <a:r>
              <a:rPr sz="750" b="0" i="0">
                <a:solidFill>
                  <a:srgbClr val="73818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31707E3-3E8D-4B5D-9EC0-7A09947F59D4}"/>
              </a:ext>
            </a:extLst>
          </p:cNvPr>
          <p:cNvSpPr>
            <a:spLocks xmlns:a="http://schemas.openxmlformats.org/drawingml/2006/main" noGrp="1"/>
          </p:cNvSpPr>
          <p:nvPr/>
        </p:nvSpPr>
        <p:spPr>
          <a:xfrm xmlns:a="http://schemas.openxmlformats.org/drawingml/2006/main">
            <a:off x="400050" y="552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01820"/>
                </a:solidFill>
                <a:latin typeface="Arial"/>
                <a:ea typeface="Arial"/>
                <a:cs typeface="Arial"/>
              </a:defRPr>
            </a:pPr>
            <a:r>
              <a:rPr sz="2175" b="1" i="0">
                <a:solidFill>
                  <a:srgbClr val="101820"/>
                </a:solidFill>
                <a:latin typeface="Arial"/>
                <a:ea typeface="Arial"/>
                <a:cs typeface="Arial"/>
              </a:rPr>
              <a:t>The proposal's two questions now have bounded answers</a:t>
            </a:r>
          </a:p>
        </p:txBody>
      </p:sp>
      <p:sp>
        <p:nvSpPr>
          <p:cNvPr id="4" name="">
            <a:extLst xmlns:a="http://schemas.openxmlformats.org/drawingml/2006/main">
              <a:ext uri="{FF2B5EF4-FFF2-40B4-BE49-F238E27FC236}">
                <a16:creationId xmlns:a16="http://schemas.microsoft.com/office/drawing/2014/main" id="{75199C4B-E146-4479-B348-5C9163CD7249}"/>
              </a:ext>
            </a:extLst>
          </p:cNvPr>
          <p:cNvSpPr>
            <a:spLocks xmlns:a="http://schemas.openxmlformats.org/drawingml/2006/main" noGrp="1"/>
          </p:cNvSpPr>
          <p:nvPr/>
        </p:nvSpPr>
        <p:spPr>
          <a:xfrm xmlns:a="http://schemas.openxmlformats.org/drawingml/2006/main">
            <a:off x="400050" y="1257300"/>
            <a:ext cx="11391900" cy="19050"/>
          </a:xfrm>
          <a:prstGeom xmlns:a="http://schemas.openxmlformats.org/drawingml/2006/main" prst="rect">
            <a:avLst/>
          </a:prstGeom>
          <a:solidFill xmlns:a="http://schemas.openxmlformats.org/drawingml/2006/main">
            <a:srgbClr val="D9E0E5"/>
          </a:solidFill>
          <a:ln xmlns:a="http://schemas.openxmlformats.org/drawingml/2006/main" w="0">
            <a:solidFill>
              <a:srgbClr val="D9E0E5"/>
            </a:solidFill>
            <a:prstDash val="solid"/>
          </a:ln>
        </p:spPr>
      </p:sp>
      <p:sp>
        <p:nvSpPr>
          <p:cNvPr id="5" name="">
            <a:extLst xmlns:a="http://schemas.openxmlformats.org/drawingml/2006/main">
              <a:ext uri="{FF2B5EF4-FFF2-40B4-BE49-F238E27FC236}">
                <a16:creationId xmlns:a16="http://schemas.microsoft.com/office/drawing/2014/main" id="{CFC84B8D-37BD-497B-90AD-5E3F7381970E}"/>
              </a:ext>
            </a:extLst>
          </p:cNvPr>
          <p:cNvSpPr>
            <a:spLocks xmlns:a="http://schemas.openxmlformats.org/drawingml/2006/main" noGrp="1"/>
          </p:cNvSpPr>
          <p:nvPr/>
        </p:nvSpPr>
        <p:spPr>
          <a:xfrm xmlns:a="http://schemas.openxmlformats.org/drawingml/2006/main">
            <a:off x="590550" y="16002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18867F"/>
                </a:solidFill>
                <a:latin typeface="Arial"/>
                <a:ea typeface="Arial"/>
                <a:cs typeface="Arial"/>
              </a:defRPr>
            </a:pPr>
            <a:r>
              <a:rPr sz="1650" b="1" i="0">
                <a:solidFill>
                  <a:srgbClr val="18867F"/>
                </a:solidFill>
                <a:latin typeface="Arial"/>
                <a:ea typeface="Arial"/>
                <a:cs typeface="Arial"/>
              </a:rPr>
              <a:t>RQ1 | HOW SHOULD WE JUDGE IT?</a:t>
            </a:r>
          </a:p>
        </p:txBody>
      </p:sp>
      <p:sp>
        <p:nvSpPr>
          <p:cNvPr id="6" name="">
            <a:extLst xmlns:a="http://schemas.openxmlformats.org/drawingml/2006/main">
              <a:ext uri="{FF2B5EF4-FFF2-40B4-BE49-F238E27FC236}">
                <a16:creationId xmlns:a16="http://schemas.microsoft.com/office/drawing/2014/main" id="{D5B46D35-57DA-4C31-A4D3-1FE0D0BAB4C8}"/>
              </a:ext>
            </a:extLst>
          </p:cNvPr>
          <p:cNvSpPr>
            <a:spLocks xmlns:a="http://schemas.openxmlformats.org/drawingml/2006/main" noGrp="1"/>
          </p:cNvSpPr>
          <p:nvPr/>
        </p:nvSpPr>
        <p:spPr>
          <a:xfrm xmlns:a="http://schemas.openxmlformats.org/drawingml/2006/main">
            <a:off x="590550" y="2171700"/>
            <a:ext cx="4762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Can users reach Reject or Customize?</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How many actions does each path require?</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Are purposes clear and options balanced?</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Does refusal or withdrawal stop tracking?</a:t>
            </a:r>
          </a:p>
        </p:txBody>
      </p:sp>
      <p:sp>
        <p:nvSpPr>
          <p:cNvPr id="7" name="">
            <a:extLst xmlns:a="http://schemas.openxmlformats.org/drawingml/2006/main">
              <a:ext uri="{FF2B5EF4-FFF2-40B4-BE49-F238E27FC236}">
                <a16:creationId xmlns:a16="http://schemas.microsoft.com/office/drawing/2014/main" id="{DB330E46-6FCE-4352-A004-613EDD8FC87D}"/>
              </a:ext>
            </a:extLst>
          </p:cNvPr>
          <p:cNvSpPr>
            <a:spLocks xmlns:a="http://schemas.openxmlformats.org/drawingml/2006/main" noGrp="1"/>
          </p:cNvSpPr>
          <p:nvPr/>
        </p:nvSpPr>
        <p:spPr>
          <a:xfrm xmlns:a="http://schemas.openxmlformats.org/drawingml/2006/main">
            <a:off x="5962650" y="1581150"/>
            <a:ext cx="19050" cy="0"/>
          </a:xfrm>
          <a:prstGeom xmlns:a="http://schemas.openxmlformats.org/drawingml/2006/main" prst="rect">
            <a:avLst/>
          </a:prstGeom>
          <a:ln xmlns:a="http://schemas.openxmlformats.org/drawingml/2006/main" w="0">
            <a:prstDash val="solid"/>
          </a:ln>
        </p:spPr>
      </p:sp>
      <p:sp>
        <p:nvSpPr>
          <p:cNvPr id="8" name="">
            <a:extLst xmlns:a="http://schemas.openxmlformats.org/drawingml/2006/main">
              <a:ext uri="{FF2B5EF4-FFF2-40B4-BE49-F238E27FC236}">
                <a16:creationId xmlns:a16="http://schemas.microsoft.com/office/drawing/2014/main" id="{1713B75F-0AF3-4EE4-B8CA-F11BC29467B5}"/>
              </a:ext>
            </a:extLst>
          </p:cNvPr>
          <p:cNvSpPr>
            <a:spLocks xmlns:a="http://schemas.openxmlformats.org/drawingml/2006/main" noGrp="1"/>
          </p:cNvSpPr>
          <p:nvPr/>
        </p:nvSpPr>
        <p:spPr>
          <a:xfrm xmlns:a="http://schemas.openxmlformats.org/drawingml/2006/main">
            <a:off x="6457950" y="16002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A13B16"/>
                </a:solidFill>
                <a:latin typeface="Arial"/>
                <a:ea typeface="Arial"/>
                <a:cs typeface="Arial"/>
              </a:defRPr>
            </a:pPr>
            <a:r>
              <a:rPr sz="1650" b="1" i="0">
                <a:solidFill>
                  <a:srgbClr val="A13B16"/>
                </a:solidFill>
                <a:latin typeface="Arial"/>
                <a:ea typeface="Arial"/>
                <a:cs typeface="Arial"/>
              </a:rPr>
              <a:t>RQ2 | HOW DID IT CHANGE?</a:t>
            </a:r>
          </a:p>
        </p:txBody>
      </p:sp>
      <p:sp>
        <p:nvSpPr>
          <p:cNvPr id="9" name="">
            <a:extLst xmlns:a="http://schemas.openxmlformats.org/drawingml/2006/main">
              <a:ext uri="{FF2B5EF4-FFF2-40B4-BE49-F238E27FC236}">
                <a16:creationId xmlns:a16="http://schemas.microsoft.com/office/drawing/2014/main" id="{22FD0377-9F2F-47FF-A178-B8105034491D}"/>
              </a:ext>
            </a:extLst>
          </p:cNvPr>
          <p:cNvSpPr>
            <a:spLocks xmlns:a="http://schemas.openxmlformats.org/drawingml/2006/main" noGrp="1"/>
          </p:cNvSpPr>
          <p:nvPr/>
        </p:nvSpPr>
        <p:spPr>
          <a:xfrm xmlns:a="http://schemas.openxmlformats.org/drawingml/2006/main">
            <a:off x="6457950" y="2171700"/>
            <a:ext cx="4762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- 6 dated company trajectories</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- 5 improved in at least one component</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- 1 regressed in functional refusal</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- 3/3 first-layer cases removed rejection asymmetry</a:t>
            </a:r>
          </a:p>
        </p:txBody>
      </p:sp>
      <p:sp>
        <p:nvSpPr>
          <p:cNvPr id="10" name="">
            <a:extLst xmlns:a="http://schemas.openxmlformats.org/drawingml/2006/main">
              <a:ext uri="{FF2B5EF4-FFF2-40B4-BE49-F238E27FC236}">
                <a16:creationId xmlns:a16="http://schemas.microsoft.com/office/drawing/2014/main" id="{794BEB7F-F75A-4B1D-80A0-9DA73E0FC46A}"/>
              </a:ext>
            </a:extLst>
          </p:cNvPr>
          <p:cNvSpPr>
            <a:spLocks xmlns:a="http://schemas.openxmlformats.org/drawingml/2006/main" noGrp="1"/>
          </p:cNvSpPr>
          <p:nvPr/>
        </p:nvSpPr>
        <p:spPr>
          <a:xfrm xmlns:a="http://schemas.openxmlformats.org/drawingml/2006/main">
            <a:off x="400050" y="5219700"/>
            <a:ext cx="11391900" cy="838200"/>
          </a:xfrm>
          <a:prstGeom xmlns:a="http://schemas.openxmlformats.org/drawingml/2006/main" prst="rect">
            <a:avLst/>
          </a:prstGeom>
          <a:solidFill xmlns:a="http://schemas.openxmlformats.org/drawingml/2006/main">
            <a:srgbClr val="101820"/>
          </a:solidFill>
          <a:ln xmlns:a="http://schemas.openxmlformats.org/drawingml/2006/main" w="0">
            <a:solidFill>
              <a:srgbClr val="101820"/>
            </a:solidFill>
            <a:prstDash val="solid"/>
          </a:ln>
        </p:spPr>
      </p:sp>
      <p:sp>
        <p:nvSpPr>
          <p:cNvPr id="11" name="">
            <a:extLst xmlns:a="http://schemas.openxmlformats.org/drawingml/2006/main">
              <a:ext uri="{FF2B5EF4-FFF2-40B4-BE49-F238E27FC236}">
                <a16:creationId xmlns:a16="http://schemas.microsoft.com/office/drawing/2014/main" id="{EB88B144-0C42-4FC6-8969-DF0907B495B2}"/>
              </a:ext>
            </a:extLst>
          </p:cNvPr>
          <p:cNvSpPr>
            <a:spLocks xmlns:a="http://schemas.openxmlformats.org/drawingml/2006/main" noGrp="1"/>
          </p:cNvSpPr>
          <p:nvPr/>
        </p:nvSpPr>
        <p:spPr>
          <a:xfrm xmlns:a="http://schemas.openxmlformats.org/drawingml/2006/main">
            <a:off x="628650" y="54102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6C6E9"/>
                </a:solidFill>
                <a:latin typeface="Arial"/>
                <a:ea typeface="Arial"/>
                <a:cs typeface="Arial"/>
              </a:defRPr>
            </a:pPr>
            <a:r>
              <a:rPr sz="1050" b="1" i="0">
                <a:solidFill>
                  <a:srgbClr val="66C6E9"/>
                </a:solidFill>
                <a:latin typeface="Arial"/>
                <a:ea typeface="Arial"/>
                <a:cs typeface="Arial"/>
              </a:rPr>
              <a:t>Bounded answer</a:t>
            </a:r>
          </a:p>
        </p:txBody>
      </p:sp>
      <p:sp>
        <p:nvSpPr>
          <p:cNvPr id="12" name="">
            <a:extLst xmlns:a="http://schemas.openxmlformats.org/drawingml/2006/main">
              <a:ext uri="{FF2B5EF4-FFF2-40B4-BE49-F238E27FC236}">
                <a16:creationId xmlns:a16="http://schemas.microsoft.com/office/drawing/2014/main" id="{F80EED9B-4973-4FAF-9E21-272CFC1418F6}"/>
              </a:ext>
            </a:extLst>
          </p:cNvPr>
          <p:cNvSpPr>
            <a:spLocks xmlns:a="http://schemas.openxmlformats.org/drawingml/2006/main" noGrp="1"/>
          </p:cNvSpPr>
          <p:nvPr/>
        </p:nvSpPr>
        <p:spPr>
          <a:xfrm xmlns:a="http://schemas.openxmlformats.org/drawingml/2006/main">
            <a:off x="2571750" y="53911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evidence supports component-level direction, not an internet-wide rate or randomized causal claim.</a:t>
            </a:r>
          </a:p>
        </p:txBody>
      </p:sp>
      <p:sp>
        <p:nvSpPr>
          <p:cNvPr id="13" name="">
            <a:extLst xmlns:a="http://schemas.openxmlformats.org/drawingml/2006/main">
              <a:ext uri="{FF2B5EF4-FFF2-40B4-BE49-F238E27FC236}">
                <a16:creationId xmlns:a16="http://schemas.microsoft.com/office/drawing/2014/main" id="{4D1B6826-7E64-408B-BD90-7697203FBF96}"/>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14" name="">
            <a:extLst xmlns:a="http://schemas.openxmlformats.org/drawingml/2006/main">
              <a:ext uri="{FF2B5EF4-FFF2-40B4-BE49-F238E27FC236}">
                <a16:creationId xmlns:a16="http://schemas.microsoft.com/office/drawing/2014/main" id="{375944B8-E726-475F-B67B-24E0108ED404}"/>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Case series: 5 improved | 1 regressed | purposive sample</a:t>
            </a:r>
          </a:p>
        </p:txBody>
      </p:sp>
    </p:spTree>
    <p:extLst>
      <p:ext uri="{BB962C8B-B14F-4D97-AF65-F5344CB8AC3E}">
        <p14:creationId xmlns:p14="http://schemas.microsoft.com/office/powerpoint/2010/main" val="1494591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24BF286-AFF5-4033-BA13-A094F0B54C7E}"/>
              </a:ext>
            </a:extLst>
          </p:cNvPr>
          <p:cNvSpPr>
            <a:spLocks xmlns:a="http://schemas.openxmlformats.org/drawingml/2006/main" noGrp="1"/>
          </p:cNvSpPr>
          <p:nvPr/>
        </p:nvSpPr>
        <p:spPr>
          <a:xfrm xmlns:a="http://schemas.openxmlformats.org/drawingml/2006/main">
            <a:off x="400050" y="247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146EA8"/>
                </a:solidFill>
                <a:latin typeface="Arial"/>
                <a:ea typeface="Arial"/>
                <a:cs typeface="Arial"/>
              </a:defRPr>
            </a:pPr>
            <a:r>
              <a:rPr sz="825" b="1" i="0">
                <a:solidFill>
                  <a:srgbClr val="146EA8"/>
                </a:solidFill>
                <a:latin typeface="Arial"/>
                <a:ea typeface="Arial"/>
                <a:cs typeface="Arial"/>
              </a:rPr>
              <a:t>SSRP 2026 | LONGITUDINAL CONSENT STUDY</a:t>
            </a:r>
          </a:p>
        </p:txBody>
      </p:sp>
      <p:sp>
        <p:nvSpPr>
          <p:cNvPr id="2" name="">
            <a:extLst xmlns:a="http://schemas.openxmlformats.org/drawingml/2006/main">
              <a:ext uri="{FF2B5EF4-FFF2-40B4-BE49-F238E27FC236}">
                <a16:creationId xmlns:a16="http://schemas.microsoft.com/office/drawing/2014/main" id="{A8506F54-2B83-4A34-B93F-CEA78ACBE94F}"/>
              </a:ext>
            </a:extLst>
          </p:cNvPr>
          <p:cNvSpPr>
            <a:spLocks xmlns:a="http://schemas.openxmlformats.org/drawingml/2006/main" noGrp="1"/>
          </p:cNvSpPr>
          <p:nvPr/>
        </p:nvSpPr>
        <p:spPr>
          <a:xfrm xmlns:a="http://schemas.openxmlformats.org/drawingml/2006/main">
            <a:off x="11334750" y="2571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73818B"/>
                </a:solidFill>
                <a:latin typeface="Arial"/>
                <a:ea typeface="Arial"/>
                <a:cs typeface="Arial"/>
              </a:defRPr>
            </a:pPr>
            <a:r>
              <a:rPr sz="750" b="0" i="0">
                <a:solidFill>
                  <a:srgbClr val="73818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CED31C7-69F0-474A-847F-387C76D7AB78}"/>
              </a:ext>
            </a:extLst>
          </p:cNvPr>
          <p:cNvSpPr>
            <a:spLocks xmlns:a="http://schemas.openxmlformats.org/drawingml/2006/main" noGrp="1"/>
          </p:cNvSpPr>
          <p:nvPr/>
        </p:nvSpPr>
        <p:spPr>
          <a:xfrm xmlns:a="http://schemas.openxmlformats.org/drawingml/2006/main">
            <a:off x="400050" y="552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01820"/>
                </a:solidFill>
                <a:latin typeface="Arial"/>
                <a:ea typeface="Arial"/>
                <a:cs typeface="Arial"/>
              </a:defRPr>
            </a:pPr>
            <a:r>
              <a:rPr sz="2175" b="1" i="0">
                <a:solidFill>
                  <a:srgbClr val="101820"/>
                </a:solidFill>
                <a:latin typeface="Arial"/>
                <a:ea typeface="Arial"/>
                <a:cs typeface="Arial"/>
              </a:rPr>
              <a:t>Two evidence lanes answer different parts of the problem</a:t>
            </a:r>
          </a:p>
        </p:txBody>
      </p:sp>
      <p:sp>
        <p:nvSpPr>
          <p:cNvPr id="4" name="">
            <a:extLst xmlns:a="http://schemas.openxmlformats.org/drawingml/2006/main">
              <a:ext uri="{FF2B5EF4-FFF2-40B4-BE49-F238E27FC236}">
                <a16:creationId xmlns:a16="http://schemas.microsoft.com/office/drawing/2014/main" id="{5BF5E46F-E2FC-4BB3-A994-5949A2D42C58}"/>
              </a:ext>
            </a:extLst>
          </p:cNvPr>
          <p:cNvSpPr>
            <a:spLocks xmlns:a="http://schemas.openxmlformats.org/drawingml/2006/main" noGrp="1"/>
          </p:cNvSpPr>
          <p:nvPr/>
        </p:nvSpPr>
        <p:spPr>
          <a:xfrm xmlns:a="http://schemas.openxmlformats.org/drawingml/2006/main">
            <a:off x="400050" y="1257300"/>
            <a:ext cx="11391900" cy="19050"/>
          </a:xfrm>
          <a:prstGeom xmlns:a="http://schemas.openxmlformats.org/drawingml/2006/main" prst="rect">
            <a:avLst/>
          </a:prstGeom>
          <a:solidFill xmlns:a="http://schemas.openxmlformats.org/drawingml/2006/main">
            <a:srgbClr val="D9E0E5"/>
          </a:solidFill>
          <a:ln xmlns:a="http://schemas.openxmlformats.org/drawingml/2006/main" w="0">
            <a:solidFill>
              <a:srgbClr val="D9E0E5"/>
            </a:solidFill>
            <a:prstDash val="solid"/>
          </a:ln>
        </p:spPr>
      </p:sp>
      <p:sp>
        <p:nvSpPr>
          <p:cNvPr id="5" name="">
            <a:extLst xmlns:a="http://schemas.openxmlformats.org/drawingml/2006/main">
              <a:ext uri="{FF2B5EF4-FFF2-40B4-BE49-F238E27FC236}">
                <a16:creationId xmlns:a16="http://schemas.microsoft.com/office/drawing/2014/main" id="{D86BF755-6FD1-44BF-B0B9-4D4D2C595CA3}"/>
              </a:ext>
            </a:extLst>
          </p:cNvPr>
          <p:cNvSpPr>
            <a:spLocks xmlns:a="http://schemas.openxmlformats.org/drawingml/2006/main" noGrp="1"/>
          </p:cNvSpPr>
          <p:nvPr/>
        </p:nvSpPr>
        <p:spPr>
          <a:xfrm xmlns:a="http://schemas.openxmlformats.org/drawingml/2006/main">
            <a:off x="400050" y="1476375"/>
            <a:ext cx="1000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4C5B67"/>
                </a:solidFill>
                <a:latin typeface="Arial"/>
                <a:ea typeface="Arial"/>
                <a:cs typeface="Arial"/>
              </a:defRPr>
            </a:pPr>
            <a:r>
              <a:rPr sz="1350" b="0" i="0">
                <a:solidFill>
                  <a:srgbClr val="4C5B67"/>
                </a:solidFill>
                <a:latin typeface="Arial"/>
                <a:ea typeface="Arial"/>
                <a:cs typeface="Arial"/>
              </a:rPr>
              <a:t>Weak local depth is preserved as a limit; dated primary sources add direction.</a:t>
            </a:r>
          </a:p>
        </p:txBody>
      </p:sp>
      <p:sp>
        <p:nvSpPr>
          <p:cNvPr id="6" name="">
            <a:extLst xmlns:a="http://schemas.openxmlformats.org/drawingml/2006/main">
              <a:ext uri="{FF2B5EF4-FFF2-40B4-BE49-F238E27FC236}">
                <a16:creationId xmlns:a16="http://schemas.microsoft.com/office/drawing/2014/main" id="{73E41F1F-66E3-494E-8931-0EEA6AB0D579}"/>
              </a:ext>
            </a:extLst>
          </p:cNvPr>
          <p:cNvSpPr>
            <a:spLocks xmlns:a="http://schemas.openxmlformats.org/drawingml/2006/main" noGrp="1"/>
          </p:cNvSpPr>
          <p:nvPr/>
        </p:nvSpPr>
        <p:spPr>
          <a:xfrm xmlns:a="http://schemas.openxmlformats.org/drawingml/2006/main">
            <a:off x="1381125" y="2990850"/>
            <a:ext cx="9429750" cy="38100"/>
          </a:xfrm>
          <a:prstGeom xmlns:a="http://schemas.openxmlformats.org/drawingml/2006/main" prst="rect">
            <a:avLst/>
          </a:prstGeom>
          <a:solidFill xmlns:a="http://schemas.openxmlformats.org/drawingml/2006/main">
            <a:srgbClr val="BAC4CB"/>
          </a:solidFill>
          <a:ln xmlns:a="http://schemas.openxmlformats.org/drawingml/2006/main" w="0">
            <a:solidFill>
              <a:srgbClr val="BAC4CB"/>
            </a:solidFill>
            <a:prstDash val="solid"/>
          </a:ln>
        </p:spPr>
      </p:sp>
      <p:sp>
        <p:nvSpPr>
          <p:cNvPr id="7" name="">
            <a:extLst xmlns:a="http://schemas.openxmlformats.org/drawingml/2006/main">
              <a:ext uri="{FF2B5EF4-FFF2-40B4-BE49-F238E27FC236}">
                <a16:creationId xmlns:a16="http://schemas.microsoft.com/office/drawing/2014/main" id="{7DF3481F-7C14-4C36-B54B-CA49014C6399}"/>
              </a:ext>
            </a:extLst>
          </p:cNvPr>
          <p:cNvSpPr>
            <a:spLocks xmlns:a="http://schemas.openxmlformats.org/drawingml/2006/main" noGrp="1"/>
          </p:cNvSpPr>
          <p:nvPr/>
        </p:nvSpPr>
        <p:spPr>
          <a:xfrm xmlns:a="http://schemas.openxmlformats.org/drawingml/2006/main">
            <a:off x="876300" y="2552700"/>
            <a:ext cx="876300" cy="876300"/>
          </a:xfrm>
          <a:prstGeom xmlns:a="http://schemas.openxmlformats.org/drawingml/2006/main" prst="ellipse">
            <a:avLst/>
          </a:prstGeom>
          <a:solidFill xmlns:a="http://schemas.openxmlformats.org/drawingml/2006/main">
            <a:srgbClr val="146EA8"/>
          </a:solidFill>
          <a:ln xmlns:a="http://schemas.openxmlformats.org/drawingml/2006/main" w="0">
            <a:solidFill>
              <a:srgbClr val="146EA8"/>
            </a:solidFill>
            <a:prstDash val="solid"/>
          </a:ln>
        </p:spPr>
      </p:sp>
      <p:sp>
        <p:nvSpPr>
          <p:cNvPr id="8" name="">
            <a:extLst xmlns:a="http://schemas.openxmlformats.org/drawingml/2006/main">
              <a:ext uri="{FF2B5EF4-FFF2-40B4-BE49-F238E27FC236}">
                <a16:creationId xmlns:a16="http://schemas.microsoft.com/office/drawing/2014/main" id="{17D5CA93-372A-48C6-A308-81FD3B823AB5}"/>
              </a:ext>
            </a:extLst>
          </p:cNvPr>
          <p:cNvSpPr>
            <a:spLocks xmlns:a="http://schemas.openxmlformats.org/drawingml/2006/main" noGrp="1"/>
          </p:cNvSpPr>
          <p:nvPr/>
        </p:nvSpPr>
        <p:spPr>
          <a:xfrm xmlns:a="http://schemas.openxmlformats.org/drawingml/2006/main">
            <a:off x="971550" y="2771775"/>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i="0">
                <a:solidFill>
                  <a:srgbClr val="FFFFFF"/>
                </a:solidFill>
                <a:latin typeface="Arial"/>
                <a:ea typeface="Arial"/>
                <a:cs typeface="Arial"/>
              </a:defRPr>
            </a:pPr>
            <a:r>
              <a:rPr sz="1425" b="1" i="0">
                <a:solidFill>
                  <a:srgbClr val="FFFF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79AC4F7-413D-4731-A4AB-647035779150}"/>
              </a:ext>
            </a:extLst>
          </p:cNvPr>
          <p:cNvSpPr>
            <a:spLocks xmlns:a="http://schemas.openxmlformats.org/drawingml/2006/main" noGrp="1"/>
          </p:cNvSpPr>
          <p:nvPr/>
        </p:nvSpPr>
        <p:spPr>
          <a:xfrm xmlns:a="http://schemas.openxmlformats.org/drawingml/2006/main">
            <a:off x="381000" y="37147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101820"/>
                </a:solidFill>
                <a:latin typeface="Arial"/>
                <a:ea typeface="Arial"/>
                <a:cs typeface="Arial"/>
              </a:defRPr>
            </a:pPr>
            <a:r>
              <a:rPr sz="1650" b="1" i="0">
                <a:solidFill>
                  <a:srgbClr val="101820"/>
                </a:solidFill>
                <a:latin typeface="Arial"/>
                <a:ea typeface="Arial"/>
                <a:cs typeface="Arial"/>
              </a:rPr>
              <a:t>CONTROL</a:t>
            </a:r>
          </a:p>
        </p:txBody>
      </p:sp>
      <p:sp>
        <p:nvSpPr>
          <p:cNvPr id="10" name="">
            <a:extLst xmlns:a="http://schemas.openxmlformats.org/drawingml/2006/main">
              <a:ext uri="{FF2B5EF4-FFF2-40B4-BE49-F238E27FC236}">
                <a16:creationId xmlns:a16="http://schemas.microsoft.com/office/drawing/2014/main" id="{A5125D7F-F0C0-4568-884C-D295061CC70E}"/>
              </a:ext>
            </a:extLst>
          </p:cNvPr>
          <p:cNvSpPr>
            <a:spLocks xmlns:a="http://schemas.openxmlformats.org/drawingml/2006/main" noGrp="1"/>
          </p:cNvSpPr>
          <p:nvPr/>
        </p:nvSpPr>
        <p:spPr>
          <a:xfrm xmlns:a="http://schemas.openxmlformats.org/drawingml/2006/main">
            <a:off x="190500" y="4171950"/>
            <a:ext cx="2247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i="0">
                <a:solidFill>
                  <a:srgbClr val="4C5B67"/>
                </a:solidFill>
                <a:latin typeface="Arial"/>
                <a:ea typeface="Arial"/>
                <a:cs typeface="Arial"/>
              </a:defRPr>
            </a:pPr>
            <a:r>
              <a:rPr sz="1125" b="0" i="0">
                <a:solidFill>
                  <a:srgbClr val="4C5B67"/>
                </a:solidFill>
                <a:latin typeface="Arial"/>
                <a:ea typeface="Arial"/>
                <a:cs typeface="Arial"/>
              </a:rPr>
              <a:t>Five sites; one matched May 29-June 5 interval</a:t>
            </a:r>
          </a:p>
        </p:txBody>
      </p:sp>
      <p:sp>
        <p:nvSpPr>
          <p:cNvPr id="11" name="">
            <a:extLst xmlns:a="http://schemas.openxmlformats.org/drawingml/2006/main">
              <a:ext uri="{FF2B5EF4-FFF2-40B4-BE49-F238E27FC236}">
                <a16:creationId xmlns:a16="http://schemas.microsoft.com/office/drawing/2014/main" id="{D5855169-1B21-4BD6-8499-7EE105114C5B}"/>
              </a:ext>
            </a:extLst>
          </p:cNvPr>
          <p:cNvSpPr>
            <a:spLocks xmlns:a="http://schemas.openxmlformats.org/drawingml/2006/main" noGrp="1"/>
          </p:cNvSpPr>
          <p:nvPr/>
        </p:nvSpPr>
        <p:spPr>
          <a:xfrm xmlns:a="http://schemas.openxmlformats.org/drawingml/2006/main">
            <a:off x="3790950" y="2552700"/>
            <a:ext cx="876300" cy="876300"/>
          </a:xfrm>
          <a:prstGeom xmlns:a="http://schemas.openxmlformats.org/drawingml/2006/main" prst="ellipse">
            <a:avLst/>
          </a:prstGeom>
          <a:solidFill xmlns:a="http://schemas.openxmlformats.org/drawingml/2006/main">
            <a:srgbClr val="18867F"/>
          </a:solidFill>
          <a:ln xmlns:a="http://schemas.openxmlformats.org/drawingml/2006/main" w="0">
            <a:solidFill>
              <a:srgbClr val="18867F"/>
            </a:solidFill>
            <a:prstDash val="solid"/>
          </a:ln>
        </p:spPr>
      </p:sp>
      <p:sp>
        <p:nvSpPr>
          <p:cNvPr id="12" name="">
            <a:extLst xmlns:a="http://schemas.openxmlformats.org/drawingml/2006/main">
              <a:ext uri="{FF2B5EF4-FFF2-40B4-BE49-F238E27FC236}">
                <a16:creationId xmlns:a16="http://schemas.microsoft.com/office/drawing/2014/main" id="{0242D59A-3535-4E81-A9A5-27561F3DB5FD}"/>
              </a:ext>
            </a:extLst>
          </p:cNvPr>
          <p:cNvSpPr>
            <a:spLocks xmlns:a="http://schemas.openxmlformats.org/drawingml/2006/main" noGrp="1"/>
          </p:cNvSpPr>
          <p:nvPr/>
        </p:nvSpPr>
        <p:spPr>
          <a:xfrm xmlns:a="http://schemas.openxmlformats.org/drawingml/2006/main">
            <a:off x="3886200" y="2771775"/>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i="0">
                <a:solidFill>
                  <a:srgbClr val="FFFFFF"/>
                </a:solidFill>
                <a:latin typeface="Arial"/>
                <a:ea typeface="Arial"/>
                <a:cs typeface="Arial"/>
              </a:defRPr>
            </a:pPr>
            <a:r>
              <a:rPr sz="1425" b="1" i="0">
                <a:solidFill>
                  <a:srgbClr val="FFFF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F1C5DE9-B7A4-41B7-85BF-DB22AAF6789D}"/>
              </a:ext>
            </a:extLst>
          </p:cNvPr>
          <p:cNvSpPr>
            <a:spLocks xmlns:a="http://schemas.openxmlformats.org/drawingml/2006/main" noGrp="1"/>
          </p:cNvSpPr>
          <p:nvPr/>
        </p:nvSpPr>
        <p:spPr>
          <a:xfrm xmlns:a="http://schemas.openxmlformats.org/drawingml/2006/main">
            <a:off x="3295650" y="37147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101820"/>
                </a:solidFill>
                <a:latin typeface="Arial"/>
                <a:ea typeface="Arial"/>
                <a:cs typeface="Arial"/>
              </a:defRPr>
            </a:pPr>
            <a:r>
              <a:rPr sz="1650" b="1" i="0">
                <a:solidFill>
                  <a:srgbClr val="101820"/>
                </a:solidFill>
                <a:latin typeface="Arial"/>
                <a:ea typeface="Arial"/>
                <a:cs typeface="Arial"/>
              </a:rPr>
              <a:t>VALIDATE</a:t>
            </a:r>
          </a:p>
        </p:txBody>
      </p:sp>
      <p:sp>
        <p:nvSpPr>
          <p:cNvPr id="14" name="">
            <a:extLst xmlns:a="http://schemas.openxmlformats.org/drawingml/2006/main">
              <a:ext uri="{FF2B5EF4-FFF2-40B4-BE49-F238E27FC236}">
                <a16:creationId xmlns:a16="http://schemas.microsoft.com/office/drawing/2014/main" id="{0F354809-8DAE-4B45-B5D4-87CF6E70B8ED}"/>
              </a:ext>
            </a:extLst>
          </p:cNvPr>
          <p:cNvSpPr>
            <a:spLocks xmlns:a="http://schemas.openxmlformats.org/drawingml/2006/main" noGrp="1"/>
          </p:cNvSpPr>
          <p:nvPr/>
        </p:nvSpPr>
        <p:spPr>
          <a:xfrm xmlns:a="http://schemas.openxmlformats.org/drawingml/2006/main">
            <a:off x="3105150" y="4171950"/>
            <a:ext cx="2247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i="0">
                <a:solidFill>
                  <a:srgbClr val="4C5B67"/>
                </a:solidFill>
                <a:latin typeface="Arial"/>
                <a:ea typeface="Arial"/>
                <a:cs typeface="Arial"/>
              </a:defRPr>
            </a:pPr>
            <a:r>
              <a:rPr sz="1125" b="0" i="0">
                <a:solidFill>
                  <a:srgbClr val="4C5B67"/>
                </a:solidFill>
                <a:latin typeface="Arial"/>
                <a:ea typeface="Arial"/>
                <a:cs typeface="Arial"/>
              </a:rPr>
              <a:t>Freeze context and scorer; inspect component evidence</a:t>
            </a:r>
          </a:p>
        </p:txBody>
      </p:sp>
      <p:sp>
        <p:nvSpPr>
          <p:cNvPr id="15" name="">
            <a:extLst xmlns:a="http://schemas.openxmlformats.org/drawingml/2006/main">
              <a:ext uri="{FF2B5EF4-FFF2-40B4-BE49-F238E27FC236}">
                <a16:creationId xmlns:a16="http://schemas.microsoft.com/office/drawing/2014/main" id="{B7FFDC91-5DCA-4DF8-A58E-FE248E9CAAC4}"/>
              </a:ext>
            </a:extLst>
          </p:cNvPr>
          <p:cNvSpPr>
            <a:spLocks xmlns:a="http://schemas.openxmlformats.org/drawingml/2006/main" noGrp="1"/>
          </p:cNvSpPr>
          <p:nvPr/>
        </p:nvSpPr>
        <p:spPr>
          <a:xfrm xmlns:a="http://schemas.openxmlformats.org/drawingml/2006/main">
            <a:off x="6705600" y="2552700"/>
            <a:ext cx="876300" cy="876300"/>
          </a:xfrm>
          <a:prstGeom xmlns:a="http://schemas.openxmlformats.org/drawingml/2006/main" prst="ellipse">
            <a:avLst/>
          </a:prstGeom>
          <a:solidFill xmlns:a="http://schemas.openxmlformats.org/drawingml/2006/main">
            <a:srgbClr val="D6A31A"/>
          </a:solidFill>
          <a:ln xmlns:a="http://schemas.openxmlformats.org/drawingml/2006/main" w="0">
            <a:solidFill>
              <a:srgbClr val="D6A31A"/>
            </a:solidFill>
            <a:prstDash val="solid"/>
          </a:ln>
        </p:spPr>
      </p:sp>
      <p:sp>
        <p:nvSpPr>
          <p:cNvPr id="16" name="">
            <a:extLst xmlns:a="http://schemas.openxmlformats.org/drawingml/2006/main">
              <a:ext uri="{FF2B5EF4-FFF2-40B4-BE49-F238E27FC236}">
                <a16:creationId xmlns:a16="http://schemas.microsoft.com/office/drawing/2014/main" id="{31FED42D-0027-4DAD-B3C6-682BF6E7206B}"/>
              </a:ext>
            </a:extLst>
          </p:cNvPr>
          <p:cNvSpPr>
            <a:spLocks xmlns:a="http://schemas.openxmlformats.org/drawingml/2006/main" noGrp="1"/>
          </p:cNvSpPr>
          <p:nvPr/>
        </p:nvSpPr>
        <p:spPr>
          <a:xfrm xmlns:a="http://schemas.openxmlformats.org/drawingml/2006/main">
            <a:off x="6800850" y="2771775"/>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i="0">
                <a:solidFill>
                  <a:srgbClr val="FFFFFF"/>
                </a:solidFill>
                <a:latin typeface="Arial"/>
                <a:ea typeface="Arial"/>
                <a:cs typeface="Arial"/>
              </a:defRPr>
            </a:pPr>
            <a:r>
              <a:rPr sz="1425" b="1" i="0">
                <a:solidFill>
                  <a:srgbClr val="FFFFF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7546F89B-87C0-4CEC-B87D-6310592AE7BF}"/>
              </a:ext>
            </a:extLst>
          </p:cNvPr>
          <p:cNvSpPr>
            <a:spLocks xmlns:a="http://schemas.openxmlformats.org/drawingml/2006/main" noGrp="1"/>
          </p:cNvSpPr>
          <p:nvPr/>
        </p:nvSpPr>
        <p:spPr>
          <a:xfrm xmlns:a="http://schemas.openxmlformats.org/drawingml/2006/main">
            <a:off x="6210300" y="37147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101820"/>
                </a:solidFill>
                <a:latin typeface="Arial"/>
                <a:ea typeface="Arial"/>
                <a:cs typeface="Arial"/>
              </a:defRPr>
            </a:pPr>
            <a:r>
              <a:rPr sz="1650" b="1" i="0">
                <a:solidFill>
                  <a:srgbClr val="101820"/>
                </a:solidFill>
                <a:latin typeface="Arial"/>
                <a:ea typeface="Arial"/>
                <a:cs typeface="Arial"/>
              </a:rPr>
              <a:t>RECOVER</a:t>
            </a:r>
          </a:p>
        </p:txBody>
      </p:sp>
      <p:sp>
        <p:nvSpPr>
          <p:cNvPr id="18" name="">
            <a:extLst xmlns:a="http://schemas.openxmlformats.org/drawingml/2006/main">
              <a:ext uri="{FF2B5EF4-FFF2-40B4-BE49-F238E27FC236}">
                <a16:creationId xmlns:a16="http://schemas.microsoft.com/office/drawing/2014/main" id="{7EF93249-091F-4B8D-946C-8E9F74C37FCC}"/>
              </a:ext>
            </a:extLst>
          </p:cNvPr>
          <p:cNvSpPr>
            <a:spLocks xmlns:a="http://schemas.openxmlformats.org/drawingml/2006/main" noGrp="1"/>
          </p:cNvSpPr>
          <p:nvPr/>
        </p:nvSpPr>
        <p:spPr>
          <a:xfrm xmlns:a="http://schemas.openxmlformats.org/drawingml/2006/main">
            <a:off x="6019800" y="4171950"/>
            <a:ext cx="2247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i="0">
                <a:solidFill>
                  <a:srgbClr val="4C5B67"/>
                </a:solidFill>
                <a:latin typeface="Arial"/>
                <a:ea typeface="Arial"/>
                <a:cs typeface="Arial"/>
              </a:defRPr>
            </a:pPr>
            <a:r>
              <a:rPr sz="1125" b="0" i="0">
                <a:solidFill>
                  <a:srgbClr val="4C5B67"/>
                </a:solidFill>
                <a:latin typeface="Arial"/>
                <a:ea typeface="Arial"/>
                <a:cs typeface="Arial"/>
              </a:rPr>
              <a:t>Six companies with dated before/after primary sources</a:t>
            </a:r>
          </a:p>
        </p:txBody>
      </p:sp>
      <p:sp>
        <p:nvSpPr>
          <p:cNvPr id="19" name="">
            <a:extLst xmlns:a="http://schemas.openxmlformats.org/drawingml/2006/main">
              <a:ext uri="{FF2B5EF4-FFF2-40B4-BE49-F238E27FC236}">
                <a16:creationId xmlns:a16="http://schemas.microsoft.com/office/drawing/2014/main" id="{8516589C-9ED0-4EC9-A56B-40CBBBEB29AA}"/>
              </a:ext>
            </a:extLst>
          </p:cNvPr>
          <p:cNvSpPr>
            <a:spLocks xmlns:a="http://schemas.openxmlformats.org/drawingml/2006/main" noGrp="1"/>
          </p:cNvSpPr>
          <p:nvPr/>
        </p:nvSpPr>
        <p:spPr>
          <a:xfrm xmlns:a="http://schemas.openxmlformats.org/drawingml/2006/main">
            <a:off x="9620250" y="2552700"/>
            <a:ext cx="876300" cy="876300"/>
          </a:xfrm>
          <a:prstGeom xmlns:a="http://schemas.openxmlformats.org/drawingml/2006/main" prst="ellipse">
            <a:avLst/>
          </a:prstGeom>
          <a:solidFill xmlns:a="http://schemas.openxmlformats.org/drawingml/2006/main">
            <a:srgbClr val="A13B16"/>
          </a:solidFill>
          <a:ln xmlns:a="http://schemas.openxmlformats.org/drawingml/2006/main" w="0">
            <a:solidFill>
              <a:srgbClr val="A13B16"/>
            </a:solidFill>
            <a:prstDash val="solid"/>
          </a:ln>
        </p:spPr>
      </p:sp>
      <p:sp>
        <p:nvSpPr>
          <p:cNvPr id="20" name="">
            <a:extLst xmlns:a="http://schemas.openxmlformats.org/drawingml/2006/main">
              <a:ext uri="{FF2B5EF4-FFF2-40B4-BE49-F238E27FC236}">
                <a16:creationId xmlns:a16="http://schemas.microsoft.com/office/drawing/2014/main" id="{070C733F-AC6F-41BF-8D03-82D957A95CF3}"/>
              </a:ext>
            </a:extLst>
          </p:cNvPr>
          <p:cNvSpPr>
            <a:spLocks xmlns:a="http://schemas.openxmlformats.org/drawingml/2006/main" noGrp="1"/>
          </p:cNvSpPr>
          <p:nvPr/>
        </p:nvSpPr>
        <p:spPr>
          <a:xfrm xmlns:a="http://schemas.openxmlformats.org/drawingml/2006/main">
            <a:off x="9715500" y="2771775"/>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i="0">
                <a:solidFill>
                  <a:srgbClr val="FFFFFF"/>
                </a:solidFill>
                <a:latin typeface="Arial"/>
                <a:ea typeface="Arial"/>
                <a:cs typeface="Arial"/>
              </a:defRPr>
            </a:pPr>
            <a:r>
              <a:rPr sz="1425" b="1" i="0">
                <a:solidFill>
                  <a:srgbClr val="FFFFF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CBFB5956-D5D9-40C0-84F8-BCF2320AE97A}"/>
              </a:ext>
            </a:extLst>
          </p:cNvPr>
          <p:cNvSpPr>
            <a:spLocks xmlns:a="http://schemas.openxmlformats.org/drawingml/2006/main" noGrp="1"/>
          </p:cNvSpPr>
          <p:nvPr/>
        </p:nvSpPr>
        <p:spPr>
          <a:xfrm xmlns:a="http://schemas.openxmlformats.org/drawingml/2006/main">
            <a:off x="9124950" y="37147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i="0">
                <a:solidFill>
                  <a:srgbClr val="101820"/>
                </a:solidFill>
                <a:latin typeface="Arial"/>
                <a:ea typeface="Arial"/>
                <a:cs typeface="Arial"/>
              </a:defRPr>
            </a:pPr>
            <a:r>
              <a:rPr sz="1650" b="1" i="0">
                <a:solidFill>
                  <a:srgbClr val="101820"/>
                </a:solidFill>
                <a:latin typeface="Arial"/>
                <a:ea typeface="Arial"/>
                <a:cs typeface="Arial"/>
              </a:rPr>
              <a:t>GRADE</a:t>
            </a:r>
          </a:p>
        </p:txBody>
      </p:sp>
      <p:sp>
        <p:nvSpPr>
          <p:cNvPr id="22" name="">
            <a:extLst xmlns:a="http://schemas.openxmlformats.org/drawingml/2006/main">
              <a:ext uri="{FF2B5EF4-FFF2-40B4-BE49-F238E27FC236}">
                <a16:creationId xmlns:a16="http://schemas.microsoft.com/office/drawing/2014/main" id="{F81309F6-1150-4390-BA99-C2C31EACEAFA}"/>
              </a:ext>
            </a:extLst>
          </p:cNvPr>
          <p:cNvSpPr>
            <a:spLocks xmlns:a="http://schemas.openxmlformats.org/drawingml/2006/main" noGrp="1"/>
          </p:cNvSpPr>
          <p:nvPr/>
        </p:nvSpPr>
        <p:spPr>
          <a:xfrm xmlns:a="http://schemas.openxmlformats.org/drawingml/2006/main">
            <a:off x="8934450" y="4171950"/>
            <a:ext cx="2247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i="0">
                <a:solidFill>
                  <a:srgbClr val="4C5B67"/>
                </a:solidFill>
                <a:latin typeface="Arial"/>
                <a:ea typeface="Arial"/>
                <a:cs typeface="Arial"/>
              </a:defRPr>
            </a:pPr>
            <a:r>
              <a:rPr sz="1125" b="0" i="0">
                <a:solidFill>
                  <a:srgbClr val="4C5B67"/>
                </a:solidFill>
                <a:latin typeface="Arial"/>
                <a:ea typeface="Arial"/>
                <a:cs typeface="Arial"/>
              </a:rPr>
              <a:t>Code direction separately from causal evidence strength</a:t>
            </a:r>
          </a:p>
        </p:txBody>
      </p:sp>
      <p:sp>
        <p:nvSpPr>
          <p:cNvPr id="23" name="">
            <a:extLst xmlns:a="http://schemas.openxmlformats.org/drawingml/2006/main">
              <a:ext uri="{FF2B5EF4-FFF2-40B4-BE49-F238E27FC236}">
                <a16:creationId xmlns:a16="http://schemas.microsoft.com/office/drawing/2014/main" id="{C7651F47-D415-415C-ABEC-A31D7AE0EBE5}"/>
              </a:ext>
            </a:extLst>
          </p:cNvPr>
          <p:cNvSpPr>
            <a:spLocks xmlns:a="http://schemas.openxmlformats.org/drawingml/2006/main" noGrp="1"/>
          </p:cNvSpPr>
          <p:nvPr/>
        </p:nvSpPr>
        <p:spPr>
          <a:xfrm xmlns:a="http://schemas.openxmlformats.org/drawingml/2006/main">
            <a:off x="3295650" y="53340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i="0">
                <a:solidFill>
                  <a:srgbClr val="146EA8"/>
                </a:solidFill>
                <a:latin typeface="Arial"/>
                <a:ea typeface="Arial"/>
                <a:cs typeface="Arial"/>
              </a:defRPr>
            </a:pPr>
            <a:r>
              <a:rPr sz="1050" b="1" i="0">
                <a:solidFill>
                  <a:srgbClr val="146EA8"/>
                </a:solidFill>
                <a:latin typeface="Arial"/>
                <a:ea typeface="Arial"/>
                <a:cs typeface="Arial"/>
              </a:rPr>
              <a:t>Two-lane contribution</a:t>
            </a:r>
          </a:p>
        </p:txBody>
      </p:sp>
      <p:sp>
        <p:nvSpPr>
          <p:cNvPr id="24" name="">
            <a:extLst xmlns:a="http://schemas.openxmlformats.org/drawingml/2006/main">
              <a:ext uri="{FF2B5EF4-FFF2-40B4-BE49-F238E27FC236}">
                <a16:creationId xmlns:a16="http://schemas.microsoft.com/office/drawing/2014/main" id="{6EC02EF9-0583-432C-81D0-882A81B20585}"/>
              </a:ext>
            </a:extLst>
          </p:cNvPr>
          <p:cNvSpPr>
            <a:spLocks xmlns:a="http://schemas.openxmlformats.org/drawingml/2006/main" noGrp="1"/>
          </p:cNvSpPr>
          <p:nvPr/>
        </p:nvSpPr>
        <p:spPr>
          <a:xfrm xmlns:a="http://schemas.openxmlformats.org/drawingml/2006/main">
            <a:off x="5905500" y="528637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101820"/>
                </a:solidFill>
                <a:latin typeface="Arial"/>
                <a:ea typeface="Arial"/>
                <a:cs typeface="Arial"/>
              </a:defRPr>
            </a:pPr>
            <a:r>
              <a:rPr sz="1425" b="1" i="0">
                <a:solidFill>
                  <a:srgbClr val="101820"/>
                </a:solidFill>
                <a:latin typeface="Arial"/>
                <a:ea typeface="Arial"/>
                <a:cs typeface="Arial"/>
              </a:rPr>
              <a:t>The pilot validates the method; the historical cases provide directional findings.</a:t>
            </a:r>
          </a:p>
        </p:txBody>
      </p:sp>
      <p:sp>
        <p:nvSpPr>
          <p:cNvPr id="25" name="">
            <a:extLst xmlns:a="http://schemas.openxmlformats.org/drawingml/2006/main">
              <a:ext uri="{FF2B5EF4-FFF2-40B4-BE49-F238E27FC236}">
                <a16:creationId xmlns:a16="http://schemas.microsoft.com/office/drawing/2014/main" id="{4E2E1203-BC07-4851-AA8E-AC5DFA9E3E15}"/>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26" name="">
            <a:extLst xmlns:a="http://schemas.openxmlformats.org/drawingml/2006/main">
              <a:ext uri="{FF2B5EF4-FFF2-40B4-BE49-F238E27FC236}">
                <a16:creationId xmlns:a16="http://schemas.microsoft.com/office/drawing/2014/main" id="{85DF45D5-D527-4F9B-BEA9-6ECAA3A97A1D}"/>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Sources: local capture package; 12-source retrospective registry</a:t>
            </a:r>
          </a:p>
        </p:txBody>
      </p:sp>
    </p:spTree>
    <p:extLst>
      <p:ext uri="{BB962C8B-B14F-4D97-AF65-F5344CB8AC3E}">
        <p14:creationId xmlns:p14="http://schemas.microsoft.com/office/powerpoint/2010/main" val="18992770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D6BD633F-66A6-42AE-8956-87F7BE2E3FE5}"/>
              </a:ext>
            </a:extLst>
          </p:cNvPr>
          <p:cNvSpPr>
            <a:spLocks xmlns:a="http://schemas.openxmlformats.org/drawingml/2006/main" noGrp="1"/>
          </p:cNvSpPr>
          <p:nvPr/>
        </p:nvSpPr>
        <p:spPr>
          <a:xfrm xmlns:a="http://schemas.openxmlformats.org/drawingml/2006/main">
            <a:off x="400050" y="247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146EA8"/>
                </a:solidFill>
                <a:latin typeface="Arial"/>
                <a:ea typeface="Arial"/>
                <a:cs typeface="Arial"/>
              </a:defRPr>
            </a:pPr>
            <a:r>
              <a:rPr sz="825" b="1" i="0">
                <a:solidFill>
                  <a:srgbClr val="146EA8"/>
                </a:solidFill>
                <a:latin typeface="Arial"/>
                <a:ea typeface="Arial"/>
                <a:cs typeface="Arial"/>
              </a:rPr>
              <a:t>SSRP 2026 | LONGITUDINAL CONSENT STUDY</a:t>
            </a:r>
          </a:p>
        </p:txBody>
      </p:sp>
      <p:sp>
        <p:nvSpPr>
          <p:cNvPr id="2" name="">
            <a:extLst xmlns:a="http://schemas.openxmlformats.org/drawingml/2006/main">
              <a:ext uri="{FF2B5EF4-FFF2-40B4-BE49-F238E27FC236}">
                <a16:creationId xmlns:a16="http://schemas.microsoft.com/office/drawing/2014/main" id="{9B9A6B57-FDA8-4F17-9002-7605FB960E95}"/>
              </a:ext>
            </a:extLst>
          </p:cNvPr>
          <p:cNvSpPr>
            <a:spLocks xmlns:a="http://schemas.openxmlformats.org/drawingml/2006/main" noGrp="1"/>
          </p:cNvSpPr>
          <p:nvPr/>
        </p:nvSpPr>
        <p:spPr>
          <a:xfrm xmlns:a="http://schemas.openxmlformats.org/drawingml/2006/main">
            <a:off x="11334750" y="2571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73818B"/>
                </a:solidFill>
                <a:latin typeface="Arial"/>
                <a:ea typeface="Arial"/>
                <a:cs typeface="Arial"/>
              </a:defRPr>
            </a:pPr>
            <a:r>
              <a:rPr sz="750" b="0" i="0">
                <a:solidFill>
                  <a:srgbClr val="73818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F38E7B9-BBF1-4749-94CE-B736E0EC5BDE}"/>
              </a:ext>
            </a:extLst>
          </p:cNvPr>
          <p:cNvSpPr>
            <a:spLocks xmlns:a="http://schemas.openxmlformats.org/drawingml/2006/main" noGrp="1"/>
          </p:cNvSpPr>
          <p:nvPr/>
        </p:nvSpPr>
        <p:spPr>
          <a:xfrm xmlns:a="http://schemas.openxmlformats.org/drawingml/2006/main">
            <a:off x="400050" y="552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01820"/>
                </a:solidFill>
                <a:latin typeface="Arial"/>
                <a:ea typeface="Arial"/>
                <a:cs typeface="Arial"/>
              </a:defRPr>
            </a:pPr>
            <a:r>
              <a:rPr sz="2175" b="1" i="0">
                <a:solidFill>
                  <a:srgbClr val="101820"/>
                </a:solidFill>
                <a:latin typeface="Arial"/>
                <a:ea typeface="Arial"/>
                <a:cs typeface="Arial"/>
              </a:rPr>
              <a:t>Direction is coded at the component level</a:t>
            </a:r>
          </a:p>
        </p:txBody>
      </p:sp>
      <p:sp>
        <p:nvSpPr>
          <p:cNvPr id="4" name="">
            <a:extLst xmlns:a="http://schemas.openxmlformats.org/drawingml/2006/main">
              <a:ext uri="{FF2B5EF4-FFF2-40B4-BE49-F238E27FC236}">
                <a16:creationId xmlns:a16="http://schemas.microsoft.com/office/drawing/2014/main" id="{1526B159-2384-44EE-B217-D4737884BFD6}"/>
              </a:ext>
            </a:extLst>
          </p:cNvPr>
          <p:cNvSpPr>
            <a:spLocks xmlns:a="http://schemas.openxmlformats.org/drawingml/2006/main" noGrp="1"/>
          </p:cNvSpPr>
          <p:nvPr/>
        </p:nvSpPr>
        <p:spPr>
          <a:xfrm xmlns:a="http://schemas.openxmlformats.org/drawingml/2006/main">
            <a:off x="400050" y="1257300"/>
            <a:ext cx="11391900" cy="19050"/>
          </a:xfrm>
          <a:prstGeom xmlns:a="http://schemas.openxmlformats.org/drawingml/2006/main" prst="rect">
            <a:avLst/>
          </a:prstGeom>
          <a:solidFill xmlns:a="http://schemas.openxmlformats.org/drawingml/2006/main">
            <a:srgbClr val="D9E0E5"/>
          </a:solidFill>
          <a:ln xmlns:a="http://schemas.openxmlformats.org/drawingml/2006/main" w="0">
            <a:solidFill>
              <a:srgbClr val="D9E0E5"/>
            </a:solidFill>
            <a:prstDash val="solid"/>
          </a:ln>
        </p:spPr>
      </p:sp>
      <p:sp>
        <p:nvSpPr>
          <p:cNvPr id="5" name="">
            <a:extLst xmlns:a="http://schemas.openxmlformats.org/drawingml/2006/main">
              <a:ext uri="{FF2B5EF4-FFF2-40B4-BE49-F238E27FC236}">
                <a16:creationId xmlns:a16="http://schemas.microsoft.com/office/drawing/2014/main" id="{84826F30-20A9-4FF3-8449-F40A85A95C19}"/>
              </a:ext>
            </a:extLst>
          </p:cNvPr>
          <p:cNvSpPr>
            <a:spLocks xmlns:a="http://schemas.openxmlformats.org/drawingml/2006/main" noGrp="1"/>
          </p:cNvSpPr>
          <p:nvPr/>
        </p:nvSpPr>
        <p:spPr>
          <a:xfrm xmlns:a="http://schemas.openxmlformats.org/drawingml/2006/main">
            <a:off x="400050" y="1619250"/>
            <a:ext cx="11391900" cy="457200"/>
          </a:xfrm>
          <a:prstGeom xmlns:a="http://schemas.openxmlformats.org/drawingml/2006/main" prst="rect">
            <a:avLst/>
          </a:prstGeom>
          <a:solidFill xmlns:a="http://schemas.openxmlformats.org/drawingml/2006/main">
            <a:srgbClr val="101820"/>
          </a:solidFill>
          <a:ln xmlns:a="http://schemas.openxmlformats.org/drawingml/2006/main" w="0">
            <a:solidFill>
              <a:srgbClr val="101820"/>
            </a:solidFill>
            <a:prstDash val="solid"/>
          </a:ln>
        </p:spPr>
      </p:sp>
      <p:sp>
        <p:nvSpPr>
          <p:cNvPr id="6" name="">
            <a:extLst xmlns:a="http://schemas.openxmlformats.org/drawingml/2006/main">
              <a:ext uri="{FF2B5EF4-FFF2-40B4-BE49-F238E27FC236}">
                <a16:creationId xmlns:a16="http://schemas.microsoft.com/office/drawing/2014/main" id="{D111D720-D5C3-48A0-9AD0-77EF3399DEB3}"/>
              </a:ext>
            </a:extLst>
          </p:cNvPr>
          <p:cNvSpPr>
            <a:spLocks xmlns:a="http://schemas.openxmlformats.org/drawingml/2006/main" noGrp="1"/>
          </p:cNvSpPr>
          <p:nvPr/>
        </p:nvSpPr>
        <p:spPr>
          <a:xfrm xmlns:a="http://schemas.openxmlformats.org/drawingml/2006/main">
            <a:off x="514350" y="1733550"/>
            <a:ext cx="2247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FFFFF"/>
                </a:solidFill>
                <a:latin typeface="Arial"/>
                <a:ea typeface="Arial"/>
                <a:cs typeface="Arial"/>
              </a:defRPr>
            </a:pPr>
            <a:r>
              <a:rPr sz="1050" b="1" i="0">
                <a:solidFill>
                  <a:srgbClr val="FFFFFF"/>
                </a:solidFill>
                <a:latin typeface="Arial"/>
                <a:ea typeface="Arial"/>
                <a:cs typeface="Arial"/>
              </a:rPr>
              <a:t>Dimension</a:t>
            </a:r>
          </a:p>
        </p:txBody>
      </p:sp>
      <p:sp>
        <p:nvSpPr>
          <p:cNvPr id="7" name="">
            <a:extLst xmlns:a="http://schemas.openxmlformats.org/drawingml/2006/main">
              <a:ext uri="{FF2B5EF4-FFF2-40B4-BE49-F238E27FC236}">
                <a16:creationId xmlns:a16="http://schemas.microsoft.com/office/drawing/2014/main" id="{CFF753FA-8523-4652-A411-A4A613237DAE}"/>
              </a:ext>
            </a:extLst>
          </p:cNvPr>
          <p:cNvSpPr>
            <a:spLocks xmlns:a="http://schemas.openxmlformats.org/drawingml/2006/main" noGrp="1"/>
          </p:cNvSpPr>
          <p:nvPr/>
        </p:nvSpPr>
        <p:spPr>
          <a:xfrm xmlns:a="http://schemas.openxmlformats.org/drawingml/2006/main">
            <a:off x="2990850" y="173355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FFFFF"/>
                </a:solidFill>
                <a:latin typeface="Arial"/>
                <a:ea typeface="Arial"/>
                <a:cs typeface="Arial"/>
              </a:defRPr>
            </a:pPr>
            <a:r>
              <a:rPr sz="1050" b="1" i="0">
                <a:solidFill>
                  <a:srgbClr val="FFFFFF"/>
                </a:solidFill>
                <a:latin typeface="Arial"/>
                <a:ea typeface="Arial"/>
                <a:cs typeface="Arial"/>
              </a:rPr>
              <a:t>Improvement</a:t>
            </a:r>
          </a:p>
        </p:txBody>
      </p:sp>
      <p:sp>
        <p:nvSpPr>
          <p:cNvPr id="8" name="">
            <a:extLst xmlns:a="http://schemas.openxmlformats.org/drawingml/2006/main">
              <a:ext uri="{FF2B5EF4-FFF2-40B4-BE49-F238E27FC236}">
                <a16:creationId xmlns:a16="http://schemas.microsoft.com/office/drawing/2014/main" id="{5CF879D0-13D4-4EA8-920C-451955A3B7C4}"/>
              </a:ext>
            </a:extLst>
          </p:cNvPr>
          <p:cNvSpPr>
            <a:spLocks xmlns:a="http://schemas.openxmlformats.org/drawingml/2006/main" noGrp="1"/>
          </p:cNvSpPr>
          <p:nvPr/>
        </p:nvSpPr>
        <p:spPr>
          <a:xfrm xmlns:a="http://schemas.openxmlformats.org/drawingml/2006/main">
            <a:off x="6705600" y="173355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FFFFF"/>
                </a:solidFill>
                <a:latin typeface="Arial"/>
                <a:ea typeface="Arial"/>
                <a:cs typeface="Arial"/>
              </a:defRPr>
            </a:pPr>
            <a:r>
              <a:rPr sz="1050" b="1" i="0">
                <a:solidFill>
                  <a:srgbClr val="FFFFFF"/>
                </a:solidFill>
                <a:latin typeface="Arial"/>
                <a:ea typeface="Arial"/>
                <a:cs typeface="Arial"/>
              </a:rPr>
              <a:t>Regression</a:t>
            </a:r>
          </a:p>
        </p:txBody>
      </p:sp>
      <p:sp>
        <p:nvSpPr>
          <p:cNvPr id="9" name="">
            <a:extLst xmlns:a="http://schemas.openxmlformats.org/drawingml/2006/main">
              <a:ext uri="{FF2B5EF4-FFF2-40B4-BE49-F238E27FC236}">
                <a16:creationId xmlns:a16="http://schemas.microsoft.com/office/drawing/2014/main" id="{7C8E1EEA-3B72-4997-B08F-C78447D59071}"/>
              </a:ext>
            </a:extLst>
          </p:cNvPr>
          <p:cNvSpPr>
            <a:spLocks xmlns:a="http://schemas.openxmlformats.org/drawingml/2006/main" noGrp="1"/>
          </p:cNvSpPr>
          <p:nvPr/>
        </p:nvSpPr>
        <p:spPr>
          <a:xfrm xmlns:a="http://schemas.openxmlformats.org/drawingml/2006/main">
            <a:off x="10420350" y="1733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FFFFF"/>
                </a:solidFill>
                <a:latin typeface="Arial"/>
                <a:ea typeface="Arial"/>
                <a:cs typeface="Arial"/>
              </a:defRPr>
            </a:pPr>
            <a:r>
              <a:rPr sz="1050" b="1" i="0">
                <a:solidFill>
                  <a:srgbClr val="FFFFFF"/>
                </a:solidFill>
                <a:latin typeface="Arial"/>
                <a:ea typeface="Arial"/>
                <a:cs typeface="Arial"/>
              </a:rPr>
              <a:t>Evidence</a:t>
            </a:r>
          </a:p>
        </p:txBody>
      </p:sp>
      <p:sp>
        <p:nvSpPr>
          <p:cNvPr id="10" name="">
            <a:extLst xmlns:a="http://schemas.openxmlformats.org/drawingml/2006/main">
              <a:ext uri="{FF2B5EF4-FFF2-40B4-BE49-F238E27FC236}">
                <a16:creationId xmlns:a16="http://schemas.microsoft.com/office/drawing/2014/main" id="{750F9B5C-4958-4128-B5DF-9A8B8150C673}"/>
              </a:ext>
            </a:extLst>
          </p:cNvPr>
          <p:cNvSpPr>
            <a:spLocks xmlns:a="http://schemas.openxmlformats.org/drawingml/2006/main" noGrp="1"/>
          </p:cNvSpPr>
          <p:nvPr/>
        </p:nvSpPr>
        <p:spPr>
          <a:xfrm xmlns:a="http://schemas.openxmlformats.org/drawingml/2006/main">
            <a:off x="400050" y="2076450"/>
            <a:ext cx="11391900" cy="800100"/>
          </a:xfrm>
          <a:prstGeom xmlns:a="http://schemas.openxmlformats.org/drawingml/2006/main" prst="rect">
            <a:avLst/>
          </a:prstGeom>
          <a:solidFill xmlns:a="http://schemas.openxmlformats.org/drawingml/2006/main">
            <a:srgbClr val="F3F6F8"/>
          </a:solidFill>
          <a:ln xmlns:a="http://schemas.openxmlformats.org/drawingml/2006/main" w="9525">
            <a:solidFill>
              <a:srgbClr val="D9E0E5"/>
            </a:solidFill>
            <a:prstDash val="solid"/>
          </a:ln>
        </p:spPr>
      </p:sp>
      <p:sp>
        <p:nvSpPr>
          <p:cNvPr id="11" name="">
            <a:extLst xmlns:a="http://schemas.openxmlformats.org/drawingml/2006/main">
              <a:ext uri="{FF2B5EF4-FFF2-40B4-BE49-F238E27FC236}">
                <a16:creationId xmlns:a16="http://schemas.microsoft.com/office/drawing/2014/main" id="{82E4AA3C-91A4-4099-A42B-01295CCECF8E}"/>
              </a:ext>
            </a:extLst>
          </p:cNvPr>
          <p:cNvSpPr>
            <a:spLocks xmlns:a="http://schemas.openxmlformats.org/drawingml/2006/main" noGrp="1"/>
          </p:cNvSpPr>
          <p:nvPr/>
        </p:nvSpPr>
        <p:spPr>
          <a:xfrm xmlns:a="http://schemas.openxmlformats.org/drawingml/2006/main">
            <a:off x="514350" y="2247900"/>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01820"/>
                </a:solidFill>
                <a:latin typeface="Arial"/>
                <a:ea typeface="Arial"/>
                <a:cs typeface="Arial"/>
              </a:defRPr>
            </a:pPr>
            <a:r>
              <a:rPr sz="1200" b="1" i="0">
                <a:solidFill>
                  <a:srgbClr val="101820"/>
                </a:solidFill>
                <a:latin typeface="Arial"/>
                <a:ea typeface="Arial"/>
                <a:cs typeface="Arial"/>
              </a:rPr>
              <a:t>Availability</a:t>
            </a:r>
          </a:p>
        </p:txBody>
      </p:sp>
      <p:sp>
        <p:nvSpPr>
          <p:cNvPr id="12" name="">
            <a:extLst xmlns:a="http://schemas.openxmlformats.org/drawingml/2006/main">
              <a:ext uri="{FF2B5EF4-FFF2-40B4-BE49-F238E27FC236}">
                <a16:creationId xmlns:a16="http://schemas.microsoft.com/office/drawing/2014/main" id="{06B4F3FB-8606-4508-9811-4929B96EBABA}"/>
              </a:ext>
            </a:extLst>
          </p:cNvPr>
          <p:cNvSpPr>
            <a:spLocks xmlns:a="http://schemas.openxmlformats.org/drawingml/2006/main" noGrp="1"/>
          </p:cNvSpPr>
          <p:nvPr/>
        </p:nvSpPr>
        <p:spPr>
          <a:xfrm xmlns:a="http://schemas.openxmlformats.org/drawingml/2006/main">
            <a:off x="2990850" y="22479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8867F"/>
                </a:solidFill>
                <a:latin typeface="Arial"/>
                <a:ea typeface="Arial"/>
                <a:cs typeface="Arial"/>
              </a:defRPr>
            </a:pPr>
            <a:r>
              <a:rPr sz="1050" b="0" i="0">
                <a:solidFill>
                  <a:srgbClr val="18867F"/>
                </a:solidFill>
                <a:latin typeface="Arial"/>
                <a:ea typeface="Arial"/>
                <a:cs typeface="Arial"/>
              </a:rPr>
              <a:t>Reject or Customize becomes reachable</a:t>
            </a:r>
          </a:p>
        </p:txBody>
      </p:sp>
      <p:sp>
        <p:nvSpPr>
          <p:cNvPr id="13" name="">
            <a:extLst xmlns:a="http://schemas.openxmlformats.org/drawingml/2006/main">
              <a:ext uri="{FF2B5EF4-FFF2-40B4-BE49-F238E27FC236}">
                <a16:creationId xmlns:a16="http://schemas.microsoft.com/office/drawing/2014/main" id="{8C45F93F-25F1-43C5-99B9-DB4BD707D439}"/>
              </a:ext>
            </a:extLst>
          </p:cNvPr>
          <p:cNvSpPr>
            <a:spLocks xmlns:a="http://schemas.openxmlformats.org/drawingml/2006/main" noGrp="1"/>
          </p:cNvSpPr>
          <p:nvPr/>
        </p:nvSpPr>
        <p:spPr>
          <a:xfrm xmlns:a="http://schemas.openxmlformats.org/drawingml/2006/main">
            <a:off x="6705600" y="22479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A13B16"/>
                </a:solidFill>
                <a:latin typeface="Arial"/>
                <a:ea typeface="Arial"/>
                <a:cs typeface="Arial"/>
              </a:defRPr>
            </a:pPr>
            <a:r>
              <a:rPr sz="1050" b="0" i="0">
                <a:solidFill>
                  <a:srgbClr val="A13B16"/>
                </a:solidFill>
                <a:latin typeface="Arial"/>
                <a:ea typeface="Arial"/>
                <a:cs typeface="Arial"/>
              </a:rPr>
              <a:t>Reject or Customize becomes unreachable</a:t>
            </a:r>
          </a:p>
        </p:txBody>
      </p:sp>
      <p:sp>
        <p:nvSpPr>
          <p:cNvPr id="14" name="">
            <a:extLst xmlns:a="http://schemas.openxmlformats.org/drawingml/2006/main">
              <a:ext uri="{FF2B5EF4-FFF2-40B4-BE49-F238E27FC236}">
                <a16:creationId xmlns:a16="http://schemas.microsoft.com/office/drawing/2014/main" id="{D2895834-A25D-4220-864D-79013EBB9ECB}"/>
              </a:ext>
            </a:extLst>
          </p:cNvPr>
          <p:cNvSpPr>
            <a:spLocks xmlns:a="http://schemas.openxmlformats.org/drawingml/2006/main" noGrp="1"/>
          </p:cNvSpPr>
          <p:nvPr/>
        </p:nvSpPr>
        <p:spPr>
          <a:xfrm xmlns:a="http://schemas.openxmlformats.org/drawingml/2006/main">
            <a:off x="10420350" y="224790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01820"/>
                </a:solidFill>
                <a:latin typeface="Arial"/>
                <a:ea typeface="Arial"/>
                <a:cs typeface="Arial"/>
              </a:defRPr>
            </a:pPr>
            <a:r>
              <a:rPr sz="1050" b="0" i="0">
                <a:solidFill>
                  <a:srgbClr val="101820"/>
                </a:solidFill>
                <a:latin typeface="Arial"/>
                <a:ea typeface="Arial"/>
                <a:cs typeface="Arial"/>
              </a:rPr>
              <a:t>UI state</a:t>
            </a:r>
          </a:p>
        </p:txBody>
      </p:sp>
      <p:sp>
        <p:nvSpPr>
          <p:cNvPr id="15" name="">
            <a:extLst xmlns:a="http://schemas.openxmlformats.org/drawingml/2006/main">
              <a:ext uri="{FF2B5EF4-FFF2-40B4-BE49-F238E27FC236}">
                <a16:creationId xmlns:a16="http://schemas.microsoft.com/office/drawing/2014/main" id="{18FDFBC8-46BE-4D3C-AAF9-616A89AFE980}"/>
              </a:ext>
            </a:extLst>
          </p:cNvPr>
          <p:cNvSpPr>
            <a:spLocks xmlns:a="http://schemas.openxmlformats.org/drawingml/2006/main" noGrp="1"/>
          </p:cNvSpPr>
          <p:nvPr/>
        </p:nvSpPr>
        <p:spPr>
          <a:xfrm xmlns:a="http://schemas.openxmlformats.org/drawingml/2006/main">
            <a:off x="400050" y="2876550"/>
            <a:ext cx="11391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9E0E5"/>
            </a:solidFill>
            <a:prstDash val="solid"/>
          </a:ln>
        </p:spPr>
      </p:sp>
      <p:sp>
        <p:nvSpPr>
          <p:cNvPr id="16" name="">
            <a:extLst xmlns:a="http://schemas.openxmlformats.org/drawingml/2006/main">
              <a:ext uri="{FF2B5EF4-FFF2-40B4-BE49-F238E27FC236}">
                <a16:creationId xmlns:a16="http://schemas.microsoft.com/office/drawing/2014/main" id="{AE3AEDF3-0B28-4C66-90C2-4CE32828F10E}"/>
              </a:ext>
            </a:extLst>
          </p:cNvPr>
          <p:cNvSpPr>
            <a:spLocks xmlns:a="http://schemas.openxmlformats.org/drawingml/2006/main" noGrp="1"/>
          </p:cNvSpPr>
          <p:nvPr/>
        </p:nvSpPr>
        <p:spPr>
          <a:xfrm xmlns:a="http://schemas.openxmlformats.org/drawingml/2006/main">
            <a:off x="514350" y="3048000"/>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01820"/>
                </a:solidFill>
                <a:latin typeface="Arial"/>
                <a:ea typeface="Arial"/>
                <a:cs typeface="Arial"/>
              </a:defRPr>
            </a:pPr>
            <a:r>
              <a:rPr sz="1200" b="1" i="0">
                <a:solidFill>
                  <a:srgbClr val="101820"/>
                </a:solidFill>
                <a:latin typeface="Arial"/>
                <a:ea typeface="Arial"/>
                <a:cs typeface="Arial"/>
              </a:rPr>
              <a:t>Path effort</a:t>
            </a:r>
          </a:p>
        </p:txBody>
      </p:sp>
      <p:sp>
        <p:nvSpPr>
          <p:cNvPr id="17" name="">
            <a:extLst xmlns:a="http://schemas.openxmlformats.org/drawingml/2006/main">
              <a:ext uri="{FF2B5EF4-FFF2-40B4-BE49-F238E27FC236}">
                <a16:creationId xmlns:a16="http://schemas.microsoft.com/office/drawing/2014/main" id="{D7920713-6756-48A2-BCAE-B5F22A3F46E8}"/>
              </a:ext>
            </a:extLst>
          </p:cNvPr>
          <p:cNvSpPr>
            <a:spLocks xmlns:a="http://schemas.openxmlformats.org/drawingml/2006/main" noGrp="1"/>
          </p:cNvSpPr>
          <p:nvPr/>
        </p:nvSpPr>
        <p:spPr>
          <a:xfrm xmlns:a="http://schemas.openxmlformats.org/drawingml/2006/main">
            <a:off x="2990850" y="30480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8867F"/>
                </a:solidFill>
                <a:latin typeface="Arial"/>
                <a:ea typeface="Arial"/>
                <a:cs typeface="Arial"/>
              </a:defRPr>
            </a:pPr>
            <a:r>
              <a:rPr sz="1050" b="0" i="0">
                <a:solidFill>
                  <a:srgbClr val="18867F"/>
                </a:solidFill>
                <a:latin typeface="Arial"/>
                <a:ea typeface="Arial"/>
                <a:cs typeface="Arial"/>
              </a:rPr>
              <a:t>Fewer actions; parity with Accept</a:t>
            </a:r>
          </a:p>
        </p:txBody>
      </p:sp>
      <p:sp>
        <p:nvSpPr>
          <p:cNvPr id="18" name="">
            <a:extLst xmlns:a="http://schemas.openxmlformats.org/drawingml/2006/main">
              <a:ext uri="{FF2B5EF4-FFF2-40B4-BE49-F238E27FC236}">
                <a16:creationId xmlns:a16="http://schemas.microsoft.com/office/drawing/2014/main" id="{F3FAAF54-2D2E-4E71-B2ED-5468DB404ACC}"/>
              </a:ext>
            </a:extLst>
          </p:cNvPr>
          <p:cNvSpPr>
            <a:spLocks xmlns:a="http://schemas.openxmlformats.org/drawingml/2006/main" noGrp="1"/>
          </p:cNvSpPr>
          <p:nvPr/>
        </p:nvSpPr>
        <p:spPr>
          <a:xfrm xmlns:a="http://schemas.openxmlformats.org/drawingml/2006/main">
            <a:off x="6705600" y="30480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A13B16"/>
                </a:solidFill>
                <a:latin typeface="Arial"/>
                <a:ea typeface="Arial"/>
                <a:cs typeface="Arial"/>
              </a:defRPr>
            </a:pPr>
            <a:r>
              <a:rPr sz="1050" b="0" i="0">
                <a:solidFill>
                  <a:srgbClr val="A13B16"/>
                </a:solidFill>
                <a:latin typeface="Arial"/>
                <a:ea typeface="Arial"/>
                <a:cs typeface="Arial"/>
              </a:rPr>
              <a:t>More actions; greater asymmetry</a:t>
            </a:r>
          </a:p>
        </p:txBody>
      </p:sp>
      <p:sp>
        <p:nvSpPr>
          <p:cNvPr id="19" name="">
            <a:extLst xmlns:a="http://schemas.openxmlformats.org/drawingml/2006/main">
              <a:ext uri="{FF2B5EF4-FFF2-40B4-BE49-F238E27FC236}">
                <a16:creationId xmlns:a16="http://schemas.microsoft.com/office/drawing/2014/main" id="{605785CB-CF3F-4FFC-B619-F3B8FCE466C5}"/>
              </a:ext>
            </a:extLst>
          </p:cNvPr>
          <p:cNvSpPr>
            <a:spLocks xmlns:a="http://schemas.openxmlformats.org/drawingml/2006/main" noGrp="1"/>
          </p:cNvSpPr>
          <p:nvPr/>
        </p:nvSpPr>
        <p:spPr>
          <a:xfrm xmlns:a="http://schemas.openxmlformats.org/drawingml/2006/main">
            <a:off x="10420350" y="304800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01820"/>
                </a:solidFill>
                <a:latin typeface="Arial"/>
                <a:ea typeface="Arial"/>
                <a:cs typeface="Arial"/>
              </a:defRPr>
            </a:pPr>
            <a:r>
              <a:rPr sz="1050" b="0" i="0">
                <a:solidFill>
                  <a:srgbClr val="101820"/>
                </a:solidFill>
                <a:latin typeface="Arial"/>
                <a:ea typeface="Arial"/>
                <a:cs typeface="Arial"/>
              </a:rPr>
              <a:t>actions</a:t>
            </a:r>
          </a:p>
        </p:txBody>
      </p:sp>
      <p:sp>
        <p:nvSpPr>
          <p:cNvPr id="20" name="">
            <a:extLst xmlns:a="http://schemas.openxmlformats.org/drawingml/2006/main">
              <a:ext uri="{FF2B5EF4-FFF2-40B4-BE49-F238E27FC236}">
                <a16:creationId xmlns:a16="http://schemas.microsoft.com/office/drawing/2014/main" id="{552786B9-588C-4751-9CDE-BFB0A686AF3D}"/>
              </a:ext>
            </a:extLst>
          </p:cNvPr>
          <p:cNvSpPr>
            <a:spLocks xmlns:a="http://schemas.openxmlformats.org/drawingml/2006/main" noGrp="1"/>
          </p:cNvSpPr>
          <p:nvPr/>
        </p:nvSpPr>
        <p:spPr>
          <a:xfrm xmlns:a="http://schemas.openxmlformats.org/drawingml/2006/main">
            <a:off x="400050" y="3676650"/>
            <a:ext cx="11391900" cy="800100"/>
          </a:xfrm>
          <a:prstGeom xmlns:a="http://schemas.openxmlformats.org/drawingml/2006/main" prst="rect">
            <a:avLst/>
          </a:prstGeom>
          <a:solidFill xmlns:a="http://schemas.openxmlformats.org/drawingml/2006/main">
            <a:srgbClr val="F3F6F8"/>
          </a:solidFill>
          <a:ln xmlns:a="http://schemas.openxmlformats.org/drawingml/2006/main" w="9525">
            <a:solidFill>
              <a:srgbClr val="D9E0E5"/>
            </a:solidFill>
            <a:prstDash val="solid"/>
          </a:ln>
        </p:spPr>
      </p:sp>
      <p:sp>
        <p:nvSpPr>
          <p:cNvPr id="21" name="">
            <a:extLst xmlns:a="http://schemas.openxmlformats.org/drawingml/2006/main">
              <a:ext uri="{FF2B5EF4-FFF2-40B4-BE49-F238E27FC236}">
                <a16:creationId xmlns:a16="http://schemas.microsoft.com/office/drawing/2014/main" id="{82A10077-8AC7-4E13-9F25-B142EEC7BC8A}"/>
              </a:ext>
            </a:extLst>
          </p:cNvPr>
          <p:cNvSpPr>
            <a:spLocks xmlns:a="http://schemas.openxmlformats.org/drawingml/2006/main" noGrp="1"/>
          </p:cNvSpPr>
          <p:nvPr/>
        </p:nvSpPr>
        <p:spPr>
          <a:xfrm xmlns:a="http://schemas.openxmlformats.org/drawingml/2006/main">
            <a:off x="514350" y="3848100"/>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01820"/>
                </a:solidFill>
                <a:latin typeface="Arial"/>
                <a:ea typeface="Arial"/>
                <a:cs typeface="Arial"/>
              </a:defRPr>
            </a:pPr>
            <a:r>
              <a:rPr sz="1200" b="1" i="0">
                <a:solidFill>
                  <a:srgbClr val="101820"/>
                </a:solidFill>
                <a:latin typeface="Arial"/>
                <a:ea typeface="Arial"/>
                <a:cs typeface="Arial"/>
              </a:rPr>
              <a:t>Transparency</a:t>
            </a:r>
          </a:p>
        </p:txBody>
      </p:sp>
      <p:sp>
        <p:nvSpPr>
          <p:cNvPr id="22" name="">
            <a:extLst xmlns:a="http://schemas.openxmlformats.org/drawingml/2006/main">
              <a:ext uri="{FF2B5EF4-FFF2-40B4-BE49-F238E27FC236}">
                <a16:creationId xmlns:a16="http://schemas.microsoft.com/office/drawing/2014/main" id="{E7066D84-C48C-4B55-B5D6-339504C41A82}"/>
              </a:ext>
            </a:extLst>
          </p:cNvPr>
          <p:cNvSpPr>
            <a:spLocks xmlns:a="http://schemas.openxmlformats.org/drawingml/2006/main" noGrp="1"/>
          </p:cNvSpPr>
          <p:nvPr/>
        </p:nvSpPr>
        <p:spPr>
          <a:xfrm xmlns:a="http://schemas.openxmlformats.org/drawingml/2006/main">
            <a:off x="2990850" y="38481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8867F"/>
                </a:solidFill>
                <a:latin typeface="Arial"/>
                <a:ea typeface="Arial"/>
                <a:cs typeface="Arial"/>
              </a:defRPr>
            </a:pPr>
            <a:r>
              <a:rPr sz="1050" b="0" i="0">
                <a:solidFill>
                  <a:srgbClr val="18867F"/>
                </a:solidFill>
                <a:latin typeface="Arial"/>
                <a:ea typeface="Arial"/>
                <a:cs typeface="Arial"/>
              </a:rPr>
              <a:t>Purpose information becomes clearer</a:t>
            </a:r>
          </a:p>
        </p:txBody>
      </p:sp>
      <p:sp>
        <p:nvSpPr>
          <p:cNvPr id="23" name="">
            <a:extLst xmlns:a="http://schemas.openxmlformats.org/drawingml/2006/main">
              <a:ext uri="{FF2B5EF4-FFF2-40B4-BE49-F238E27FC236}">
                <a16:creationId xmlns:a16="http://schemas.microsoft.com/office/drawing/2014/main" id="{D3C1582F-5D38-4D21-91EB-C34BCF22E76B}"/>
              </a:ext>
            </a:extLst>
          </p:cNvPr>
          <p:cNvSpPr>
            <a:spLocks xmlns:a="http://schemas.openxmlformats.org/drawingml/2006/main" noGrp="1"/>
          </p:cNvSpPr>
          <p:nvPr/>
        </p:nvSpPr>
        <p:spPr>
          <a:xfrm xmlns:a="http://schemas.openxmlformats.org/drawingml/2006/main">
            <a:off x="6705600" y="38481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A13B16"/>
                </a:solidFill>
                <a:latin typeface="Arial"/>
                <a:ea typeface="Arial"/>
                <a:cs typeface="Arial"/>
              </a:defRPr>
            </a:pPr>
            <a:r>
              <a:rPr sz="1050" b="0" i="0">
                <a:solidFill>
                  <a:srgbClr val="A13B16"/>
                </a:solidFill>
                <a:latin typeface="Arial"/>
                <a:ea typeface="Arial"/>
                <a:cs typeface="Arial"/>
              </a:rPr>
              <a:t>Purpose information becomes weaker</a:t>
            </a:r>
          </a:p>
        </p:txBody>
      </p:sp>
      <p:sp>
        <p:nvSpPr>
          <p:cNvPr id="24" name="">
            <a:extLst xmlns:a="http://schemas.openxmlformats.org/drawingml/2006/main">
              <a:ext uri="{FF2B5EF4-FFF2-40B4-BE49-F238E27FC236}">
                <a16:creationId xmlns:a16="http://schemas.microsoft.com/office/drawing/2014/main" id="{D88C67B3-2551-4A92-A9FE-9081BA630920}"/>
              </a:ext>
            </a:extLst>
          </p:cNvPr>
          <p:cNvSpPr>
            <a:spLocks xmlns:a="http://schemas.openxmlformats.org/drawingml/2006/main" noGrp="1"/>
          </p:cNvSpPr>
          <p:nvPr/>
        </p:nvSpPr>
        <p:spPr>
          <a:xfrm xmlns:a="http://schemas.openxmlformats.org/drawingml/2006/main">
            <a:off x="10420350" y="384810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01820"/>
                </a:solidFill>
                <a:latin typeface="Arial"/>
                <a:ea typeface="Arial"/>
                <a:cs typeface="Arial"/>
              </a:defRPr>
            </a:pPr>
            <a:r>
              <a:rPr sz="1050" b="0" i="0">
                <a:solidFill>
                  <a:srgbClr val="101820"/>
                </a:solidFill>
                <a:latin typeface="Arial"/>
                <a:ea typeface="Arial"/>
                <a:cs typeface="Arial"/>
              </a:rPr>
              <a:t>decision text</a:t>
            </a:r>
          </a:p>
        </p:txBody>
      </p:sp>
      <p:sp>
        <p:nvSpPr>
          <p:cNvPr id="25" name="">
            <a:extLst xmlns:a="http://schemas.openxmlformats.org/drawingml/2006/main">
              <a:ext uri="{FF2B5EF4-FFF2-40B4-BE49-F238E27FC236}">
                <a16:creationId xmlns:a16="http://schemas.microsoft.com/office/drawing/2014/main" id="{F217F5A3-74A0-4F6A-B4B7-CED6E8CF6DAD}"/>
              </a:ext>
            </a:extLst>
          </p:cNvPr>
          <p:cNvSpPr>
            <a:spLocks xmlns:a="http://schemas.openxmlformats.org/drawingml/2006/main" noGrp="1"/>
          </p:cNvSpPr>
          <p:nvPr/>
        </p:nvSpPr>
        <p:spPr>
          <a:xfrm xmlns:a="http://schemas.openxmlformats.org/drawingml/2006/main">
            <a:off x="400050" y="4476750"/>
            <a:ext cx="11391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9E0E5"/>
            </a:solidFill>
            <a:prstDash val="solid"/>
          </a:ln>
        </p:spPr>
      </p:sp>
      <p:sp>
        <p:nvSpPr>
          <p:cNvPr id="26" name="">
            <a:extLst xmlns:a="http://schemas.openxmlformats.org/drawingml/2006/main">
              <a:ext uri="{FF2B5EF4-FFF2-40B4-BE49-F238E27FC236}">
                <a16:creationId xmlns:a16="http://schemas.microsoft.com/office/drawing/2014/main" id="{F84F05F7-91C5-49F9-802E-B3920B07A499}"/>
              </a:ext>
            </a:extLst>
          </p:cNvPr>
          <p:cNvSpPr>
            <a:spLocks xmlns:a="http://schemas.openxmlformats.org/drawingml/2006/main" noGrp="1"/>
          </p:cNvSpPr>
          <p:nvPr/>
        </p:nvSpPr>
        <p:spPr>
          <a:xfrm xmlns:a="http://schemas.openxmlformats.org/drawingml/2006/main">
            <a:off x="514350" y="4648200"/>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01820"/>
                </a:solidFill>
                <a:latin typeface="Arial"/>
                <a:ea typeface="Arial"/>
                <a:cs typeface="Arial"/>
              </a:defRPr>
            </a:pPr>
            <a:r>
              <a:rPr sz="1200" b="1" i="0">
                <a:solidFill>
                  <a:srgbClr val="101820"/>
                </a:solidFill>
                <a:latin typeface="Arial"/>
                <a:ea typeface="Arial"/>
                <a:cs typeface="Arial"/>
              </a:rPr>
              <a:t>Choice + effect</a:t>
            </a:r>
          </a:p>
        </p:txBody>
      </p:sp>
      <p:sp>
        <p:nvSpPr>
          <p:cNvPr id="27" name="">
            <a:extLst xmlns:a="http://schemas.openxmlformats.org/drawingml/2006/main">
              <a:ext uri="{FF2B5EF4-FFF2-40B4-BE49-F238E27FC236}">
                <a16:creationId xmlns:a16="http://schemas.microsoft.com/office/drawing/2014/main" id="{3F0AF410-42B9-438E-AF8E-A29244CF3206}"/>
              </a:ext>
            </a:extLst>
          </p:cNvPr>
          <p:cNvSpPr>
            <a:spLocks xmlns:a="http://schemas.openxmlformats.org/drawingml/2006/main" noGrp="1"/>
          </p:cNvSpPr>
          <p:nvPr/>
        </p:nvSpPr>
        <p:spPr>
          <a:xfrm xmlns:a="http://schemas.openxmlformats.org/drawingml/2006/main">
            <a:off x="2990850" y="46482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8867F"/>
                </a:solidFill>
                <a:latin typeface="Arial"/>
                <a:ea typeface="Arial"/>
                <a:cs typeface="Arial"/>
              </a:defRPr>
            </a:pPr>
            <a:r>
              <a:rPr sz="1050" b="0" i="0">
                <a:solidFill>
                  <a:srgbClr val="18867F"/>
                </a:solidFill>
                <a:latin typeface="Arial"/>
                <a:ea typeface="Arial"/>
                <a:cs typeface="Arial"/>
              </a:rPr>
              <a:t>Parity improves; refusal stops tracking</a:t>
            </a:r>
          </a:p>
        </p:txBody>
      </p:sp>
      <p:sp>
        <p:nvSpPr>
          <p:cNvPr id="28" name="">
            <a:extLst xmlns:a="http://schemas.openxmlformats.org/drawingml/2006/main">
              <a:ext uri="{FF2B5EF4-FFF2-40B4-BE49-F238E27FC236}">
                <a16:creationId xmlns:a16="http://schemas.microsoft.com/office/drawing/2014/main" id="{E4094BED-DCE5-454A-8504-F526A8E8FC8D}"/>
              </a:ext>
            </a:extLst>
          </p:cNvPr>
          <p:cNvSpPr>
            <a:spLocks xmlns:a="http://schemas.openxmlformats.org/drawingml/2006/main" noGrp="1"/>
          </p:cNvSpPr>
          <p:nvPr/>
        </p:nvSpPr>
        <p:spPr>
          <a:xfrm xmlns:a="http://schemas.openxmlformats.org/drawingml/2006/main">
            <a:off x="6705600" y="46482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A13B16"/>
                </a:solidFill>
                <a:latin typeface="Arial"/>
                <a:ea typeface="Arial"/>
                <a:cs typeface="Arial"/>
              </a:defRPr>
            </a:pPr>
            <a:r>
              <a:rPr sz="1050" b="0" i="0">
                <a:solidFill>
                  <a:srgbClr val="A13B16"/>
                </a:solidFill>
                <a:latin typeface="Arial"/>
                <a:ea typeface="Arial"/>
                <a:cs typeface="Arial"/>
              </a:rPr>
              <a:t>Asymmetry rises or tracking continues</a:t>
            </a:r>
          </a:p>
        </p:txBody>
      </p:sp>
      <p:sp>
        <p:nvSpPr>
          <p:cNvPr id="29" name="">
            <a:extLst xmlns:a="http://schemas.openxmlformats.org/drawingml/2006/main">
              <a:ext uri="{FF2B5EF4-FFF2-40B4-BE49-F238E27FC236}">
                <a16:creationId xmlns:a16="http://schemas.microsoft.com/office/drawing/2014/main" id="{F5783572-2CB4-4D8C-86B9-C93CDEC470CA}"/>
              </a:ext>
            </a:extLst>
          </p:cNvPr>
          <p:cNvSpPr>
            <a:spLocks xmlns:a="http://schemas.openxmlformats.org/drawingml/2006/main" noGrp="1"/>
          </p:cNvSpPr>
          <p:nvPr/>
        </p:nvSpPr>
        <p:spPr>
          <a:xfrm xmlns:a="http://schemas.openxmlformats.org/drawingml/2006/main">
            <a:off x="10420350" y="464820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01820"/>
                </a:solidFill>
                <a:latin typeface="Arial"/>
                <a:ea typeface="Arial"/>
                <a:cs typeface="Arial"/>
              </a:defRPr>
            </a:pPr>
            <a:r>
              <a:rPr sz="1050" b="0" i="0">
                <a:solidFill>
                  <a:srgbClr val="101820"/>
                </a:solidFill>
                <a:latin typeface="Arial"/>
                <a:ea typeface="Arial"/>
                <a:cs typeface="Arial"/>
              </a:rPr>
              <a:t>UI + cookies</a:t>
            </a:r>
          </a:p>
        </p:txBody>
      </p:sp>
      <p:sp>
        <p:nvSpPr>
          <p:cNvPr id="30" name="">
            <a:extLst xmlns:a="http://schemas.openxmlformats.org/drawingml/2006/main">
              <a:ext uri="{FF2B5EF4-FFF2-40B4-BE49-F238E27FC236}">
                <a16:creationId xmlns:a16="http://schemas.microsoft.com/office/drawing/2014/main" id="{381EF00D-098C-430B-A7CE-E4F780E6D0E8}"/>
              </a:ext>
            </a:extLst>
          </p:cNvPr>
          <p:cNvSpPr>
            <a:spLocks xmlns:a="http://schemas.openxmlformats.org/drawingml/2006/main" noGrp="1"/>
          </p:cNvSpPr>
          <p:nvPr/>
        </p:nvSpPr>
        <p:spPr>
          <a:xfrm xmlns:a="http://schemas.openxmlformats.org/drawingml/2006/main">
            <a:off x="628650" y="5429250"/>
            <a:ext cx="1714500" cy="285750"/>
          </a:xfrm>
          <a:prstGeom xmlns:a="http://schemas.openxmlformats.org/drawingml/2006/main" prst="roundRect">
            <a:avLst>
              <a:gd name="adj" fmla="val 13333"/>
            </a:avLst>
          </a:prstGeom>
          <a:solidFill xmlns:a="http://schemas.openxmlformats.org/drawingml/2006/main">
            <a:srgbClr val="DCEFEB"/>
          </a:solidFill>
          <a:ln xmlns:a="http://schemas.openxmlformats.org/drawingml/2006/main" w="0">
            <a:solidFill>
              <a:srgbClr val="DCEFEB"/>
            </a:solidFill>
            <a:prstDash val="solid"/>
          </a:ln>
        </p:spPr>
      </p:sp>
      <p:sp>
        <p:nvSpPr>
          <p:cNvPr id="31" name="">
            <a:extLst xmlns:a="http://schemas.openxmlformats.org/drawingml/2006/main">
              <a:ext uri="{FF2B5EF4-FFF2-40B4-BE49-F238E27FC236}">
                <a16:creationId xmlns:a16="http://schemas.microsoft.com/office/drawing/2014/main" id="{F52493A5-1163-4265-A0BB-DB1742DE5EDC}"/>
              </a:ext>
            </a:extLst>
          </p:cNvPr>
          <p:cNvSpPr>
            <a:spLocks xmlns:a="http://schemas.openxmlformats.org/drawingml/2006/main" noGrp="1"/>
          </p:cNvSpPr>
          <p:nvPr/>
        </p:nvSpPr>
        <p:spPr>
          <a:xfrm xmlns:a="http://schemas.openxmlformats.org/drawingml/2006/main">
            <a:off x="704850" y="547687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18867F"/>
                </a:solidFill>
                <a:latin typeface="Arial"/>
                <a:ea typeface="Arial"/>
                <a:cs typeface="Arial"/>
              </a:defRPr>
            </a:pPr>
            <a:r>
              <a:rPr sz="975" b="1" i="0">
                <a:solidFill>
                  <a:srgbClr val="18867F"/>
                </a:solidFill>
                <a:latin typeface="Arial"/>
                <a:ea typeface="Arial"/>
                <a:cs typeface="Arial"/>
              </a:rPr>
              <a:t>IMPROVED</a:t>
            </a:r>
          </a:p>
        </p:txBody>
      </p:sp>
      <p:sp>
        <p:nvSpPr>
          <p:cNvPr id="32" name="">
            <a:extLst xmlns:a="http://schemas.openxmlformats.org/drawingml/2006/main">
              <a:ext uri="{FF2B5EF4-FFF2-40B4-BE49-F238E27FC236}">
                <a16:creationId xmlns:a16="http://schemas.microsoft.com/office/drawing/2014/main" id="{AA035ECF-4C05-4453-9BCA-0BED06A885B0}"/>
              </a:ext>
            </a:extLst>
          </p:cNvPr>
          <p:cNvSpPr>
            <a:spLocks xmlns:a="http://schemas.openxmlformats.org/drawingml/2006/main" noGrp="1"/>
          </p:cNvSpPr>
          <p:nvPr/>
        </p:nvSpPr>
        <p:spPr>
          <a:xfrm xmlns:a="http://schemas.openxmlformats.org/drawingml/2006/main">
            <a:off x="2552700" y="5429250"/>
            <a:ext cx="1714500" cy="285750"/>
          </a:xfrm>
          <a:prstGeom xmlns:a="http://schemas.openxmlformats.org/drawingml/2006/main" prst="roundRect">
            <a:avLst>
              <a:gd name="adj" fmla="val 13333"/>
            </a:avLst>
          </a:prstGeom>
          <a:solidFill xmlns:a="http://schemas.openxmlformats.org/drawingml/2006/main">
            <a:srgbClr val="F6E6DF"/>
          </a:solidFill>
          <a:ln xmlns:a="http://schemas.openxmlformats.org/drawingml/2006/main" w="0">
            <a:solidFill>
              <a:srgbClr val="F6E6DF"/>
            </a:solidFill>
            <a:prstDash val="solid"/>
          </a:ln>
        </p:spPr>
      </p:sp>
      <p:sp>
        <p:nvSpPr>
          <p:cNvPr id="33" name="">
            <a:extLst xmlns:a="http://schemas.openxmlformats.org/drawingml/2006/main">
              <a:ext uri="{FF2B5EF4-FFF2-40B4-BE49-F238E27FC236}">
                <a16:creationId xmlns:a16="http://schemas.microsoft.com/office/drawing/2014/main" id="{18E9FDDA-3BED-4E3B-8A54-CD8C78B39500}"/>
              </a:ext>
            </a:extLst>
          </p:cNvPr>
          <p:cNvSpPr>
            <a:spLocks xmlns:a="http://schemas.openxmlformats.org/drawingml/2006/main" noGrp="1"/>
          </p:cNvSpPr>
          <p:nvPr/>
        </p:nvSpPr>
        <p:spPr>
          <a:xfrm xmlns:a="http://schemas.openxmlformats.org/drawingml/2006/main">
            <a:off x="2628900" y="547687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A13B16"/>
                </a:solidFill>
                <a:latin typeface="Arial"/>
                <a:ea typeface="Arial"/>
                <a:cs typeface="Arial"/>
              </a:defRPr>
            </a:pPr>
            <a:r>
              <a:rPr sz="975" b="1" i="0">
                <a:solidFill>
                  <a:srgbClr val="A13B16"/>
                </a:solidFill>
                <a:latin typeface="Arial"/>
                <a:ea typeface="Arial"/>
                <a:cs typeface="Arial"/>
              </a:rPr>
              <a:t>REGRESSED</a:t>
            </a:r>
          </a:p>
        </p:txBody>
      </p:sp>
      <p:sp>
        <p:nvSpPr>
          <p:cNvPr id="34" name="">
            <a:extLst xmlns:a="http://schemas.openxmlformats.org/drawingml/2006/main">
              <a:ext uri="{FF2B5EF4-FFF2-40B4-BE49-F238E27FC236}">
                <a16:creationId xmlns:a16="http://schemas.microsoft.com/office/drawing/2014/main" id="{397480B3-D601-456D-98A7-64C0F1B12E55}"/>
              </a:ext>
            </a:extLst>
          </p:cNvPr>
          <p:cNvSpPr>
            <a:spLocks xmlns:a="http://schemas.openxmlformats.org/drawingml/2006/main" noGrp="1"/>
          </p:cNvSpPr>
          <p:nvPr/>
        </p:nvSpPr>
        <p:spPr>
          <a:xfrm xmlns:a="http://schemas.openxmlformats.org/drawingml/2006/main">
            <a:off x="4476750" y="5429250"/>
            <a:ext cx="1714500" cy="285750"/>
          </a:xfrm>
          <a:prstGeom xmlns:a="http://schemas.openxmlformats.org/drawingml/2006/main" prst="roundRect">
            <a:avLst>
              <a:gd name="adj" fmla="val 13333"/>
            </a:avLst>
          </a:prstGeom>
          <a:solidFill xmlns:a="http://schemas.openxmlformats.org/drawingml/2006/main">
            <a:srgbClr val="FBF3D0"/>
          </a:solidFill>
          <a:ln xmlns:a="http://schemas.openxmlformats.org/drawingml/2006/main" w="0">
            <a:solidFill>
              <a:srgbClr val="FBF3D0"/>
            </a:solidFill>
            <a:prstDash val="solid"/>
          </a:ln>
        </p:spPr>
      </p:sp>
      <p:sp>
        <p:nvSpPr>
          <p:cNvPr id="35" name="">
            <a:extLst xmlns:a="http://schemas.openxmlformats.org/drawingml/2006/main">
              <a:ext uri="{FF2B5EF4-FFF2-40B4-BE49-F238E27FC236}">
                <a16:creationId xmlns:a16="http://schemas.microsoft.com/office/drawing/2014/main" id="{89661697-9978-45A5-AF54-6F227940E972}"/>
              </a:ext>
            </a:extLst>
          </p:cNvPr>
          <p:cNvSpPr>
            <a:spLocks xmlns:a="http://schemas.openxmlformats.org/drawingml/2006/main" noGrp="1"/>
          </p:cNvSpPr>
          <p:nvPr/>
        </p:nvSpPr>
        <p:spPr>
          <a:xfrm xmlns:a="http://schemas.openxmlformats.org/drawingml/2006/main">
            <a:off x="4552950" y="547687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101820"/>
                </a:solidFill>
                <a:latin typeface="Arial"/>
                <a:ea typeface="Arial"/>
                <a:cs typeface="Arial"/>
              </a:defRPr>
            </a:pPr>
            <a:r>
              <a:rPr sz="975" b="1" i="0">
                <a:solidFill>
                  <a:srgbClr val="101820"/>
                </a:solidFill>
                <a:latin typeface="Arial"/>
                <a:ea typeface="Arial"/>
                <a:cs typeface="Arial"/>
              </a:rPr>
              <a:t>MIXED</a:t>
            </a:r>
          </a:p>
        </p:txBody>
      </p:sp>
      <p:sp>
        <p:nvSpPr>
          <p:cNvPr id="36" name="">
            <a:extLst xmlns:a="http://schemas.openxmlformats.org/drawingml/2006/main">
              <a:ext uri="{FF2B5EF4-FFF2-40B4-BE49-F238E27FC236}">
                <a16:creationId xmlns:a16="http://schemas.microsoft.com/office/drawing/2014/main" id="{ACD53D9A-B736-4462-8DB7-2DD97CAFDA68}"/>
              </a:ext>
            </a:extLst>
          </p:cNvPr>
          <p:cNvSpPr>
            <a:spLocks xmlns:a="http://schemas.openxmlformats.org/drawingml/2006/main" noGrp="1"/>
          </p:cNvSpPr>
          <p:nvPr/>
        </p:nvSpPr>
        <p:spPr>
          <a:xfrm xmlns:a="http://schemas.openxmlformats.org/drawingml/2006/main">
            <a:off x="6400800" y="5429250"/>
            <a:ext cx="1714500" cy="285750"/>
          </a:xfrm>
          <a:prstGeom xmlns:a="http://schemas.openxmlformats.org/drawingml/2006/main" prst="roundRect">
            <a:avLst>
              <a:gd name="adj" fmla="val 13333"/>
            </a:avLst>
          </a:prstGeom>
          <a:solidFill xmlns:a="http://schemas.openxmlformats.org/drawingml/2006/main">
            <a:srgbClr val="DDF2FA"/>
          </a:solidFill>
          <a:ln xmlns:a="http://schemas.openxmlformats.org/drawingml/2006/main" w="0">
            <a:solidFill>
              <a:srgbClr val="DDF2FA"/>
            </a:solidFill>
            <a:prstDash val="solid"/>
          </a:ln>
        </p:spPr>
      </p:sp>
      <p:sp>
        <p:nvSpPr>
          <p:cNvPr id="37" name="">
            <a:extLst xmlns:a="http://schemas.openxmlformats.org/drawingml/2006/main">
              <a:ext uri="{FF2B5EF4-FFF2-40B4-BE49-F238E27FC236}">
                <a16:creationId xmlns:a16="http://schemas.microsoft.com/office/drawing/2014/main" id="{F3BF324D-8403-4944-AB0F-DB00D526FA56}"/>
              </a:ext>
            </a:extLst>
          </p:cNvPr>
          <p:cNvSpPr>
            <a:spLocks xmlns:a="http://schemas.openxmlformats.org/drawingml/2006/main" noGrp="1"/>
          </p:cNvSpPr>
          <p:nvPr/>
        </p:nvSpPr>
        <p:spPr>
          <a:xfrm xmlns:a="http://schemas.openxmlformats.org/drawingml/2006/main">
            <a:off x="6477000" y="547687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146EA8"/>
                </a:solidFill>
                <a:latin typeface="Arial"/>
                <a:ea typeface="Arial"/>
                <a:cs typeface="Arial"/>
              </a:defRPr>
            </a:pPr>
            <a:r>
              <a:rPr sz="975" b="1" i="0">
                <a:solidFill>
                  <a:srgbClr val="146EA8"/>
                </a:solidFill>
                <a:latin typeface="Arial"/>
                <a:ea typeface="Arial"/>
                <a:cs typeface="Arial"/>
              </a:rPr>
              <a:t>STABLE</a:t>
            </a:r>
          </a:p>
        </p:txBody>
      </p:sp>
      <p:sp>
        <p:nvSpPr>
          <p:cNvPr id="38" name="">
            <a:extLst xmlns:a="http://schemas.openxmlformats.org/drawingml/2006/main">
              <a:ext uri="{FF2B5EF4-FFF2-40B4-BE49-F238E27FC236}">
                <a16:creationId xmlns:a16="http://schemas.microsoft.com/office/drawing/2014/main" id="{CCC48BC2-B89C-48B2-A50A-1F0BE13B8CC0}"/>
              </a:ext>
            </a:extLst>
          </p:cNvPr>
          <p:cNvSpPr>
            <a:spLocks xmlns:a="http://schemas.openxmlformats.org/drawingml/2006/main" noGrp="1"/>
          </p:cNvSpPr>
          <p:nvPr/>
        </p:nvSpPr>
        <p:spPr>
          <a:xfrm xmlns:a="http://schemas.openxmlformats.org/drawingml/2006/main">
            <a:off x="8324850" y="5429250"/>
            <a:ext cx="2857500" cy="285750"/>
          </a:xfrm>
          <a:prstGeom xmlns:a="http://schemas.openxmlformats.org/drawingml/2006/main" prst="roundRect">
            <a:avLst>
              <a:gd name="adj" fmla="val 13333"/>
            </a:avLst>
          </a:prstGeom>
          <a:solidFill xmlns:a="http://schemas.openxmlformats.org/drawingml/2006/main">
            <a:srgbClr val="F3F6F8"/>
          </a:solidFill>
          <a:ln xmlns:a="http://schemas.openxmlformats.org/drawingml/2006/main" w="0">
            <a:solidFill>
              <a:srgbClr val="F3F6F8"/>
            </a:solidFill>
            <a:prstDash val="solid"/>
          </a:ln>
        </p:spPr>
      </p:sp>
      <p:sp>
        <p:nvSpPr>
          <p:cNvPr id="39" name="">
            <a:extLst xmlns:a="http://schemas.openxmlformats.org/drawingml/2006/main">
              <a:ext uri="{FF2B5EF4-FFF2-40B4-BE49-F238E27FC236}">
                <a16:creationId xmlns:a16="http://schemas.microsoft.com/office/drawing/2014/main" id="{953CA8DB-BCB8-4C55-B63E-75FD29D00E62}"/>
              </a:ext>
            </a:extLst>
          </p:cNvPr>
          <p:cNvSpPr>
            <a:spLocks xmlns:a="http://schemas.openxmlformats.org/drawingml/2006/main" noGrp="1"/>
          </p:cNvSpPr>
          <p:nvPr/>
        </p:nvSpPr>
        <p:spPr>
          <a:xfrm xmlns:a="http://schemas.openxmlformats.org/drawingml/2006/main">
            <a:off x="8401050" y="5476875"/>
            <a:ext cx="2705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4C5B67"/>
                </a:solidFill>
                <a:latin typeface="Arial"/>
                <a:ea typeface="Arial"/>
                <a:cs typeface="Arial"/>
              </a:defRPr>
            </a:pPr>
            <a:r>
              <a:rPr sz="975" b="1" i="0">
                <a:solidFill>
                  <a:srgbClr val="4C5B67"/>
                </a:solidFill>
                <a:latin typeface="Arial"/>
                <a:ea typeface="Arial"/>
                <a:cs typeface="Arial"/>
              </a:rPr>
              <a:t>INSUFFICIENT</a:t>
            </a:r>
          </a:p>
        </p:txBody>
      </p:sp>
      <p:sp>
        <p:nvSpPr>
          <p:cNvPr id="40" name="">
            <a:extLst xmlns:a="http://schemas.openxmlformats.org/drawingml/2006/main">
              <a:ext uri="{FF2B5EF4-FFF2-40B4-BE49-F238E27FC236}">
                <a16:creationId xmlns:a16="http://schemas.microsoft.com/office/drawing/2014/main" id="{D38D0207-F2C1-4AD8-8E99-7C124CE95339}"/>
              </a:ext>
            </a:extLst>
          </p:cNvPr>
          <p:cNvSpPr>
            <a:spLocks xmlns:a="http://schemas.openxmlformats.org/drawingml/2006/main" noGrp="1"/>
          </p:cNvSpPr>
          <p:nvPr/>
        </p:nvSpPr>
        <p:spPr>
          <a:xfrm xmlns:a="http://schemas.openxmlformats.org/drawingml/2006/main">
            <a:off x="1905000" y="59436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4C5B67"/>
                </a:solidFill>
                <a:latin typeface="Arial"/>
                <a:ea typeface="Arial"/>
                <a:cs typeface="Arial"/>
              </a:defRPr>
            </a:pPr>
            <a:r>
              <a:rPr sz="1275" b="1" i="0">
                <a:solidFill>
                  <a:srgbClr val="4C5B67"/>
                </a:solidFill>
                <a:latin typeface="Arial"/>
                <a:ea typeface="Arial"/>
                <a:cs typeface="Arial"/>
              </a:rPr>
              <a:t>A direction requires dated, comparable evidence; a cause requires stronger attribution.</a:t>
            </a:r>
          </a:p>
        </p:txBody>
      </p:sp>
      <p:sp>
        <p:nvSpPr>
          <p:cNvPr id="41" name="">
            <a:extLst xmlns:a="http://schemas.openxmlformats.org/drawingml/2006/main">
              <a:ext uri="{FF2B5EF4-FFF2-40B4-BE49-F238E27FC236}">
                <a16:creationId xmlns:a16="http://schemas.microsoft.com/office/drawing/2014/main" id="{2B3ED488-A1F4-446F-8D83-C9D4B6077E76}"/>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42" name="">
            <a:extLst xmlns:a="http://schemas.openxmlformats.org/drawingml/2006/main">
              <a:ext uri="{FF2B5EF4-FFF2-40B4-BE49-F238E27FC236}">
                <a16:creationId xmlns:a16="http://schemas.microsoft.com/office/drawing/2014/main" id="{096C5427-708A-467B-96A1-2B830F912BD6}"/>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Protocol: CONCEPTS.md | retrospective case table</a:t>
            </a:r>
          </a:p>
        </p:txBody>
      </p:sp>
    </p:spTree>
    <p:extLst>
      <p:ext uri="{BB962C8B-B14F-4D97-AF65-F5344CB8AC3E}">
        <p14:creationId xmlns:p14="http://schemas.microsoft.com/office/powerpoint/2010/main" val="5140284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FA121AE-4FC6-4D18-8E96-3BBE65420106}"/>
              </a:ext>
            </a:extLst>
          </p:cNvPr>
          <p:cNvSpPr>
            <a:spLocks xmlns:a="http://schemas.openxmlformats.org/drawingml/2006/main" noGrp="1"/>
          </p:cNvSpPr>
          <p:nvPr/>
        </p:nvSpPr>
        <p:spPr>
          <a:xfrm xmlns:a="http://schemas.openxmlformats.org/drawingml/2006/main">
            <a:off x="400050" y="247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146EA8"/>
                </a:solidFill>
                <a:latin typeface="Arial"/>
                <a:ea typeface="Arial"/>
                <a:cs typeface="Arial"/>
              </a:defRPr>
            </a:pPr>
            <a:r>
              <a:rPr sz="825" b="1" i="0">
                <a:solidFill>
                  <a:srgbClr val="146EA8"/>
                </a:solidFill>
                <a:latin typeface="Arial"/>
                <a:ea typeface="Arial"/>
                <a:cs typeface="Arial"/>
              </a:rPr>
              <a:t>SSRP 2026 | LONGITUDINAL CONSENT STUDY</a:t>
            </a:r>
          </a:p>
        </p:txBody>
      </p:sp>
      <p:sp>
        <p:nvSpPr>
          <p:cNvPr id="2" name="">
            <a:extLst xmlns:a="http://schemas.openxmlformats.org/drawingml/2006/main">
              <a:ext uri="{FF2B5EF4-FFF2-40B4-BE49-F238E27FC236}">
                <a16:creationId xmlns:a16="http://schemas.microsoft.com/office/drawing/2014/main" id="{561A801C-6DC8-45BD-95EE-84AF2457312C}"/>
              </a:ext>
            </a:extLst>
          </p:cNvPr>
          <p:cNvSpPr>
            <a:spLocks xmlns:a="http://schemas.openxmlformats.org/drawingml/2006/main" noGrp="1"/>
          </p:cNvSpPr>
          <p:nvPr/>
        </p:nvSpPr>
        <p:spPr>
          <a:xfrm xmlns:a="http://schemas.openxmlformats.org/drawingml/2006/main">
            <a:off x="11334750" y="2571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73818B"/>
                </a:solidFill>
                <a:latin typeface="Arial"/>
                <a:ea typeface="Arial"/>
                <a:cs typeface="Arial"/>
              </a:defRPr>
            </a:pPr>
            <a:r>
              <a:rPr sz="750" b="0" i="0">
                <a:solidFill>
                  <a:srgbClr val="73818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8595EA4-9165-4287-A115-7D23DC94D7A7}"/>
              </a:ext>
            </a:extLst>
          </p:cNvPr>
          <p:cNvSpPr>
            <a:spLocks xmlns:a="http://schemas.openxmlformats.org/drawingml/2006/main" noGrp="1"/>
          </p:cNvSpPr>
          <p:nvPr/>
        </p:nvSpPr>
        <p:spPr>
          <a:xfrm xmlns:a="http://schemas.openxmlformats.org/drawingml/2006/main">
            <a:off x="400050" y="552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01820"/>
                </a:solidFill>
                <a:latin typeface="Arial"/>
                <a:ea typeface="Arial"/>
                <a:cs typeface="Arial"/>
              </a:defRPr>
            </a:pPr>
            <a:r>
              <a:rPr sz="2175" b="1" i="0">
                <a:solidFill>
                  <a:srgbClr val="101820"/>
                </a:solidFill>
                <a:latin typeface="Arial"/>
                <a:ea typeface="Arial"/>
                <a:cs typeface="Arial"/>
              </a:rPr>
              <a:t>A six-year benchmark shows broad movement toward first-layer choice</a:t>
            </a:r>
          </a:p>
        </p:txBody>
      </p:sp>
      <p:sp>
        <p:nvSpPr>
          <p:cNvPr id="4" name="">
            <a:extLst xmlns:a="http://schemas.openxmlformats.org/drawingml/2006/main">
              <a:ext uri="{FF2B5EF4-FFF2-40B4-BE49-F238E27FC236}">
                <a16:creationId xmlns:a16="http://schemas.microsoft.com/office/drawing/2014/main" id="{8CE09C98-36F5-4537-9EA6-DDD6FFB338C4}"/>
              </a:ext>
            </a:extLst>
          </p:cNvPr>
          <p:cNvSpPr>
            <a:spLocks xmlns:a="http://schemas.openxmlformats.org/drawingml/2006/main" noGrp="1"/>
          </p:cNvSpPr>
          <p:nvPr/>
        </p:nvSpPr>
        <p:spPr>
          <a:xfrm xmlns:a="http://schemas.openxmlformats.org/drawingml/2006/main">
            <a:off x="400050" y="1257300"/>
            <a:ext cx="11391900" cy="19050"/>
          </a:xfrm>
          <a:prstGeom xmlns:a="http://schemas.openxmlformats.org/drawingml/2006/main" prst="rect">
            <a:avLst/>
          </a:prstGeom>
          <a:solidFill xmlns:a="http://schemas.openxmlformats.org/drawingml/2006/main">
            <a:srgbClr val="D9E0E5"/>
          </a:solidFill>
          <a:ln xmlns:a="http://schemas.openxmlformats.org/drawingml/2006/main" w="0">
            <a:solidFill>
              <a:srgbClr val="D9E0E5"/>
            </a:solidFill>
            <a:prstDash val="solid"/>
          </a:ln>
        </p:spPr>
      </p:sp>
      <p:sp>
        <p:nvSpPr>
          <p:cNvPr id="5" name="">
            <a:extLst xmlns:a="http://schemas.openxmlformats.org/drawingml/2006/main">
              <a:ext uri="{FF2B5EF4-FFF2-40B4-BE49-F238E27FC236}">
                <a16:creationId xmlns:a16="http://schemas.microsoft.com/office/drawing/2014/main" id="{AE13815F-9847-43B0-A6C8-961636D48805}"/>
              </a:ext>
            </a:extLst>
          </p:cNvPr>
          <p:cNvSpPr>
            <a:spLocks xmlns:a="http://schemas.openxmlformats.org/drawingml/2006/main" noGrp="1"/>
          </p:cNvSpPr>
          <p:nvPr/>
        </p:nvSpPr>
        <p:spPr>
          <a:xfrm xmlns:a="http://schemas.openxmlformats.org/drawingml/2006/main">
            <a:off x="914400" y="1562100"/>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4350" b="1" i="0">
                <a:solidFill>
                  <a:srgbClr val="146EA8"/>
                </a:solidFill>
                <a:latin typeface="Arial"/>
                <a:ea typeface="Arial"/>
                <a:cs typeface="Arial"/>
              </a:defRPr>
            </a:pPr>
            <a:r>
              <a:rPr sz="4350" b="1" i="0">
                <a:solidFill>
                  <a:srgbClr val="146EA8"/>
                </a:solidFill>
                <a:latin typeface="Arial"/>
                <a:ea typeface="Arial"/>
                <a:cs typeface="Arial"/>
              </a:rPr>
              <a:t>11K</a:t>
            </a:r>
          </a:p>
        </p:txBody>
      </p:sp>
      <p:sp>
        <p:nvSpPr>
          <p:cNvPr id="6" name="">
            <a:extLst xmlns:a="http://schemas.openxmlformats.org/drawingml/2006/main">
              <a:ext uri="{FF2B5EF4-FFF2-40B4-BE49-F238E27FC236}">
                <a16:creationId xmlns:a16="http://schemas.microsoft.com/office/drawing/2014/main" id="{FEE57546-E40D-4EB2-9C3D-716944942B0E}"/>
              </a:ext>
            </a:extLst>
          </p:cNvPr>
          <p:cNvSpPr>
            <a:spLocks xmlns:a="http://schemas.openxmlformats.org/drawingml/2006/main" noGrp="1"/>
          </p:cNvSpPr>
          <p:nvPr/>
        </p:nvSpPr>
        <p:spPr>
          <a:xfrm xmlns:a="http://schemas.openxmlformats.org/drawingml/2006/main">
            <a:off x="581025" y="22860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4C5B67"/>
                </a:solidFill>
                <a:latin typeface="Arial"/>
                <a:ea typeface="Arial"/>
                <a:cs typeface="Arial"/>
              </a:defRPr>
            </a:pPr>
            <a:r>
              <a:rPr sz="1200" b="1" i="0">
                <a:solidFill>
                  <a:srgbClr val="4C5B67"/>
                </a:solidFill>
                <a:latin typeface="Arial"/>
                <a:ea typeface="Arial"/>
                <a:cs typeface="Arial"/>
              </a:rPr>
              <a:t>websites</a:t>
            </a:r>
          </a:p>
        </p:txBody>
      </p:sp>
      <p:sp>
        <p:nvSpPr>
          <p:cNvPr id="7" name="">
            <a:extLst xmlns:a="http://schemas.openxmlformats.org/drawingml/2006/main">
              <a:ext uri="{FF2B5EF4-FFF2-40B4-BE49-F238E27FC236}">
                <a16:creationId xmlns:a16="http://schemas.microsoft.com/office/drawing/2014/main" id="{C1B943E7-EB26-42C9-85B9-3CC4DB8D547B}"/>
              </a:ext>
            </a:extLst>
          </p:cNvPr>
          <p:cNvSpPr>
            <a:spLocks xmlns:a="http://schemas.openxmlformats.org/drawingml/2006/main" noGrp="1"/>
          </p:cNvSpPr>
          <p:nvPr/>
        </p:nvSpPr>
        <p:spPr>
          <a:xfrm xmlns:a="http://schemas.openxmlformats.org/drawingml/2006/main">
            <a:off x="4667250" y="1562100"/>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4350" b="1" i="0">
                <a:solidFill>
                  <a:srgbClr val="18867F"/>
                </a:solidFill>
                <a:latin typeface="Arial"/>
                <a:ea typeface="Arial"/>
                <a:cs typeface="Arial"/>
              </a:defRPr>
            </a:pPr>
            <a:r>
              <a:rPr sz="4350" b="1" i="0">
                <a:solidFill>
                  <a:srgbClr val="18867F"/>
                </a:solidFill>
                <a:latin typeface="Arial"/>
                <a:ea typeface="Arial"/>
                <a:cs typeface="Arial"/>
              </a:rPr>
              <a:t>30</a:t>
            </a:r>
          </a:p>
        </p:txBody>
      </p:sp>
      <p:sp>
        <p:nvSpPr>
          <p:cNvPr id="8" name="">
            <a:extLst xmlns:a="http://schemas.openxmlformats.org/drawingml/2006/main">
              <a:ext uri="{FF2B5EF4-FFF2-40B4-BE49-F238E27FC236}">
                <a16:creationId xmlns:a16="http://schemas.microsoft.com/office/drawing/2014/main" id="{5A5D4DBA-C4B6-4800-A8AC-6FEDA76440CE}"/>
              </a:ext>
            </a:extLst>
          </p:cNvPr>
          <p:cNvSpPr>
            <a:spLocks xmlns:a="http://schemas.openxmlformats.org/drawingml/2006/main" noGrp="1"/>
          </p:cNvSpPr>
          <p:nvPr/>
        </p:nvSpPr>
        <p:spPr>
          <a:xfrm xmlns:a="http://schemas.openxmlformats.org/drawingml/2006/main">
            <a:off x="4333875" y="22860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4C5B67"/>
                </a:solidFill>
                <a:latin typeface="Arial"/>
                <a:ea typeface="Arial"/>
                <a:cs typeface="Arial"/>
              </a:defRPr>
            </a:pPr>
            <a:r>
              <a:rPr sz="1200" b="1" i="0">
                <a:solidFill>
                  <a:srgbClr val="4C5B67"/>
                </a:solidFill>
                <a:latin typeface="Arial"/>
                <a:ea typeface="Arial"/>
                <a:cs typeface="Arial"/>
              </a:rPr>
              <a:t>countries</a:t>
            </a:r>
          </a:p>
        </p:txBody>
      </p:sp>
      <p:sp>
        <p:nvSpPr>
          <p:cNvPr id="9" name="">
            <a:extLst xmlns:a="http://schemas.openxmlformats.org/drawingml/2006/main">
              <a:ext uri="{FF2B5EF4-FFF2-40B4-BE49-F238E27FC236}">
                <a16:creationId xmlns:a16="http://schemas.microsoft.com/office/drawing/2014/main" id="{823439A9-3E8B-4529-A8B6-1D5B24A7C106}"/>
              </a:ext>
            </a:extLst>
          </p:cNvPr>
          <p:cNvSpPr>
            <a:spLocks xmlns:a="http://schemas.openxmlformats.org/drawingml/2006/main" noGrp="1"/>
          </p:cNvSpPr>
          <p:nvPr/>
        </p:nvSpPr>
        <p:spPr>
          <a:xfrm xmlns:a="http://schemas.openxmlformats.org/drawingml/2006/main">
            <a:off x="8420100" y="1562100"/>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4350" b="1" i="0">
                <a:solidFill>
                  <a:srgbClr val="A13B16"/>
                </a:solidFill>
                <a:latin typeface="Arial"/>
                <a:ea typeface="Arial"/>
                <a:cs typeface="Arial"/>
              </a:defRPr>
            </a:pPr>
            <a:r>
              <a:rPr sz="4350" b="1" i="0">
                <a:solidFill>
                  <a:srgbClr val="A13B16"/>
                </a:solidFill>
                <a:latin typeface="Arial"/>
                <a:ea typeface="Arial"/>
                <a:cs typeface="Arial"/>
              </a:rPr>
              <a:t>6</a:t>
            </a:r>
          </a:p>
        </p:txBody>
      </p:sp>
      <p:sp>
        <p:nvSpPr>
          <p:cNvPr id="10" name="">
            <a:extLst xmlns:a="http://schemas.openxmlformats.org/drawingml/2006/main">
              <a:ext uri="{FF2B5EF4-FFF2-40B4-BE49-F238E27FC236}">
                <a16:creationId xmlns:a16="http://schemas.microsoft.com/office/drawing/2014/main" id="{5995BA80-EF4B-4C5D-8238-1A887FFB5309}"/>
              </a:ext>
            </a:extLst>
          </p:cNvPr>
          <p:cNvSpPr>
            <a:spLocks xmlns:a="http://schemas.openxmlformats.org/drawingml/2006/main" noGrp="1"/>
          </p:cNvSpPr>
          <p:nvPr/>
        </p:nvSpPr>
        <p:spPr>
          <a:xfrm xmlns:a="http://schemas.openxmlformats.org/drawingml/2006/main">
            <a:off x="8086725" y="22860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4C5B67"/>
                </a:solidFill>
                <a:latin typeface="Arial"/>
                <a:ea typeface="Arial"/>
                <a:cs typeface="Arial"/>
              </a:defRPr>
            </a:pPr>
            <a:r>
              <a:rPr sz="1200" b="1" i="0">
                <a:solidFill>
                  <a:srgbClr val="4C5B67"/>
                </a:solidFill>
                <a:latin typeface="Arial"/>
                <a:ea typeface="Arial"/>
                <a:cs typeface="Arial"/>
              </a:rPr>
              <a:t>years studied</a:t>
            </a:r>
          </a:p>
        </p:txBody>
      </p:sp>
      <p:sp>
        <p:nvSpPr>
          <p:cNvPr id="11" name="">
            <a:extLst xmlns:a="http://schemas.openxmlformats.org/drawingml/2006/main">
              <a:ext uri="{FF2B5EF4-FFF2-40B4-BE49-F238E27FC236}">
                <a16:creationId xmlns:a16="http://schemas.microsoft.com/office/drawing/2014/main" id="{B1C7850B-A7C2-4BD5-B8D6-D83C4A5D5988}"/>
              </a:ext>
            </a:extLst>
          </p:cNvPr>
          <p:cNvSpPr>
            <a:spLocks xmlns:a="http://schemas.openxmlformats.org/drawingml/2006/main" noGrp="1"/>
          </p:cNvSpPr>
          <p:nvPr/>
        </p:nvSpPr>
        <p:spPr>
          <a:xfrm xmlns:a="http://schemas.openxmlformats.org/drawingml/2006/main">
            <a:off x="1143000" y="3648075"/>
            <a:ext cx="9906000" cy="38100"/>
          </a:xfrm>
          <a:prstGeom xmlns:a="http://schemas.openxmlformats.org/drawingml/2006/main" prst="rect">
            <a:avLst/>
          </a:prstGeom>
          <a:solidFill xmlns:a="http://schemas.openxmlformats.org/drawingml/2006/main">
            <a:srgbClr val="BAC4CB"/>
          </a:solidFill>
          <a:ln xmlns:a="http://schemas.openxmlformats.org/drawingml/2006/main" w="0">
            <a:solidFill>
              <a:srgbClr val="BAC4CB"/>
            </a:solidFill>
            <a:prstDash val="solid"/>
          </a:ln>
        </p:spPr>
      </p:sp>
      <p:sp>
        <p:nvSpPr>
          <p:cNvPr id="12" name="">
            <a:extLst xmlns:a="http://schemas.openxmlformats.org/drawingml/2006/main">
              <a:ext uri="{FF2B5EF4-FFF2-40B4-BE49-F238E27FC236}">
                <a16:creationId xmlns:a16="http://schemas.microsoft.com/office/drawing/2014/main" id="{19F78380-E202-49C0-85BC-BDBB94F65EBA}"/>
              </a:ext>
            </a:extLst>
          </p:cNvPr>
          <p:cNvSpPr>
            <a:spLocks xmlns:a="http://schemas.openxmlformats.org/drawingml/2006/main" noGrp="1"/>
          </p:cNvSpPr>
          <p:nvPr/>
        </p:nvSpPr>
        <p:spPr>
          <a:xfrm xmlns:a="http://schemas.openxmlformats.org/drawingml/2006/main">
            <a:off x="1295400" y="3514725"/>
            <a:ext cx="266700" cy="266700"/>
          </a:xfrm>
          <a:prstGeom xmlns:a="http://schemas.openxmlformats.org/drawingml/2006/main" prst="ellipse">
            <a:avLst/>
          </a:prstGeom>
          <a:solidFill xmlns:a="http://schemas.openxmlformats.org/drawingml/2006/main">
            <a:srgbClr val="146EA8"/>
          </a:solidFill>
          <a:ln xmlns:a="http://schemas.openxmlformats.org/drawingml/2006/main" w="0">
            <a:solidFill>
              <a:srgbClr val="146EA8"/>
            </a:solidFill>
            <a:prstDash val="solid"/>
          </a:ln>
        </p:spPr>
      </p:sp>
      <p:sp>
        <p:nvSpPr>
          <p:cNvPr id="13" name="">
            <a:extLst xmlns:a="http://schemas.openxmlformats.org/drawingml/2006/main">
              <a:ext uri="{FF2B5EF4-FFF2-40B4-BE49-F238E27FC236}">
                <a16:creationId xmlns:a16="http://schemas.microsoft.com/office/drawing/2014/main" id="{66E1B8FC-5B8E-4DC6-A179-10C4A5CE2D3F}"/>
              </a:ext>
            </a:extLst>
          </p:cNvPr>
          <p:cNvSpPr>
            <a:spLocks xmlns:a="http://schemas.openxmlformats.org/drawingml/2006/main" noGrp="1"/>
          </p:cNvSpPr>
          <p:nvPr/>
        </p:nvSpPr>
        <p:spPr>
          <a:xfrm xmlns:a="http://schemas.openxmlformats.org/drawingml/2006/main">
            <a:off x="571500" y="3981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101820"/>
                </a:solidFill>
                <a:latin typeface="Arial"/>
                <a:ea typeface="Arial"/>
                <a:cs typeface="Arial"/>
              </a:defRPr>
            </a:pPr>
            <a:r>
              <a:rPr sz="1200" b="1" i="0">
                <a:solidFill>
                  <a:srgbClr val="101820"/>
                </a:solidFill>
                <a:latin typeface="Arial"/>
                <a:ea typeface="Arial"/>
                <a:cs typeface="Arial"/>
              </a:rPr>
              <a:t>SEP 2018</a:t>
            </a:r>
          </a:p>
        </p:txBody>
      </p:sp>
      <p:sp>
        <p:nvSpPr>
          <p:cNvPr id="14" name="">
            <a:extLst xmlns:a="http://schemas.openxmlformats.org/drawingml/2006/main">
              <a:ext uri="{FF2B5EF4-FFF2-40B4-BE49-F238E27FC236}">
                <a16:creationId xmlns:a16="http://schemas.microsoft.com/office/drawing/2014/main" id="{A0003A5F-09EB-4102-AF0D-791FD3D95971}"/>
              </a:ext>
            </a:extLst>
          </p:cNvPr>
          <p:cNvSpPr>
            <a:spLocks xmlns:a="http://schemas.openxmlformats.org/drawingml/2006/main" noGrp="1"/>
          </p:cNvSpPr>
          <p:nvPr/>
        </p:nvSpPr>
        <p:spPr>
          <a:xfrm xmlns:a="http://schemas.openxmlformats.org/drawingml/2006/main">
            <a:off x="428625" y="43243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i="0">
                <a:solidFill>
                  <a:srgbClr val="4C5B67"/>
                </a:solidFill>
                <a:latin typeface="Arial"/>
                <a:ea typeface="Arial"/>
                <a:cs typeface="Arial"/>
              </a:defRPr>
            </a:pPr>
            <a:r>
              <a:rPr sz="1050" b="0" i="0">
                <a:solidFill>
                  <a:srgbClr val="4C5B67"/>
                </a:solidFill>
                <a:latin typeface="Arial"/>
                <a:ea typeface="Arial"/>
                <a:cs typeface="Arial"/>
              </a:rPr>
              <a:t>2.94% | 73 sites</a:t>
            </a:r>
          </a:p>
        </p:txBody>
      </p:sp>
      <p:sp>
        <p:nvSpPr>
          <p:cNvPr id="15" name="">
            <a:extLst xmlns:a="http://schemas.openxmlformats.org/drawingml/2006/main">
              <a:ext uri="{FF2B5EF4-FFF2-40B4-BE49-F238E27FC236}">
                <a16:creationId xmlns:a16="http://schemas.microsoft.com/office/drawing/2014/main" id="{4A30426C-544F-436F-A9B7-B485837482A1}"/>
              </a:ext>
            </a:extLst>
          </p:cNvPr>
          <p:cNvSpPr>
            <a:spLocks xmlns:a="http://schemas.openxmlformats.org/drawingml/2006/main" noGrp="1"/>
          </p:cNvSpPr>
          <p:nvPr/>
        </p:nvSpPr>
        <p:spPr>
          <a:xfrm xmlns:a="http://schemas.openxmlformats.org/drawingml/2006/main">
            <a:off x="4343400" y="3514725"/>
            <a:ext cx="266700" cy="266700"/>
          </a:xfrm>
          <a:prstGeom xmlns:a="http://schemas.openxmlformats.org/drawingml/2006/main" prst="ellipse">
            <a:avLst/>
          </a:prstGeom>
          <a:solidFill xmlns:a="http://schemas.openxmlformats.org/drawingml/2006/main">
            <a:srgbClr val="18867F"/>
          </a:solidFill>
          <a:ln xmlns:a="http://schemas.openxmlformats.org/drawingml/2006/main" w="0">
            <a:solidFill>
              <a:srgbClr val="18867F"/>
            </a:solidFill>
            <a:prstDash val="solid"/>
          </a:ln>
        </p:spPr>
      </p:sp>
      <p:sp>
        <p:nvSpPr>
          <p:cNvPr id="16" name="">
            <a:extLst xmlns:a="http://schemas.openxmlformats.org/drawingml/2006/main">
              <a:ext uri="{FF2B5EF4-FFF2-40B4-BE49-F238E27FC236}">
                <a16:creationId xmlns:a16="http://schemas.microsoft.com/office/drawing/2014/main" id="{7A144616-AAD7-480B-8545-889AC0043D32}"/>
              </a:ext>
            </a:extLst>
          </p:cNvPr>
          <p:cNvSpPr>
            <a:spLocks xmlns:a="http://schemas.openxmlformats.org/drawingml/2006/main" noGrp="1"/>
          </p:cNvSpPr>
          <p:nvPr/>
        </p:nvSpPr>
        <p:spPr>
          <a:xfrm xmlns:a="http://schemas.openxmlformats.org/drawingml/2006/main">
            <a:off x="3619500" y="3981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101820"/>
                </a:solidFill>
                <a:latin typeface="Arial"/>
                <a:ea typeface="Arial"/>
                <a:cs typeface="Arial"/>
              </a:defRPr>
            </a:pPr>
            <a:r>
              <a:rPr sz="1200" b="1" i="0">
                <a:solidFill>
                  <a:srgbClr val="101820"/>
                </a:solidFill>
                <a:latin typeface="Arial"/>
                <a:ea typeface="Arial"/>
                <a:cs typeface="Arial"/>
              </a:rPr>
              <a:t>ARCHIVES</a:t>
            </a:r>
          </a:p>
        </p:txBody>
      </p:sp>
      <p:sp>
        <p:nvSpPr>
          <p:cNvPr id="17" name="">
            <a:extLst xmlns:a="http://schemas.openxmlformats.org/drawingml/2006/main">
              <a:ext uri="{FF2B5EF4-FFF2-40B4-BE49-F238E27FC236}">
                <a16:creationId xmlns:a16="http://schemas.microsoft.com/office/drawing/2014/main" id="{236EB292-A317-4596-8685-F01C78488D09}"/>
              </a:ext>
            </a:extLst>
          </p:cNvPr>
          <p:cNvSpPr>
            <a:spLocks xmlns:a="http://schemas.openxmlformats.org/drawingml/2006/main" noGrp="1"/>
          </p:cNvSpPr>
          <p:nvPr/>
        </p:nvSpPr>
        <p:spPr>
          <a:xfrm xmlns:a="http://schemas.openxmlformats.org/drawingml/2006/main">
            <a:off x="3476625" y="43243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i="0">
                <a:solidFill>
                  <a:srgbClr val="4C5B67"/>
                </a:solidFill>
                <a:latin typeface="Arial"/>
                <a:ea typeface="Arial"/>
                <a:cs typeface="Arial"/>
              </a:defRPr>
            </a:pPr>
            <a:r>
              <a:rPr sz="1050" b="0" i="0">
                <a:solidFill>
                  <a:srgbClr val="4C5B67"/>
                </a:solidFill>
                <a:latin typeface="Arial"/>
                <a:ea typeface="Arial"/>
                <a:cs typeface="Arial"/>
              </a:rPr>
              <a:t>Wayback + HTTP Archive</a:t>
            </a:r>
          </a:p>
        </p:txBody>
      </p:sp>
      <p:sp>
        <p:nvSpPr>
          <p:cNvPr id="18" name="">
            <a:extLst xmlns:a="http://schemas.openxmlformats.org/drawingml/2006/main">
              <a:ext uri="{FF2B5EF4-FFF2-40B4-BE49-F238E27FC236}">
                <a16:creationId xmlns:a16="http://schemas.microsoft.com/office/drawing/2014/main" id="{51AF4F89-1CA1-4A73-9B3C-127C5F1AEAA1}"/>
              </a:ext>
            </a:extLst>
          </p:cNvPr>
          <p:cNvSpPr>
            <a:spLocks xmlns:a="http://schemas.openxmlformats.org/drawingml/2006/main" noGrp="1"/>
          </p:cNvSpPr>
          <p:nvPr/>
        </p:nvSpPr>
        <p:spPr>
          <a:xfrm xmlns:a="http://schemas.openxmlformats.org/drawingml/2006/main">
            <a:off x="7391400" y="3514725"/>
            <a:ext cx="266700" cy="266700"/>
          </a:xfrm>
          <a:prstGeom xmlns:a="http://schemas.openxmlformats.org/drawingml/2006/main" prst="ellipse">
            <a:avLst/>
          </a:prstGeom>
          <a:solidFill xmlns:a="http://schemas.openxmlformats.org/drawingml/2006/main">
            <a:srgbClr val="A13B16"/>
          </a:solidFill>
          <a:ln xmlns:a="http://schemas.openxmlformats.org/drawingml/2006/main" w="0">
            <a:solidFill>
              <a:srgbClr val="A13B16"/>
            </a:solidFill>
            <a:prstDash val="solid"/>
          </a:ln>
        </p:spPr>
      </p:sp>
      <p:sp>
        <p:nvSpPr>
          <p:cNvPr id="19" name="">
            <a:extLst xmlns:a="http://schemas.openxmlformats.org/drawingml/2006/main">
              <a:ext uri="{FF2B5EF4-FFF2-40B4-BE49-F238E27FC236}">
                <a16:creationId xmlns:a16="http://schemas.microsoft.com/office/drawing/2014/main" id="{D4BF4999-4A0F-4ECA-BFB7-F32270BE1CF9}"/>
              </a:ext>
            </a:extLst>
          </p:cNvPr>
          <p:cNvSpPr>
            <a:spLocks xmlns:a="http://schemas.openxmlformats.org/drawingml/2006/main" noGrp="1"/>
          </p:cNvSpPr>
          <p:nvPr/>
        </p:nvSpPr>
        <p:spPr>
          <a:xfrm xmlns:a="http://schemas.openxmlformats.org/drawingml/2006/main">
            <a:off x="6667500" y="3981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101820"/>
                </a:solidFill>
                <a:latin typeface="Arial"/>
                <a:ea typeface="Arial"/>
                <a:cs typeface="Arial"/>
              </a:defRPr>
            </a:pPr>
            <a:r>
              <a:rPr sz="1200" b="1" i="0">
                <a:solidFill>
                  <a:srgbClr val="101820"/>
                </a:solidFill>
                <a:latin typeface="Arial"/>
                <a:ea typeface="Arial"/>
                <a:cs typeface="Arial"/>
              </a:rPr>
              <a:t>DPA ACTIVITY</a:t>
            </a:r>
          </a:p>
        </p:txBody>
      </p:sp>
      <p:sp>
        <p:nvSpPr>
          <p:cNvPr id="20" name="">
            <a:extLst xmlns:a="http://schemas.openxmlformats.org/drawingml/2006/main">
              <a:ext uri="{FF2B5EF4-FFF2-40B4-BE49-F238E27FC236}">
                <a16:creationId xmlns:a16="http://schemas.microsoft.com/office/drawing/2014/main" id="{4F1871C9-2F42-431E-9472-F65915A93515}"/>
              </a:ext>
            </a:extLst>
          </p:cNvPr>
          <p:cNvSpPr>
            <a:spLocks xmlns:a="http://schemas.openxmlformats.org/drawingml/2006/main" noGrp="1"/>
          </p:cNvSpPr>
          <p:nvPr/>
        </p:nvSpPr>
        <p:spPr>
          <a:xfrm xmlns:a="http://schemas.openxmlformats.org/drawingml/2006/main">
            <a:off x="6524625" y="43243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i="0">
                <a:solidFill>
                  <a:srgbClr val="4C5B67"/>
                </a:solidFill>
                <a:latin typeface="Arial"/>
                <a:ea typeface="Arial"/>
                <a:cs typeface="Arial"/>
              </a:defRPr>
            </a:pPr>
            <a:r>
              <a:rPr sz="1050" b="0" i="0">
                <a:solidFill>
                  <a:srgbClr val="4C5B67"/>
                </a:solidFill>
                <a:latin typeface="Arial"/>
                <a:ea typeface="Arial"/>
                <a:cs typeface="Arial"/>
              </a:rPr>
              <a:t>higher compliance correlated</a:t>
            </a:r>
          </a:p>
        </p:txBody>
      </p:sp>
      <p:sp>
        <p:nvSpPr>
          <p:cNvPr id="21" name="">
            <a:extLst xmlns:a="http://schemas.openxmlformats.org/drawingml/2006/main">
              <a:ext uri="{FF2B5EF4-FFF2-40B4-BE49-F238E27FC236}">
                <a16:creationId xmlns:a16="http://schemas.microsoft.com/office/drawing/2014/main" id="{F0A43FF0-E4B1-4323-B2D4-3AAFD7B5D338}"/>
              </a:ext>
            </a:extLst>
          </p:cNvPr>
          <p:cNvSpPr>
            <a:spLocks xmlns:a="http://schemas.openxmlformats.org/drawingml/2006/main" noGrp="1"/>
          </p:cNvSpPr>
          <p:nvPr/>
        </p:nvSpPr>
        <p:spPr>
          <a:xfrm xmlns:a="http://schemas.openxmlformats.org/drawingml/2006/main">
            <a:off x="10439400" y="3514725"/>
            <a:ext cx="266700" cy="266700"/>
          </a:xfrm>
          <a:prstGeom xmlns:a="http://schemas.openxmlformats.org/drawingml/2006/main" prst="ellipse">
            <a:avLst/>
          </a:prstGeom>
          <a:solidFill xmlns:a="http://schemas.openxmlformats.org/drawingml/2006/main">
            <a:srgbClr val="D6A31A"/>
          </a:solidFill>
          <a:ln xmlns:a="http://schemas.openxmlformats.org/drawingml/2006/main" w="0">
            <a:solidFill>
              <a:srgbClr val="D6A31A"/>
            </a:solidFill>
            <a:prstDash val="solid"/>
          </a:ln>
        </p:spPr>
      </p:sp>
      <p:sp>
        <p:nvSpPr>
          <p:cNvPr id="22" name="">
            <a:extLst xmlns:a="http://schemas.openxmlformats.org/drawingml/2006/main">
              <a:ext uri="{FF2B5EF4-FFF2-40B4-BE49-F238E27FC236}">
                <a16:creationId xmlns:a16="http://schemas.microsoft.com/office/drawing/2014/main" id="{85E44553-8139-41C5-B8F0-A29D4D52C4C0}"/>
              </a:ext>
            </a:extLst>
          </p:cNvPr>
          <p:cNvSpPr>
            <a:spLocks xmlns:a="http://schemas.openxmlformats.org/drawingml/2006/main" noGrp="1"/>
          </p:cNvSpPr>
          <p:nvPr/>
        </p:nvSpPr>
        <p:spPr>
          <a:xfrm xmlns:a="http://schemas.openxmlformats.org/drawingml/2006/main">
            <a:off x="9715500" y="3981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101820"/>
                </a:solidFill>
                <a:latin typeface="Arial"/>
                <a:ea typeface="Arial"/>
                <a:cs typeface="Arial"/>
              </a:defRPr>
            </a:pPr>
            <a:r>
              <a:rPr sz="1200" b="1" i="0">
                <a:solidFill>
                  <a:srgbClr val="101820"/>
                </a:solidFill>
                <a:latin typeface="Arial"/>
                <a:ea typeface="Arial"/>
                <a:cs typeface="Arial"/>
              </a:rPr>
              <a:t>SEP 2024</a:t>
            </a:r>
          </a:p>
        </p:txBody>
      </p:sp>
      <p:sp>
        <p:nvSpPr>
          <p:cNvPr id="23" name="">
            <a:extLst xmlns:a="http://schemas.openxmlformats.org/drawingml/2006/main">
              <a:ext uri="{FF2B5EF4-FFF2-40B4-BE49-F238E27FC236}">
                <a16:creationId xmlns:a16="http://schemas.microsoft.com/office/drawing/2014/main" id="{BDE14BC9-8F4A-47F4-A1C5-8642FB227CCC}"/>
              </a:ext>
            </a:extLst>
          </p:cNvPr>
          <p:cNvSpPr>
            <a:spLocks xmlns:a="http://schemas.openxmlformats.org/drawingml/2006/main" noGrp="1"/>
          </p:cNvSpPr>
          <p:nvPr/>
        </p:nvSpPr>
        <p:spPr>
          <a:xfrm xmlns:a="http://schemas.openxmlformats.org/drawingml/2006/main">
            <a:off x="9572625" y="432435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0" i="0">
                <a:solidFill>
                  <a:srgbClr val="4C5B67"/>
                </a:solidFill>
                <a:latin typeface="Arial"/>
                <a:ea typeface="Arial"/>
                <a:cs typeface="Arial"/>
              </a:defRPr>
            </a:pPr>
            <a:r>
              <a:rPr sz="1050" b="0" i="0">
                <a:solidFill>
                  <a:srgbClr val="4C5B67"/>
                </a:solidFill>
                <a:latin typeface="Arial"/>
                <a:ea typeface="Arial"/>
                <a:cs typeface="Arial"/>
              </a:rPr>
              <a:t>30.66% | 760 sites</a:t>
            </a:r>
          </a:p>
        </p:txBody>
      </p:sp>
      <p:sp>
        <p:nvSpPr>
          <p:cNvPr id="24" name="">
            <a:extLst xmlns:a="http://schemas.openxmlformats.org/drawingml/2006/main">
              <a:ext uri="{FF2B5EF4-FFF2-40B4-BE49-F238E27FC236}">
                <a16:creationId xmlns:a16="http://schemas.microsoft.com/office/drawing/2014/main" id="{A8B90A29-6999-40B3-8415-466B51531B93}"/>
              </a:ext>
            </a:extLst>
          </p:cNvPr>
          <p:cNvSpPr>
            <a:spLocks xmlns:a="http://schemas.openxmlformats.org/drawingml/2006/main" noGrp="1"/>
          </p:cNvSpPr>
          <p:nvPr/>
        </p:nvSpPr>
        <p:spPr>
          <a:xfrm xmlns:a="http://schemas.openxmlformats.org/drawingml/2006/main">
            <a:off x="666750" y="5105400"/>
            <a:ext cx="10858500" cy="781050"/>
          </a:xfrm>
          <a:prstGeom xmlns:a="http://schemas.openxmlformats.org/drawingml/2006/main" prst="rect">
            <a:avLst/>
          </a:prstGeom>
          <a:solidFill xmlns:a="http://schemas.openxmlformats.org/drawingml/2006/main">
            <a:srgbClr val="F3F6F8"/>
          </a:solidFill>
          <a:ln xmlns:a="http://schemas.openxmlformats.org/drawingml/2006/main" w="9525">
            <a:solidFill>
              <a:srgbClr val="BAC4CB"/>
            </a:solidFill>
            <a:prstDash val="solid"/>
          </a:ln>
        </p:spPr>
      </p:sp>
      <p:sp>
        <p:nvSpPr>
          <p:cNvPr id="25" name="">
            <a:extLst xmlns:a="http://schemas.openxmlformats.org/drawingml/2006/main">
              <a:ext uri="{FF2B5EF4-FFF2-40B4-BE49-F238E27FC236}">
                <a16:creationId xmlns:a16="http://schemas.microsoft.com/office/drawing/2014/main" id="{16205238-3060-42A5-9775-11C7BDF58641}"/>
              </a:ext>
            </a:extLst>
          </p:cNvPr>
          <p:cNvSpPr>
            <a:spLocks xmlns:a="http://schemas.openxmlformats.org/drawingml/2006/main" noGrp="1"/>
          </p:cNvSpPr>
          <p:nvPr/>
        </p:nvSpPr>
        <p:spPr>
          <a:xfrm xmlns:a="http://schemas.openxmlformats.org/drawingml/2006/main">
            <a:off x="952500" y="531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101820"/>
                </a:solidFill>
                <a:latin typeface="Arial"/>
                <a:ea typeface="Arial"/>
                <a:cs typeface="Arial"/>
              </a:defRPr>
            </a:pPr>
            <a:r>
              <a:rPr sz="1500" b="1" i="0">
                <a:solidFill>
                  <a:srgbClr val="101820"/>
                </a:solidFill>
                <a:latin typeface="Arial"/>
                <a:ea typeface="Arial"/>
                <a:cs typeface="Arial"/>
              </a:rPr>
              <a:t>The trend is broad, but archive gaps make the estimate a lower bound and do not explain individual companies.</a:t>
            </a:r>
          </a:p>
        </p:txBody>
      </p:sp>
      <p:sp>
        <p:nvSpPr>
          <p:cNvPr id="26" name="">
            <a:extLst xmlns:a="http://schemas.openxmlformats.org/drawingml/2006/main">
              <a:ext uri="{FF2B5EF4-FFF2-40B4-BE49-F238E27FC236}">
                <a16:creationId xmlns:a16="http://schemas.microsoft.com/office/drawing/2014/main" id="{B4CE80D6-A6AF-4D26-B6F0-3679F4E6D61B}"/>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27" name="">
            <a:extLst xmlns:a="http://schemas.openxmlformats.org/drawingml/2006/main">
              <a:ext uri="{FF2B5EF4-FFF2-40B4-BE49-F238E27FC236}">
                <a16:creationId xmlns:a16="http://schemas.microsoft.com/office/drawing/2014/main" id="{4F6B3FCE-452F-4043-96DE-157D2AF44A06}"/>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Dimova et al. 2026 | 2018-2024 historical banner study</a:t>
            </a:r>
          </a:p>
        </p:txBody>
      </p:sp>
    </p:spTree>
    <p:extLst>
      <p:ext uri="{BB962C8B-B14F-4D97-AF65-F5344CB8AC3E}">
        <p14:creationId xmlns:p14="http://schemas.microsoft.com/office/powerpoint/2010/main" val="17403654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D6BD633F-66A6-42AE-8956-87F7BE2E3FE5}"/>
              </a:ext>
            </a:extLst>
          </p:cNvPr>
          <p:cNvSpPr>
            <a:spLocks xmlns:a="http://schemas.openxmlformats.org/drawingml/2006/main" noGrp="1"/>
          </p:cNvSpPr>
          <p:nvPr/>
        </p:nvSpPr>
        <p:spPr>
          <a:xfrm xmlns:a="http://schemas.openxmlformats.org/drawingml/2006/main">
            <a:off x="400050" y="247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146EA8"/>
                </a:solidFill>
                <a:latin typeface="Arial"/>
                <a:ea typeface="Arial"/>
                <a:cs typeface="Arial"/>
              </a:defRPr>
            </a:pPr>
            <a:r>
              <a:rPr sz="825" b="1" i="0">
                <a:solidFill>
                  <a:srgbClr val="146EA8"/>
                </a:solidFill>
                <a:latin typeface="Arial"/>
                <a:ea typeface="Arial"/>
                <a:cs typeface="Arial"/>
              </a:rPr>
              <a:t>SSRP 2026 | LONGITUDINAL CONSENT STUDY</a:t>
            </a:r>
          </a:p>
        </p:txBody>
      </p:sp>
      <p:sp>
        <p:nvSpPr>
          <p:cNvPr id="2" name="">
            <a:extLst xmlns:a="http://schemas.openxmlformats.org/drawingml/2006/main">
              <a:ext uri="{FF2B5EF4-FFF2-40B4-BE49-F238E27FC236}">
                <a16:creationId xmlns:a16="http://schemas.microsoft.com/office/drawing/2014/main" id="{9B9A6B57-FDA8-4F17-9002-7605FB960E95}"/>
              </a:ext>
            </a:extLst>
          </p:cNvPr>
          <p:cNvSpPr>
            <a:spLocks xmlns:a="http://schemas.openxmlformats.org/drawingml/2006/main" noGrp="1"/>
          </p:cNvSpPr>
          <p:nvPr/>
        </p:nvSpPr>
        <p:spPr>
          <a:xfrm xmlns:a="http://schemas.openxmlformats.org/drawingml/2006/main">
            <a:off x="11334750" y="2571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73818B"/>
                </a:solidFill>
                <a:latin typeface="Arial"/>
                <a:ea typeface="Arial"/>
                <a:cs typeface="Arial"/>
              </a:defRPr>
            </a:pPr>
            <a:r>
              <a:rPr sz="750" b="0" i="0">
                <a:solidFill>
                  <a:srgbClr val="73818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F38E7B9-BBF1-4749-94CE-B736E0EC5BDE}"/>
              </a:ext>
            </a:extLst>
          </p:cNvPr>
          <p:cNvSpPr>
            <a:spLocks xmlns:a="http://schemas.openxmlformats.org/drawingml/2006/main" noGrp="1"/>
          </p:cNvSpPr>
          <p:nvPr/>
        </p:nvSpPr>
        <p:spPr>
          <a:xfrm xmlns:a="http://schemas.openxmlformats.org/drawingml/2006/main">
            <a:off x="400050" y="552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01820"/>
                </a:solidFill>
                <a:latin typeface="Arial"/>
                <a:ea typeface="Arial"/>
                <a:cs typeface="Arial"/>
              </a:defRPr>
            </a:pPr>
            <a:r>
              <a:rPr sz="2175" b="1" i="0">
                <a:solidFill>
                  <a:srgbClr val="101820"/>
                </a:solidFill>
                <a:latin typeface="Arial"/>
                <a:ea typeface="Arial"/>
                <a:cs typeface="Arial"/>
              </a:rPr>
              <a:t>Six dated trajectories produce a directional case result</a:t>
            </a:r>
          </a:p>
        </p:txBody>
      </p:sp>
      <p:sp>
        <p:nvSpPr>
          <p:cNvPr id="4" name="">
            <a:extLst xmlns:a="http://schemas.openxmlformats.org/drawingml/2006/main">
              <a:ext uri="{FF2B5EF4-FFF2-40B4-BE49-F238E27FC236}">
                <a16:creationId xmlns:a16="http://schemas.microsoft.com/office/drawing/2014/main" id="{1526B159-2384-44EE-B217-D4737884BFD6}"/>
              </a:ext>
            </a:extLst>
          </p:cNvPr>
          <p:cNvSpPr>
            <a:spLocks xmlns:a="http://schemas.openxmlformats.org/drawingml/2006/main" noGrp="1"/>
          </p:cNvSpPr>
          <p:nvPr/>
        </p:nvSpPr>
        <p:spPr>
          <a:xfrm xmlns:a="http://schemas.openxmlformats.org/drawingml/2006/main">
            <a:off x="400050" y="1257300"/>
            <a:ext cx="11391900" cy="19050"/>
          </a:xfrm>
          <a:prstGeom xmlns:a="http://schemas.openxmlformats.org/drawingml/2006/main" prst="rect">
            <a:avLst/>
          </a:prstGeom>
          <a:solidFill xmlns:a="http://schemas.openxmlformats.org/drawingml/2006/main">
            <a:srgbClr val="D9E0E5"/>
          </a:solidFill>
          <a:ln xmlns:a="http://schemas.openxmlformats.org/drawingml/2006/main" w="0">
            <a:solidFill>
              <a:srgbClr val="D9E0E5"/>
            </a:solidFill>
            <a:prstDash val="solid"/>
          </a:ln>
        </p:spPr>
      </p:sp>
      <p:sp>
        <p:nvSpPr>
          <p:cNvPr id="5" name="">
            <a:extLst xmlns:a="http://schemas.openxmlformats.org/drawingml/2006/main">
              <a:ext uri="{FF2B5EF4-FFF2-40B4-BE49-F238E27FC236}">
                <a16:creationId xmlns:a16="http://schemas.microsoft.com/office/drawing/2014/main" id="{84826F30-20A9-4FF3-8449-F40A85A95C19}"/>
              </a:ext>
            </a:extLst>
          </p:cNvPr>
          <p:cNvSpPr>
            <a:spLocks xmlns:a="http://schemas.openxmlformats.org/drawingml/2006/main" noGrp="1"/>
          </p:cNvSpPr>
          <p:nvPr/>
        </p:nvSpPr>
        <p:spPr>
          <a:xfrm xmlns:a="http://schemas.openxmlformats.org/drawingml/2006/main">
            <a:off x="400050" y="1619250"/>
            <a:ext cx="11391900" cy="457200"/>
          </a:xfrm>
          <a:prstGeom xmlns:a="http://schemas.openxmlformats.org/drawingml/2006/main" prst="rect">
            <a:avLst/>
          </a:prstGeom>
          <a:solidFill xmlns:a="http://schemas.openxmlformats.org/drawingml/2006/main">
            <a:srgbClr val="101820"/>
          </a:solidFill>
          <a:ln xmlns:a="http://schemas.openxmlformats.org/drawingml/2006/main" w="0">
            <a:solidFill>
              <a:srgbClr val="101820"/>
            </a:solidFill>
            <a:prstDash val="solid"/>
          </a:ln>
        </p:spPr>
      </p:sp>
      <p:sp>
        <p:nvSpPr>
          <p:cNvPr id="6" name="">
            <a:extLst xmlns:a="http://schemas.openxmlformats.org/drawingml/2006/main">
              <a:ext uri="{FF2B5EF4-FFF2-40B4-BE49-F238E27FC236}">
                <a16:creationId xmlns:a16="http://schemas.microsoft.com/office/drawing/2014/main" id="{D111D720-D5C3-48A0-9AD0-77EF3399DEB3}"/>
              </a:ext>
            </a:extLst>
          </p:cNvPr>
          <p:cNvSpPr>
            <a:spLocks xmlns:a="http://schemas.openxmlformats.org/drawingml/2006/main" noGrp="1"/>
          </p:cNvSpPr>
          <p:nvPr/>
        </p:nvSpPr>
        <p:spPr>
          <a:xfrm xmlns:a="http://schemas.openxmlformats.org/drawingml/2006/main">
            <a:off x="514350" y="1733550"/>
            <a:ext cx="2247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FFFFF"/>
                </a:solidFill>
                <a:latin typeface="Arial"/>
                <a:ea typeface="Arial"/>
                <a:cs typeface="Arial"/>
              </a:defRPr>
            </a:pPr>
            <a:r>
              <a:rPr sz="1050" b="1" i="0">
                <a:solidFill>
                  <a:srgbClr val="FFFFFF"/>
                </a:solidFill>
                <a:latin typeface="Arial"/>
                <a:ea typeface="Arial"/>
                <a:cs typeface="Arial"/>
              </a:rPr>
              <a:t>Case</a:t>
            </a:r>
          </a:p>
        </p:txBody>
      </p:sp>
      <p:sp>
        <p:nvSpPr>
          <p:cNvPr id="7" name="">
            <a:extLst xmlns:a="http://schemas.openxmlformats.org/drawingml/2006/main">
              <a:ext uri="{FF2B5EF4-FFF2-40B4-BE49-F238E27FC236}">
                <a16:creationId xmlns:a16="http://schemas.microsoft.com/office/drawing/2014/main" id="{CFF753FA-8523-4652-A411-A4A613237DAE}"/>
              </a:ext>
            </a:extLst>
          </p:cNvPr>
          <p:cNvSpPr>
            <a:spLocks xmlns:a="http://schemas.openxmlformats.org/drawingml/2006/main" noGrp="1"/>
          </p:cNvSpPr>
          <p:nvPr/>
        </p:nvSpPr>
        <p:spPr>
          <a:xfrm xmlns:a="http://schemas.openxmlformats.org/drawingml/2006/main">
            <a:off x="2990850" y="173355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FFFFF"/>
                </a:solidFill>
                <a:latin typeface="Arial"/>
                <a:ea typeface="Arial"/>
                <a:cs typeface="Arial"/>
              </a:defRPr>
            </a:pPr>
            <a:r>
              <a:rPr sz="1050" b="1" i="0">
                <a:solidFill>
                  <a:srgbClr val="FFFFFF"/>
                </a:solidFill>
                <a:latin typeface="Arial"/>
                <a:ea typeface="Arial"/>
                <a:cs typeface="Arial"/>
              </a:rPr>
              <a:t>Before</a:t>
            </a:r>
          </a:p>
        </p:txBody>
      </p:sp>
      <p:sp>
        <p:nvSpPr>
          <p:cNvPr id="8" name="">
            <a:extLst xmlns:a="http://schemas.openxmlformats.org/drawingml/2006/main">
              <a:ext uri="{FF2B5EF4-FFF2-40B4-BE49-F238E27FC236}">
                <a16:creationId xmlns:a16="http://schemas.microsoft.com/office/drawing/2014/main" id="{5CF879D0-13D4-4EA8-920C-451955A3B7C4}"/>
              </a:ext>
            </a:extLst>
          </p:cNvPr>
          <p:cNvSpPr>
            <a:spLocks xmlns:a="http://schemas.openxmlformats.org/drawingml/2006/main" noGrp="1"/>
          </p:cNvSpPr>
          <p:nvPr/>
        </p:nvSpPr>
        <p:spPr>
          <a:xfrm xmlns:a="http://schemas.openxmlformats.org/drawingml/2006/main">
            <a:off x="6705600" y="173355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FFFFF"/>
                </a:solidFill>
                <a:latin typeface="Arial"/>
                <a:ea typeface="Arial"/>
                <a:cs typeface="Arial"/>
              </a:defRPr>
            </a:pPr>
            <a:r>
              <a:rPr sz="1050" b="1" i="0">
                <a:solidFill>
                  <a:srgbClr val="FFFFFF"/>
                </a:solidFill>
                <a:latin typeface="Arial"/>
                <a:ea typeface="Arial"/>
                <a:cs typeface="Arial"/>
              </a:rPr>
              <a:t>After</a:t>
            </a:r>
          </a:p>
        </p:txBody>
      </p:sp>
      <p:sp>
        <p:nvSpPr>
          <p:cNvPr id="9" name="">
            <a:extLst xmlns:a="http://schemas.openxmlformats.org/drawingml/2006/main">
              <a:ext uri="{FF2B5EF4-FFF2-40B4-BE49-F238E27FC236}">
                <a16:creationId xmlns:a16="http://schemas.microsoft.com/office/drawing/2014/main" id="{7C8E1EEA-3B72-4997-B08F-C78447D59071}"/>
              </a:ext>
            </a:extLst>
          </p:cNvPr>
          <p:cNvSpPr>
            <a:spLocks xmlns:a="http://schemas.openxmlformats.org/drawingml/2006/main" noGrp="1"/>
          </p:cNvSpPr>
          <p:nvPr/>
        </p:nvSpPr>
        <p:spPr>
          <a:xfrm xmlns:a="http://schemas.openxmlformats.org/drawingml/2006/main">
            <a:off x="10420350" y="1733550"/>
            <a:ext cx="1257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FFFFFF"/>
                </a:solidFill>
                <a:latin typeface="Arial"/>
                <a:ea typeface="Arial"/>
                <a:cs typeface="Arial"/>
              </a:defRPr>
            </a:pPr>
            <a:r>
              <a:rPr sz="1050" b="1" i="0">
                <a:solidFill>
                  <a:srgbClr val="FFFFFF"/>
                </a:solidFill>
                <a:latin typeface="Arial"/>
                <a:ea typeface="Arial"/>
                <a:cs typeface="Arial"/>
              </a:rPr>
              <a:t>Direction</a:t>
            </a:r>
          </a:p>
        </p:txBody>
      </p:sp>
      <p:sp>
        <p:nvSpPr>
          <p:cNvPr id="10" name="">
            <a:extLst xmlns:a="http://schemas.openxmlformats.org/drawingml/2006/main">
              <a:ext uri="{FF2B5EF4-FFF2-40B4-BE49-F238E27FC236}">
                <a16:creationId xmlns:a16="http://schemas.microsoft.com/office/drawing/2014/main" id="{750F9B5C-4958-4128-B5DF-9A8B8150C673}"/>
              </a:ext>
            </a:extLst>
          </p:cNvPr>
          <p:cNvSpPr>
            <a:spLocks xmlns:a="http://schemas.openxmlformats.org/drawingml/2006/main" noGrp="1"/>
          </p:cNvSpPr>
          <p:nvPr/>
        </p:nvSpPr>
        <p:spPr>
          <a:xfrm xmlns:a="http://schemas.openxmlformats.org/drawingml/2006/main">
            <a:off x="400050" y="2076450"/>
            <a:ext cx="11391900" cy="800100"/>
          </a:xfrm>
          <a:prstGeom xmlns:a="http://schemas.openxmlformats.org/drawingml/2006/main" prst="rect">
            <a:avLst/>
          </a:prstGeom>
          <a:solidFill xmlns:a="http://schemas.openxmlformats.org/drawingml/2006/main">
            <a:srgbClr val="F3F6F8"/>
          </a:solidFill>
          <a:ln xmlns:a="http://schemas.openxmlformats.org/drawingml/2006/main" w="9525">
            <a:solidFill>
              <a:srgbClr val="D9E0E5"/>
            </a:solidFill>
            <a:prstDash val="solid"/>
          </a:ln>
        </p:spPr>
      </p:sp>
      <p:sp>
        <p:nvSpPr>
          <p:cNvPr id="11" name="">
            <a:extLst xmlns:a="http://schemas.openxmlformats.org/drawingml/2006/main">
              <a:ext uri="{FF2B5EF4-FFF2-40B4-BE49-F238E27FC236}">
                <a16:creationId xmlns:a16="http://schemas.microsoft.com/office/drawing/2014/main" id="{82E4AA3C-91A4-4099-A42B-01295CCECF8E}"/>
              </a:ext>
            </a:extLst>
          </p:cNvPr>
          <p:cNvSpPr>
            <a:spLocks xmlns:a="http://schemas.openxmlformats.org/drawingml/2006/main" noGrp="1"/>
          </p:cNvSpPr>
          <p:nvPr/>
        </p:nvSpPr>
        <p:spPr>
          <a:xfrm xmlns:a="http://schemas.openxmlformats.org/drawingml/2006/main">
            <a:off x="514350" y="2247900"/>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01820"/>
                </a:solidFill>
                <a:latin typeface="Arial"/>
                <a:ea typeface="Arial"/>
                <a:cs typeface="Arial"/>
              </a:defRPr>
            </a:pPr>
            <a:r>
              <a:rPr sz="1200" b="1" i="0">
                <a:solidFill>
                  <a:srgbClr val="101820"/>
                </a:solidFill>
                <a:latin typeface="Arial"/>
                <a:ea typeface="Arial"/>
                <a:cs typeface="Arial"/>
              </a:rPr>
              <a:t>Google</a:t>
            </a:r>
          </a:p>
        </p:txBody>
      </p:sp>
      <p:sp>
        <p:nvSpPr>
          <p:cNvPr id="12" name="">
            <a:extLst xmlns:a="http://schemas.openxmlformats.org/drawingml/2006/main">
              <a:ext uri="{FF2B5EF4-FFF2-40B4-BE49-F238E27FC236}">
                <a16:creationId xmlns:a16="http://schemas.microsoft.com/office/drawing/2014/main" id="{06B4F3FB-8606-4508-9811-4929B96EBABA}"/>
              </a:ext>
            </a:extLst>
          </p:cNvPr>
          <p:cNvSpPr>
            <a:spLocks xmlns:a="http://schemas.openxmlformats.org/drawingml/2006/main" noGrp="1"/>
          </p:cNvSpPr>
          <p:nvPr/>
        </p:nvSpPr>
        <p:spPr>
          <a:xfrm xmlns:a="http://schemas.openxmlformats.org/drawingml/2006/main">
            <a:off x="2990850" y="22479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8867F"/>
                </a:solidFill>
                <a:latin typeface="Arial"/>
                <a:ea typeface="Arial"/>
                <a:cs typeface="Arial"/>
              </a:defRPr>
            </a:pPr>
            <a:r>
              <a:rPr sz="1050" b="0" i="0">
                <a:solidFill>
                  <a:srgbClr val="18867F"/>
                </a:solidFill>
                <a:latin typeface="Arial"/>
                <a:ea typeface="Arial"/>
                <a:cs typeface="Arial"/>
              </a:rPr>
              <a:t>Reject required at least 5 actions</a:t>
            </a:r>
          </a:p>
        </p:txBody>
      </p:sp>
      <p:sp>
        <p:nvSpPr>
          <p:cNvPr id="13" name="">
            <a:extLst xmlns:a="http://schemas.openxmlformats.org/drawingml/2006/main">
              <a:ext uri="{FF2B5EF4-FFF2-40B4-BE49-F238E27FC236}">
                <a16:creationId xmlns:a16="http://schemas.microsoft.com/office/drawing/2014/main" id="{8C45F93F-25F1-43C5-99B9-DB4BD707D439}"/>
              </a:ext>
            </a:extLst>
          </p:cNvPr>
          <p:cNvSpPr>
            <a:spLocks xmlns:a="http://schemas.openxmlformats.org/drawingml/2006/main" noGrp="1"/>
          </p:cNvSpPr>
          <p:nvPr/>
        </p:nvSpPr>
        <p:spPr>
          <a:xfrm xmlns:a="http://schemas.openxmlformats.org/drawingml/2006/main">
            <a:off x="6705600" y="22479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A13B16"/>
                </a:solidFill>
                <a:latin typeface="Arial"/>
                <a:ea typeface="Arial"/>
                <a:cs typeface="Arial"/>
              </a:defRPr>
            </a:pPr>
            <a:r>
              <a:rPr sz="1050" b="0" i="0">
                <a:solidFill>
                  <a:srgbClr val="A13B16"/>
                </a:solidFill>
                <a:latin typeface="Arial"/>
                <a:ea typeface="Arial"/>
                <a:cs typeface="Arial"/>
              </a:rPr>
              <a:t>Reject all became one click</a:t>
            </a:r>
          </a:p>
        </p:txBody>
      </p:sp>
      <p:sp>
        <p:nvSpPr>
          <p:cNvPr id="14" name="">
            <a:extLst xmlns:a="http://schemas.openxmlformats.org/drawingml/2006/main">
              <a:ext uri="{FF2B5EF4-FFF2-40B4-BE49-F238E27FC236}">
                <a16:creationId xmlns:a16="http://schemas.microsoft.com/office/drawing/2014/main" id="{D2895834-A25D-4220-864D-79013EBB9ECB}"/>
              </a:ext>
            </a:extLst>
          </p:cNvPr>
          <p:cNvSpPr>
            <a:spLocks xmlns:a="http://schemas.openxmlformats.org/drawingml/2006/main" noGrp="1"/>
          </p:cNvSpPr>
          <p:nvPr/>
        </p:nvSpPr>
        <p:spPr>
          <a:xfrm xmlns:a="http://schemas.openxmlformats.org/drawingml/2006/main">
            <a:off x="10420350" y="224790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01820"/>
                </a:solidFill>
                <a:latin typeface="Arial"/>
                <a:ea typeface="Arial"/>
                <a:cs typeface="Arial"/>
              </a:defRPr>
            </a:pPr>
            <a:r>
              <a:rPr sz="1050" b="0" i="0">
                <a:solidFill>
                  <a:srgbClr val="101820"/>
                </a:solidFill>
                <a:latin typeface="Arial"/>
                <a:ea typeface="Arial"/>
                <a:cs typeface="Arial"/>
              </a:rPr>
              <a:t>IMPROVED</a:t>
            </a:r>
          </a:p>
        </p:txBody>
      </p:sp>
      <p:sp>
        <p:nvSpPr>
          <p:cNvPr id="15" name="">
            <a:extLst xmlns:a="http://schemas.openxmlformats.org/drawingml/2006/main">
              <a:ext uri="{FF2B5EF4-FFF2-40B4-BE49-F238E27FC236}">
                <a16:creationId xmlns:a16="http://schemas.microsoft.com/office/drawing/2014/main" id="{18FDFBC8-46BE-4D3C-AAF9-616A89AFE980}"/>
              </a:ext>
            </a:extLst>
          </p:cNvPr>
          <p:cNvSpPr>
            <a:spLocks xmlns:a="http://schemas.openxmlformats.org/drawingml/2006/main" noGrp="1"/>
          </p:cNvSpPr>
          <p:nvPr/>
        </p:nvSpPr>
        <p:spPr>
          <a:xfrm xmlns:a="http://schemas.openxmlformats.org/drawingml/2006/main">
            <a:off x="400050" y="2876550"/>
            <a:ext cx="11391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9E0E5"/>
            </a:solidFill>
            <a:prstDash val="solid"/>
          </a:ln>
        </p:spPr>
      </p:sp>
      <p:sp>
        <p:nvSpPr>
          <p:cNvPr id="16" name="">
            <a:extLst xmlns:a="http://schemas.openxmlformats.org/drawingml/2006/main">
              <a:ext uri="{FF2B5EF4-FFF2-40B4-BE49-F238E27FC236}">
                <a16:creationId xmlns:a16="http://schemas.microsoft.com/office/drawing/2014/main" id="{AE3AEDF3-0B28-4C66-90C2-4CE32828F10E}"/>
              </a:ext>
            </a:extLst>
          </p:cNvPr>
          <p:cNvSpPr>
            <a:spLocks xmlns:a="http://schemas.openxmlformats.org/drawingml/2006/main" noGrp="1"/>
          </p:cNvSpPr>
          <p:nvPr/>
        </p:nvSpPr>
        <p:spPr>
          <a:xfrm xmlns:a="http://schemas.openxmlformats.org/drawingml/2006/main">
            <a:off x="514350" y="3048000"/>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01820"/>
                </a:solidFill>
                <a:latin typeface="Arial"/>
                <a:ea typeface="Arial"/>
                <a:cs typeface="Arial"/>
              </a:defRPr>
            </a:pPr>
            <a:r>
              <a:rPr sz="1200" b="1" i="0">
                <a:solidFill>
                  <a:srgbClr val="101820"/>
                </a:solidFill>
                <a:latin typeface="Arial"/>
                <a:ea typeface="Arial"/>
                <a:cs typeface="Arial"/>
              </a:rPr>
              <a:t>Facebook / TikTok</a:t>
            </a:r>
          </a:p>
        </p:txBody>
      </p:sp>
      <p:sp>
        <p:nvSpPr>
          <p:cNvPr id="17" name="">
            <a:extLst xmlns:a="http://schemas.openxmlformats.org/drawingml/2006/main">
              <a:ext uri="{FF2B5EF4-FFF2-40B4-BE49-F238E27FC236}">
                <a16:creationId xmlns:a16="http://schemas.microsoft.com/office/drawing/2014/main" id="{D7920713-6756-48A2-BCAE-B5F22A3F46E8}"/>
              </a:ext>
            </a:extLst>
          </p:cNvPr>
          <p:cNvSpPr>
            <a:spLocks xmlns:a="http://schemas.openxmlformats.org/drawingml/2006/main" noGrp="1"/>
          </p:cNvSpPr>
          <p:nvPr/>
        </p:nvSpPr>
        <p:spPr>
          <a:xfrm xmlns:a="http://schemas.openxmlformats.org/drawingml/2006/main">
            <a:off x="2990850" y="30480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8867F"/>
                </a:solidFill>
                <a:latin typeface="Arial"/>
                <a:ea typeface="Arial"/>
                <a:cs typeface="Arial"/>
              </a:defRPr>
            </a:pPr>
            <a:r>
              <a:rPr sz="1050" b="0" i="0">
                <a:solidFill>
                  <a:srgbClr val="18867F"/>
                </a:solidFill>
                <a:latin typeface="Arial"/>
                <a:ea typeface="Arial"/>
                <a:cs typeface="Arial"/>
              </a:rPr>
              <a:t>No equivalent first-layer refusal</a:t>
            </a:r>
          </a:p>
        </p:txBody>
      </p:sp>
      <p:sp>
        <p:nvSpPr>
          <p:cNvPr id="18" name="">
            <a:extLst xmlns:a="http://schemas.openxmlformats.org/drawingml/2006/main">
              <a:ext uri="{FF2B5EF4-FFF2-40B4-BE49-F238E27FC236}">
                <a16:creationId xmlns:a16="http://schemas.microsoft.com/office/drawing/2014/main" id="{F3FAAF54-2D2E-4E71-B2ED-5468DB404ACC}"/>
              </a:ext>
            </a:extLst>
          </p:cNvPr>
          <p:cNvSpPr>
            <a:spLocks xmlns:a="http://schemas.openxmlformats.org/drawingml/2006/main" noGrp="1"/>
          </p:cNvSpPr>
          <p:nvPr/>
        </p:nvSpPr>
        <p:spPr>
          <a:xfrm xmlns:a="http://schemas.openxmlformats.org/drawingml/2006/main">
            <a:off x="6705600" y="30480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A13B16"/>
                </a:solidFill>
                <a:latin typeface="Arial"/>
                <a:ea typeface="Arial"/>
                <a:cs typeface="Arial"/>
              </a:defRPr>
            </a:pPr>
            <a:r>
              <a:rPr sz="1050" b="0" i="0">
                <a:solidFill>
                  <a:srgbClr val="A13B16"/>
                </a:solidFill>
                <a:latin typeface="Arial"/>
                <a:ea typeface="Arial"/>
                <a:cs typeface="Arial"/>
              </a:rPr>
              <a:t>Equivalent or one-click refusal added</a:t>
            </a:r>
          </a:p>
        </p:txBody>
      </p:sp>
      <p:sp>
        <p:nvSpPr>
          <p:cNvPr id="19" name="">
            <a:extLst xmlns:a="http://schemas.openxmlformats.org/drawingml/2006/main">
              <a:ext uri="{FF2B5EF4-FFF2-40B4-BE49-F238E27FC236}">
                <a16:creationId xmlns:a16="http://schemas.microsoft.com/office/drawing/2014/main" id="{605785CB-CF3F-4FFC-B619-F3B8FCE466C5}"/>
              </a:ext>
            </a:extLst>
          </p:cNvPr>
          <p:cNvSpPr>
            <a:spLocks xmlns:a="http://schemas.openxmlformats.org/drawingml/2006/main" noGrp="1"/>
          </p:cNvSpPr>
          <p:nvPr/>
        </p:nvSpPr>
        <p:spPr>
          <a:xfrm xmlns:a="http://schemas.openxmlformats.org/drawingml/2006/main">
            <a:off x="10420350" y="304800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01820"/>
                </a:solidFill>
                <a:latin typeface="Arial"/>
                <a:ea typeface="Arial"/>
                <a:cs typeface="Arial"/>
              </a:defRPr>
            </a:pPr>
            <a:r>
              <a:rPr sz="1050" b="0" i="0">
                <a:solidFill>
                  <a:srgbClr val="101820"/>
                </a:solidFill>
                <a:latin typeface="Arial"/>
                <a:ea typeface="Arial"/>
                <a:cs typeface="Arial"/>
              </a:rPr>
              <a:t>IMPROVED*</a:t>
            </a:r>
          </a:p>
        </p:txBody>
      </p:sp>
      <p:sp>
        <p:nvSpPr>
          <p:cNvPr id="20" name="">
            <a:extLst xmlns:a="http://schemas.openxmlformats.org/drawingml/2006/main">
              <a:ext uri="{FF2B5EF4-FFF2-40B4-BE49-F238E27FC236}">
                <a16:creationId xmlns:a16="http://schemas.microsoft.com/office/drawing/2014/main" id="{552786B9-588C-4751-9CDE-BFB0A686AF3D}"/>
              </a:ext>
            </a:extLst>
          </p:cNvPr>
          <p:cNvSpPr>
            <a:spLocks xmlns:a="http://schemas.openxmlformats.org/drawingml/2006/main" noGrp="1"/>
          </p:cNvSpPr>
          <p:nvPr/>
        </p:nvSpPr>
        <p:spPr>
          <a:xfrm xmlns:a="http://schemas.openxmlformats.org/drawingml/2006/main">
            <a:off x="400050" y="3676650"/>
            <a:ext cx="11391900" cy="800100"/>
          </a:xfrm>
          <a:prstGeom xmlns:a="http://schemas.openxmlformats.org/drawingml/2006/main" prst="rect">
            <a:avLst/>
          </a:prstGeom>
          <a:solidFill xmlns:a="http://schemas.openxmlformats.org/drawingml/2006/main">
            <a:srgbClr val="F3F6F8"/>
          </a:solidFill>
          <a:ln xmlns:a="http://schemas.openxmlformats.org/drawingml/2006/main" w="9525">
            <a:solidFill>
              <a:srgbClr val="D9E0E5"/>
            </a:solidFill>
            <a:prstDash val="solid"/>
          </a:ln>
        </p:spPr>
      </p:sp>
      <p:sp>
        <p:nvSpPr>
          <p:cNvPr id="21" name="">
            <a:extLst xmlns:a="http://schemas.openxmlformats.org/drawingml/2006/main">
              <a:ext uri="{FF2B5EF4-FFF2-40B4-BE49-F238E27FC236}">
                <a16:creationId xmlns:a16="http://schemas.microsoft.com/office/drawing/2014/main" id="{82A10077-8AC7-4E13-9F25-B142EEC7BC8A}"/>
              </a:ext>
            </a:extLst>
          </p:cNvPr>
          <p:cNvSpPr>
            <a:spLocks xmlns:a="http://schemas.openxmlformats.org/drawingml/2006/main" noGrp="1"/>
          </p:cNvSpPr>
          <p:nvPr/>
        </p:nvSpPr>
        <p:spPr>
          <a:xfrm xmlns:a="http://schemas.openxmlformats.org/drawingml/2006/main">
            <a:off x="514350" y="3848100"/>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01820"/>
                </a:solidFill>
                <a:latin typeface="Arial"/>
                <a:ea typeface="Arial"/>
                <a:cs typeface="Arial"/>
              </a:defRPr>
            </a:pPr>
            <a:r>
              <a:rPr sz="1200" b="1" i="0">
                <a:solidFill>
                  <a:srgbClr val="101820"/>
                </a:solidFill>
                <a:latin typeface="Arial"/>
                <a:ea typeface="Arial"/>
                <a:cs typeface="Arial"/>
              </a:rPr>
              <a:t>Orange / SHEIN</a:t>
            </a:r>
          </a:p>
        </p:txBody>
      </p:sp>
      <p:sp>
        <p:nvSpPr>
          <p:cNvPr id="22" name="">
            <a:extLst xmlns:a="http://schemas.openxmlformats.org/drawingml/2006/main">
              <a:ext uri="{FF2B5EF4-FFF2-40B4-BE49-F238E27FC236}">
                <a16:creationId xmlns:a16="http://schemas.microsoft.com/office/drawing/2014/main" id="{E7066D84-C48C-4B55-B5D6-339504C41A82}"/>
              </a:ext>
            </a:extLst>
          </p:cNvPr>
          <p:cNvSpPr>
            <a:spLocks xmlns:a="http://schemas.openxmlformats.org/drawingml/2006/main" noGrp="1"/>
          </p:cNvSpPr>
          <p:nvPr/>
        </p:nvSpPr>
        <p:spPr>
          <a:xfrm xmlns:a="http://schemas.openxmlformats.org/drawingml/2006/main">
            <a:off x="2990850" y="38481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8867F"/>
                </a:solidFill>
                <a:latin typeface="Arial"/>
                <a:ea typeface="Arial"/>
                <a:cs typeface="Arial"/>
              </a:defRPr>
            </a:pPr>
            <a:r>
              <a:rPr sz="1050" b="0" i="0">
                <a:solidFill>
                  <a:srgbClr val="18867F"/>
                </a:solidFill>
                <a:latin typeface="Arial"/>
                <a:ea typeface="Arial"/>
                <a:cs typeface="Arial"/>
              </a:rPr>
              <a:t>Refusal / withdrawal still wrote cookies</a:t>
            </a:r>
          </a:p>
        </p:txBody>
      </p:sp>
      <p:sp>
        <p:nvSpPr>
          <p:cNvPr id="23" name="">
            <a:extLst xmlns:a="http://schemas.openxmlformats.org/drawingml/2006/main">
              <a:ext uri="{FF2B5EF4-FFF2-40B4-BE49-F238E27FC236}">
                <a16:creationId xmlns:a16="http://schemas.microsoft.com/office/drawing/2014/main" id="{D3C1582F-5D38-4D21-91EB-C34BCF22E76B}"/>
              </a:ext>
            </a:extLst>
          </p:cNvPr>
          <p:cNvSpPr>
            <a:spLocks xmlns:a="http://schemas.openxmlformats.org/drawingml/2006/main" noGrp="1"/>
          </p:cNvSpPr>
          <p:nvPr/>
        </p:nvSpPr>
        <p:spPr>
          <a:xfrm xmlns:a="http://schemas.openxmlformats.org/drawingml/2006/main">
            <a:off x="6705600" y="38481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A13B16"/>
                </a:solidFill>
                <a:latin typeface="Arial"/>
                <a:ea typeface="Arial"/>
                <a:cs typeface="Arial"/>
              </a:defRPr>
            </a:pPr>
            <a:r>
              <a:rPr sz="1050" b="0" i="0">
                <a:solidFill>
                  <a:srgbClr val="A13B16"/>
                </a:solidFill>
                <a:latin typeface="Arial"/>
                <a:ea typeface="Arial"/>
                <a:cs typeface="Arial"/>
              </a:rPr>
              <a:t>Regulator records both remediations</a:t>
            </a:r>
          </a:p>
        </p:txBody>
      </p:sp>
      <p:sp>
        <p:nvSpPr>
          <p:cNvPr id="24" name="">
            <a:extLst xmlns:a="http://schemas.openxmlformats.org/drawingml/2006/main">
              <a:ext uri="{FF2B5EF4-FFF2-40B4-BE49-F238E27FC236}">
                <a16:creationId xmlns:a16="http://schemas.microsoft.com/office/drawing/2014/main" id="{D88C67B3-2551-4A92-A9FE-9081BA630920}"/>
              </a:ext>
            </a:extLst>
          </p:cNvPr>
          <p:cNvSpPr>
            <a:spLocks xmlns:a="http://schemas.openxmlformats.org/drawingml/2006/main" noGrp="1"/>
          </p:cNvSpPr>
          <p:nvPr/>
        </p:nvSpPr>
        <p:spPr>
          <a:xfrm xmlns:a="http://schemas.openxmlformats.org/drawingml/2006/main">
            <a:off x="10420350" y="384810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01820"/>
                </a:solidFill>
                <a:latin typeface="Arial"/>
                <a:ea typeface="Arial"/>
                <a:cs typeface="Arial"/>
              </a:defRPr>
            </a:pPr>
            <a:r>
              <a:rPr sz="1050" b="0" i="0">
                <a:solidFill>
                  <a:srgbClr val="101820"/>
                </a:solidFill>
                <a:latin typeface="Arial"/>
                <a:ea typeface="Arial"/>
                <a:cs typeface="Arial"/>
              </a:rPr>
              <a:t>IMPROVED</a:t>
            </a:r>
          </a:p>
        </p:txBody>
      </p:sp>
      <p:sp>
        <p:nvSpPr>
          <p:cNvPr id="25" name="">
            <a:extLst xmlns:a="http://schemas.openxmlformats.org/drawingml/2006/main">
              <a:ext uri="{FF2B5EF4-FFF2-40B4-BE49-F238E27FC236}">
                <a16:creationId xmlns:a16="http://schemas.microsoft.com/office/drawing/2014/main" id="{F217F5A3-74A0-4F6A-B4B7-CED6E8CF6DAD}"/>
              </a:ext>
            </a:extLst>
          </p:cNvPr>
          <p:cNvSpPr>
            <a:spLocks xmlns:a="http://schemas.openxmlformats.org/drawingml/2006/main" noGrp="1"/>
          </p:cNvSpPr>
          <p:nvPr/>
        </p:nvSpPr>
        <p:spPr>
          <a:xfrm xmlns:a="http://schemas.openxmlformats.org/drawingml/2006/main">
            <a:off x="400050" y="4476750"/>
            <a:ext cx="113919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9E0E5"/>
            </a:solidFill>
            <a:prstDash val="solid"/>
          </a:ln>
        </p:spPr>
      </p:sp>
      <p:sp>
        <p:nvSpPr>
          <p:cNvPr id="26" name="">
            <a:extLst xmlns:a="http://schemas.openxmlformats.org/drawingml/2006/main">
              <a:ext uri="{FF2B5EF4-FFF2-40B4-BE49-F238E27FC236}">
                <a16:creationId xmlns:a16="http://schemas.microsoft.com/office/drawing/2014/main" id="{F84F05F7-91C5-49F9-802E-B3920B07A499}"/>
              </a:ext>
            </a:extLst>
          </p:cNvPr>
          <p:cNvSpPr>
            <a:spLocks xmlns:a="http://schemas.openxmlformats.org/drawingml/2006/main" noGrp="1"/>
          </p:cNvSpPr>
          <p:nvPr/>
        </p:nvSpPr>
        <p:spPr>
          <a:xfrm xmlns:a="http://schemas.openxmlformats.org/drawingml/2006/main">
            <a:off x="514350" y="4648200"/>
            <a:ext cx="2247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01820"/>
                </a:solidFill>
                <a:latin typeface="Arial"/>
                <a:ea typeface="Arial"/>
                <a:cs typeface="Arial"/>
              </a:defRPr>
            </a:pPr>
            <a:r>
              <a:rPr sz="1200" b="1" i="0">
                <a:solidFill>
                  <a:srgbClr val="101820"/>
                </a:solidFill>
                <a:latin typeface="Arial"/>
                <a:ea typeface="Arial"/>
                <a:cs typeface="Arial"/>
              </a:rPr>
              <a:t>Vanity Fair</a:t>
            </a:r>
          </a:p>
        </p:txBody>
      </p:sp>
      <p:sp>
        <p:nvSpPr>
          <p:cNvPr id="27" name="">
            <a:extLst xmlns:a="http://schemas.openxmlformats.org/drawingml/2006/main">
              <a:ext uri="{FF2B5EF4-FFF2-40B4-BE49-F238E27FC236}">
                <a16:creationId xmlns:a16="http://schemas.microsoft.com/office/drawing/2014/main" id="{3F0AF410-42B9-438E-AF8E-A29244CF3206}"/>
              </a:ext>
            </a:extLst>
          </p:cNvPr>
          <p:cNvSpPr>
            <a:spLocks xmlns:a="http://schemas.openxmlformats.org/drawingml/2006/main" noGrp="1"/>
          </p:cNvSpPr>
          <p:nvPr/>
        </p:nvSpPr>
        <p:spPr>
          <a:xfrm xmlns:a="http://schemas.openxmlformats.org/drawingml/2006/main">
            <a:off x="2990850" y="46482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8867F"/>
                </a:solidFill>
                <a:latin typeface="Arial"/>
                <a:ea typeface="Arial"/>
                <a:cs typeface="Arial"/>
              </a:defRPr>
            </a:pPr>
            <a:r>
              <a:rPr sz="1050" b="0" i="0">
                <a:solidFill>
                  <a:srgbClr val="18867F"/>
                </a:solidFill>
                <a:latin typeface="Arial"/>
                <a:ea typeface="Arial"/>
                <a:cs typeface="Arial"/>
              </a:rPr>
              <a:t>Earlier compliance proceeding closed</a:t>
            </a:r>
          </a:p>
        </p:txBody>
      </p:sp>
      <p:sp>
        <p:nvSpPr>
          <p:cNvPr id="28" name="">
            <a:extLst xmlns:a="http://schemas.openxmlformats.org/drawingml/2006/main">
              <a:ext uri="{FF2B5EF4-FFF2-40B4-BE49-F238E27FC236}">
                <a16:creationId xmlns:a16="http://schemas.microsoft.com/office/drawing/2014/main" id="{E4094BED-DCE5-454A-8504-F526A8E8FC8D}"/>
              </a:ext>
            </a:extLst>
          </p:cNvPr>
          <p:cNvSpPr>
            <a:spLocks xmlns:a="http://schemas.openxmlformats.org/drawingml/2006/main" noGrp="1"/>
          </p:cNvSpPr>
          <p:nvPr/>
        </p:nvSpPr>
        <p:spPr>
          <a:xfrm xmlns:a="http://schemas.openxmlformats.org/drawingml/2006/main">
            <a:off x="6705600" y="464820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A13B16"/>
                </a:solidFill>
                <a:latin typeface="Arial"/>
                <a:ea typeface="Arial"/>
                <a:cs typeface="Arial"/>
              </a:defRPr>
            </a:pPr>
            <a:r>
              <a:rPr sz="1050" b="0" i="0">
                <a:solidFill>
                  <a:srgbClr val="A13B16"/>
                </a:solidFill>
                <a:latin typeface="Arial"/>
                <a:ea typeface="Arial"/>
                <a:cs typeface="Arial"/>
              </a:rPr>
              <a:t>Tracking persisted after reject / withdrawal</a:t>
            </a:r>
          </a:p>
        </p:txBody>
      </p:sp>
      <p:sp>
        <p:nvSpPr>
          <p:cNvPr id="29" name="">
            <a:extLst xmlns:a="http://schemas.openxmlformats.org/drawingml/2006/main">
              <a:ext uri="{FF2B5EF4-FFF2-40B4-BE49-F238E27FC236}">
                <a16:creationId xmlns:a16="http://schemas.microsoft.com/office/drawing/2014/main" id="{F5783572-2CB4-4D8C-86B9-C93CDEC470CA}"/>
              </a:ext>
            </a:extLst>
          </p:cNvPr>
          <p:cNvSpPr>
            <a:spLocks xmlns:a="http://schemas.openxmlformats.org/drawingml/2006/main" noGrp="1"/>
          </p:cNvSpPr>
          <p:nvPr/>
        </p:nvSpPr>
        <p:spPr>
          <a:xfrm xmlns:a="http://schemas.openxmlformats.org/drawingml/2006/main">
            <a:off x="10420350" y="4648200"/>
            <a:ext cx="1257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i="0">
                <a:solidFill>
                  <a:srgbClr val="101820"/>
                </a:solidFill>
                <a:latin typeface="Arial"/>
                <a:ea typeface="Arial"/>
                <a:cs typeface="Arial"/>
              </a:defRPr>
            </a:pPr>
            <a:r>
              <a:rPr sz="1050" b="0" i="0">
                <a:solidFill>
                  <a:srgbClr val="101820"/>
                </a:solidFill>
                <a:latin typeface="Arial"/>
                <a:ea typeface="Arial"/>
                <a:cs typeface="Arial"/>
              </a:rPr>
              <a:t>REGRESSED</a:t>
            </a:r>
          </a:p>
        </p:txBody>
      </p:sp>
      <p:sp>
        <p:nvSpPr>
          <p:cNvPr id="30" name="">
            <a:extLst xmlns:a="http://schemas.openxmlformats.org/drawingml/2006/main">
              <a:ext uri="{FF2B5EF4-FFF2-40B4-BE49-F238E27FC236}">
                <a16:creationId xmlns:a16="http://schemas.microsoft.com/office/drawing/2014/main" id="{381EF00D-098C-430B-A7CE-E4F780E6D0E8}"/>
              </a:ext>
            </a:extLst>
          </p:cNvPr>
          <p:cNvSpPr>
            <a:spLocks xmlns:a="http://schemas.openxmlformats.org/drawingml/2006/main" noGrp="1"/>
          </p:cNvSpPr>
          <p:nvPr/>
        </p:nvSpPr>
        <p:spPr>
          <a:xfrm xmlns:a="http://schemas.openxmlformats.org/drawingml/2006/main">
            <a:off x="628650" y="5429250"/>
            <a:ext cx="1714500" cy="285750"/>
          </a:xfrm>
          <a:prstGeom xmlns:a="http://schemas.openxmlformats.org/drawingml/2006/main" prst="roundRect">
            <a:avLst>
              <a:gd name="adj" fmla="val 13333"/>
            </a:avLst>
          </a:prstGeom>
          <a:solidFill xmlns:a="http://schemas.openxmlformats.org/drawingml/2006/main">
            <a:srgbClr val="DCEFEB"/>
          </a:solidFill>
          <a:ln xmlns:a="http://schemas.openxmlformats.org/drawingml/2006/main" w="0">
            <a:solidFill>
              <a:srgbClr val="DCEFEB"/>
            </a:solidFill>
            <a:prstDash val="solid"/>
          </a:ln>
        </p:spPr>
      </p:sp>
      <p:sp>
        <p:nvSpPr>
          <p:cNvPr id="31" name="">
            <a:extLst xmlns:a="http://schemas.openxmlformats.org/drawingml/2006/main">
              <a:ext uri="{FF2B5EF4-FFF2-40B4-BE49-F238E27FC236}">
                <a16:creationId xmlns:a16="http://schemas.microsoft.com/office/drawing/2014/main" id="{F52493A5-1163-4265-A0BB-DB1742DE5EDC}"/>
              </a:ext>
            </a:extLst>
          </p:cNvPr>
          <p:cNvSpPr>
            <a:spLocks xmlns:a="http://schemas.openxmlformats.org/drawingml/2006/main" noGrp="1"/>
          </p:cNvSpPr>
          <p:nvPr/>
        </p:nvSpPr>
        <p:spPr>
          <a:xfrm xmlns:a="http://schemas.openxmlformats.org/drawingml/2006/main">
            <a:off x="704850" y="547687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18867F"/>
                </a:solidFill>
                <a:latin typeface="Arial"/>
                <a:ea typeface="Arial"/>
                <a:cs typeface="Arial"/>
              </a:defRPr>
            </a:pPr>
            <a:r>
              <a:rPr sz="975" b="1" i="0">
                <a:solidFill>
                  <a:srgbClr val="18867F"/>
                </a:solidFill>
                <a:latin typeface="Arial"/>
                <a:ea typeface="Arial"/>
                <a:cs typeface="Arial"/>
              </a:rPr>
              <a:t>5 IMPROVED</a:t>
            </a:r>
          </a:p>
        </p:txBody>
      </p:sp>
      <p:sp>
        <p:nvSpPr>
          <p:cNvPr id="32" name="">
            <a:extLst xmlns:a="http://schemas.openxmlformats.org/drawingml/2006/main">
              <a:ext uri="{FF2B5EF4-FFF2-40B4-BE49-F238E27FC236}">
                <a16:creationId xmlns:a16="http://schemas.microsoft.com/office/drawing/2014/main" id="{AA035ECF-4C05-4453-9BCA-0BED06A885B0}"/>
              </a:ext>
            </a:extLst>
          </p:cNvPr>
          <p:cNvSpPr>
            <a:spLocks xmlns:a="http://schemas.openxmlformats.org/drawingml/2006/main" noGrp="1"/>
          </p:cNvSpPr>
          <p:nvPr/>
        </p:nvSpPr>
        <p:spPr>
          <a:xfrm xmlns:a="http://schemas.openxmlformats.org/drawingml/2006/main">
            <a:off x="2552700" y="5429250"/>
            <a:ext cx="1714500" cy="285750"/>
          </a:xfrm>
          <a:prstGeom xmlns:a="http://schemas.openxmlformats.org/drawingml/2006/main" prst="roundRect">
            <a:avLst>
              <a:gd name="adj" fmla="val 13333"/>
            </a:avLst>
          </a:prstGeom>
          <a:solidFill xmlns:a="http://schemas.openxmlformats.org/drawingml/2006/main">
            <a:srgbClr val="F6E6DF"/>
          </a:solidFill>
          <a:ln xmlns:a="http://schemas.openxmlformats.org/drawingml/2006/main" w="0">
            <a:solidFill>
              <a:srgbClr val="F6E6DF"/>
            </a:solidFill>
            <a:prstDash val="solid"/>
          </a:ln>
        </p:spPr>
      </p:sp>
      <p:sp>
        <p:nvSpPr>
          <p:cNvPr id="33" name="">
            <a:extLst xmlns:a="http://schemas.openxmlformats.org/drawingml/2006/main">
              <a:ext uri="{FF2B5EF4-FFF2-40B4-BE49-F238E27FC236}">
                <a16:creationId xmlns:a16="http://schemas.microsoft.com/office/drawing/2014/main" id="{18E9FDDA-3BED-4E3B-8A54-CD8C78B39500}"/>
              </a:ext>
            </a:extLst>
          </p:cNvPr>
          <p:cNvSpPr>
            <a:spLocks xmlns:a="http://schemas.openxmlformats.org/drawingml/2006/main" noGrp="1"/>
          </p:cNvSpPr>
          <p:nvPr/>
        </p:nvSpPr>
        <p:spPr>
          <a:xfrm xmlns:a="http://schemas.openxmlformats.org/drawingml/2006/main">
            <a:off x="2628900" y="547687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A13B16"/>
                </a:solidFill>
                <a:latin typeface="Arial"/>
                <a:ea typeface="Arial"/>
                <a:cs typeface="Arial"/>
              </a:defRPr>
            </a:pPr>
            <a:r>
              <a:rPr sz="975" b="1" i="0">
                <a:solidFill>
                  <a:srgbClr val="A13B16"/>
                </a:solidFill>
                <a:latin typeface="Arial"/>
                <a:ea typeface="Arial"/>
                <a:cs typeface="Arial"/>
              </a:rPr>
              <a:t>1 REGRESSED</a:t>
            </a:r>
          </a:p>
        </p:txBody>
      </p:sp>
      <p:sp>
        <p:nvSpPr>
          <p:cNvPr id="34" name="">
            <a:extLst xmlns:a="http://schemas.openxmlformats.org/drawingml/2006/main">
              <a:ext uri="{FF2B5EF4-FFF2-40B4-BE49-F238E27FC236}">
                <a16:creationId xmlns:a16="http://schemas.microsoft.com/office/drawing/2014/main" id="{397480B3-D601-456D-98A7-64C0F1B12E55}"/>
              </a:ext>
            </a:extLst>
          </p:cNvPr>
          <p:cNvSpPr>
            <a:spLocks xmlns:a="http://schemas.openxmlformats.org/drawingml/2006/main" noGrp="1"/>
          </p:cNvSpPr>
          <p:nvPr/>
        </p:nvSpPr>
        <p:spPr>
          <a:xfrm xmlns:a="http://schemas.openxmlformats.org/drawingml/2006/main">
            <a:off x="4476750" y="5429250"/>
            <a:ext cx="1714500" cy="285750"/>
          </a:xfrm>
          <a:prstGeom xmlns:a="http://schemas.openxmlformats.org/drawingml/2006/main" prst="roundRect">
            <a:avLst>
              <a:gd name="adj" fmla="val 13333"/>
            </a:avLst>
          </a:prstGeom>
          <a:solidFill xmlns:a="http://schemas.openxmlformats.org/drawingml/2006/main">
            <a:srgbClr val="FBF3D0"/>
          </a:solidFill>
          <a:ln xmlns:a="http://schemas.openxmlformats.org/drawingml/2006/main" w="0">
            <a:solidFill>
              <a:srgbClr val="FBF3D0"/>
            </a:solidFill>
            <a:prstDash val="solid"/>
          </a:ln>
        </p:spPr>
      </p:sp>
      <p:sp>
        <p:nvSpPr>
          <p:cNvPr id="35" name="">
            <a:extLst xmlns:a="http://schemas.openxmlformats.org/drawingml/2006/main">
              <a:ext uri="{FF2B5EF4-FFF2-40B4-BE49-F238E27FC236}">
                <a16:creationId xmlns:a16="http://schemas.microsoft.com/office/drawing/2014/main" id="{89661697-9978-45A5-AF54-6F227940E972}"/>
              </a:ext>
            </a:extLst>
          </p:cNvPr>
          <p:cNvSpPr>
            <a:spLocks xmlns:a="http://schemas.openxmlformats.org/drawingml/2006/main" noGrp="1"/>
          </p:cNvSpPr>
          <p:nvPr/>
        </p:nvSpPr>
        <p:spPr>
          <a:xfrm xmlns:a="http://schemas.openxmlformats.org/drawingml/2006/main">
            <a:off x="4552950" y="547687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101820"/>
                </a:solidFill>
                <a:latin typeface="Arial"/>
                <a:ea typeface="Arial"/>
                <a:cs typeface="Arial"/>
              </a:defRPr>
            </a:pPr>
            <a:r>
              <a:rPr sz="975" b="1" i="0">
                <a:solidFill>
                  <a:srgbClr val="101820"/>
                </a:solidFill>
                <a:latin typeface="Arial"/>
                <a:ea typeface="Arial"/>
                <a:cs typeface="Arial"/>
              </a:rPr>
              <a:t>3 PARITY CASES</a:t>
            </a:r>
          </a:p>
        </p:txBody>
      </p:sp>
      <p:sp>
        <p:nvSpPr>
          <p:cNvPr id="36" name="">
            <a:extLst xmlns:a="http://schemas.openxmlformats.org/drawingml/2006/main">
              <a:ext uri="{FF2B5EF4-FFF2-40B4-BE49-F238E27FC236}">
                <a16:creationId xmlns:a16="http://schemas.microsoft.com/office/drawing/2014/main" id="{ACD53D9A-B736-4462-8DB7-2DD97CAFDA68}"/>
              </a:ext>
            </a:extLst>
          </p:cNvPr>
          <p:cNvSpPr>
            <a:spLocks xmlns:a="http://schemas.openxmlformats.org/drawingml/2006/main" noGrp="1"/>
          </p:cNvSpPr>
          <p:nvPr/>
        </p:nvSpPr>
        <p:spPr>
          <a:xfrm xmlns:a="http://schemas.openxmlformats.org/drawingml/2006/main">
            <a:off x="6400800" y="5429250"/>
            <a:ext cx="1714500" cy="285750"/>
          </a:xfrm>
          <a:prstGeom xmlns:a="http://schemas.openxmlformats.org/drawingml/2006/main" prst="roundRect">
            <a:avLst>
              <a:gd name="adj" fmla="val 13333"/>
            </a:avLst>
          </a:prstGeom>
          <a:solidFill xmlns:a="http://schemas.openxmlformats.org/drawingml/2006/main">
            <a:srgbClr val="DDF2FA"/>
          </a:solidFill>
          <a:ln xmlns:a="http://schemas.openxmlformats.org/drawingml/2006/main" w="0">
            <a:solidFill>
              <a:srgbClr val="DDF2FA"/>
            </a:solidFill>
            <a:prstDash val="solid"/>
          </a:ln>
        </p:spPr>
      </p:sp>
      <p:sp>
        <p:nvSpPr>
          <p:cNvPr id="37" name="">
            <a:extLst xmlns:a="http://schemas.openxmlformats.org/drawingml/2006/main">
              <a:ext uri="{FF2B5EF4-FFF2-40B4-BE49-F238E27FC236}">
                <a16:creationId xmlns:a16="http://schemas.microsoft.com/office/drawing/2014/main" id="{F3BF324D-8403-4944-AB0F-DB00D526FA56}"/>
              </a:ext>
            </a:extLst>
          </p:cNvPr>
          <p:cNvSpPr>
            <a:spLocks xmlns:a="http://schemas.openxmlformats.org/drawingml/2006/main" noGrp="1"/>
          </p:cNvSpPr>
          <p:nvPr/>
        </p:nvSpPr>
        <p:spPr>
          <a:xfrm xmlns:a="http://schemas.openxmlformats.org/drawingml/2006/main">
            <a:off x="6477000" y="547687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146EA8"/>
                </a:solidFill>
                <a:latin typeface="Arial"/>
                <a:ea typeface="Arial"/>
                <a:cs typeface="Arial"/>
              </a:defRPr>
            </a:pPr>
            <a:r>
              <a:rPr sz="975" b="1" i="0">
                <a:solidFill>
                  <a:srgbClr val="146EA8"/>
                </a:solidFill>
                <a:latin typeface="Arial"/>
                <a:ea typeface="Arial"/>
                <a:cs typeface="Arial"/>
              </a:rPr>
              <a:t>3 REGULATOR CHECKS</a:t>
            </a:r>
          </a:p>
        </p:txBody>
      </p:sp>
      <p:sp>
        <p:nvSpPr>
          <p:cNvPr id="38" name="">
            <a:extLst xmlns:a="http://schemas.openxmlformats.org/drawingml/2006/main">
              <a:ext uri="{FF2B5EF4-FFF2-40B4-BE49-F238E27FC236}">
                <a16:creationId xmlns:a16="http://schemas.microsoft.com/office/drawing/2014/main" id="{CCC48BC2-B89C-48B2-A50A-1F0BE13B8CC0}"/>
              </a:ext>
            </a:extLst>
          </p:cNvPr>
          <p:cNvSpPr>
            <a:spLocks xmlns:a="http://schemas.openxmlformats.org/drawingml/2006/main" noGrp="1"/>
          </p:cNvSpPr>
          <p:nvPr/>
        </p:nvSpPr>
        <p:spPr>
          <a:xfrm xmlns:a="http://schemas.openxmlformats.org/drawingml/2006/main">
            <a:off x="8324850" y="5429250"/>
            <a:ext cx="2857500" cy="285750"/>
          </a:xfrm>
          <a:prstGeom xmlns:a="http://schemas.openxmlformats.org/drawingml/2006/main" prst="roundRect">
            <a:avLst>
              <a:gd name="adj" fmla="val 13333"/>
            </a:avLst>
          </a:prstGeom>
          <a:solidFill xmlns:a="http://schemas.openxmlformats.org/drawingml/2006/main">
            <a:srgbClr val="F3F6F8"/>
          </a:solidFill>
          <a:ln xmlns:a="http://schemas.openxmlformats.org/drawingml/2006/main" w="0">
            <a:solidFill>
              <a:srgbClr val="F3F6F8"/>
            </a:solidFill>
            <a:prstDash val="solid"/>
          </a:ln>
        </p:spPr>
      </p:sp>
      <p:sp>
        <p:nvSpPr>
          <p:cNvPr id="39" name="">
            <a:extLst xmlns:a="http://schemas.openxmlformats.org/drawingml/2006/main">
              <a:ext uri="{FF2B5EF4-FFF2-40B4-BE49-F238E27FC236}">
                <a16:creationId xmlns:a16="http://schemas.microsoft.com/office/drawing/2014/main" id="{953CA8DB-BCB8-4C55-B63E-75FD29D00E62}"/>
              </a:ext>
            </a:extLst>
          </p:cNvPr>
          <p:cNvSpPr>
            <a:spLocks xmlns:a="http://schemas.openxmlformats.org/drawingml/2006/main" noGrp="1"/>
          </p:cNvSpPr>
          <p:nvPr/>
        </p:nvSpPr>
        <p:spPr>
          <a:xfrm xmlns:a="http://schemas.openxmlformats.org/drawingml/2006/main">
            <a:off x="8401050" y="5476875"/>
            <a:ext cx="2705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75" b="1" i="0">
                <a:solidFill>
                  <a:srgbClr val="4C5B67"/>
                </a:solidFill>
                <a:latin typeface="Arial"/>
                <a:ea typeface="Arial"/>
                <a:cs typeface="Arial"/>
              </a:defRPr>
            </a:pPr>
            <a:r>
              <a:rPr sz="975" b="1" i="0">
                <a:solidFill>
                  <a:srgbClr val="4C5B67"/>
                </a:solidFill>
                <a:latin typeface="Arial"/>
                <a:ea typeface="Arial"/>
                <a:cs typeface="Arial"/>
              </a:rPr>
              <a:t>1 DIRECT ATTRIBUTION</a:t>
            </a:r>
          </a:p>
        </p:txBody>
      </p:sp>
      <p:sp>
        <p:nvSpPr>
          <p:cNvPr id="40" name="">
            <a:extLst xmlns:a="http://schemas.openxmlformats.org/drawingml/2006/main">
              <a:ext uri="{FF2B5EF4-FFF2-40B4-BE49-F238E27FC236}">
                <a16:creationId xmlns:a16="http://schemas.microsoft.com/office/drawing/2014/main" id="{D38D0207-F2C1-4AD8-8E99-7C124CE95339}"/>
              </a:ext>
            </a:extLst>
          </p:cNvPr>
          <p:cNvSpPr>
            <a:spLocks xmlns:a="http://schemas.openxmlformats.org/drawingml/2006/main" noGrp="1"/>
          </p:cNvSpPr>
          <p:nvPr/>
        </p:nvSpPr>
        <p:spPr>
          <a:xfrm xmlns:a="http://schemas.openxmlformats.org/drawingml/2006/main">
            <a:off x="1905000" y="5943600"/>
            <a:ext cx="838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i="0">
                <a:solidFill>
                  <a:srgbClr val="4C5B67"/>
                </a:solidFill>
                <a:latin typeface="Arial"/>
                <a:ea typeface="Arial"/>
                <a:cs typeface="Arial"/>
              </a:defRPr>
            </a:pPr>
            <a:r>
              <a:rPr sz="1275" b="1" i="0">
                <a:solidFill>
                  <a:srgbClr val="4C5B67"/>
                </a:solidFill>
                <a:latin typeface="Arial"/>
                <a:ea typeface="Arial"/>
                <a:cs typeface="Arial"/>
              </a:rPr>
              <a:t>Five improved; one regressed. These are purposive cases, not a prevalence estimate.</a:t>
            </a:r>
          </a:p>
        </p:txBody>
      </p:sp>
      <p:sp>
        <p:nvSpPr>
          <p:cNvPr id="41" name="">
            <a:extLst xmlns:a="http://schemas.openxmlformats.org/drawingml/2006/main">
              <a:ext uri="{FF2B5EF4-FFF2-40B4-BE49-F238E27FC236}">
                <a16:creationId xmlns:a16="http://schemas.microsoft.com/office/drawing/2014/main" id="{2B3ED488-A1F4-446F-8D83-C9D4B6077E76}"/>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42" name="">
            <a:extLst xmlns:a="http://schemas.openxmlformats.org/drawingml/2006/main">
              <a:ext uri="{FF2B5EF4-FFF2-40B4-BE49-F238E27FC236}">
                <a16:creationId xmlns:a16="http://schemas.microsoft.com/office/drawing/2014/main" id="{096C5427-708A-467B-96A1-2B830F912BD6}"/>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*TikTok: effort only; Orange/SHEIN: technical refusal effectiveness</a:t>
            </a:r>
          </a:p>
        </p:txBody>
      </p:sp>
    </p:spTree>
    <p:extLst>
      <p:ext uri="{BB962C8B-B14F-4D97-AF65-F5344CB8AC3E}">
        <p14:creationId xmlns:p14="http://schemas.microsoft.com/office/powerpoint/2010/main" val="5140284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D2A641A-B803-4FDE-8446-0DA84CD2D20F}"/>
              </a:ext>
            </a:extLst>
          </p:cNvPr>
          <p:cNvSpPr>
            <a:spLocks xmlns:a="http://schemas.openxmlformats.org/drawingml/2006/main" noGrp="1"/>
          </p:cNvSpPr>
          <p:nvPr/>
        </p:nvSpPr>
        <p:spPr>
          <a:xfrm xmlns:a="http://schemas.openxmlformats.org/drawingml/2006/main">
            <a:off x="400050" y="247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146EA8"/>
                </a:solidFill>
                <a:latin typeface="Arial"/>
                <a:ea typeface="Arial"/>
                <a:cs typeface="Arial"/>
              </a:defRPr>
            </a:pPr>
            <a:r>
              <a:rPr sz="825" b="1" i="0">
                <a:solidFill>
                  <a:srgbClr val="146EA8"/>
                </a:solidFill>
                <a:latin typeface="Arial"/>
                <a:ea typeface="Arial"/>
                <a:cs typeface="Arial"/>
              </a:rPr>
              <a:t>SSRP 2026 | LONGITUDINAL CONSENT STUDY</a:t>
            </a:r>
          </a:p>
        </p:txBody>
      </p:sp>
      <p:sp>
        <p:nvSpPr>
          <p:cNvPr id="2" name="">
            <a:extLst xmlns:a="http://schemas.openxmlformats.org/drawingml/2006/main">
              <a:ext uri="{FF2B5EF4-FFF2-40B4-BE49-F238E27FC236}">
                <a16:creationId xmlns:a16="http://schemas.microsoft.com/office/drawing/2014/main" id="{C7F71B32-6138-4285-AD91-52273C7B0C26}"/>
              </a:ext>
            </a:extLst>
          </p:cNvPr>
          <p:cNvSpPr>
            <a:spLocks xmlns:a="http://schemas.openxmlformats.org/drawingml/2006/main" noGrp="1"/>
          </p:cNvSpPr>
          <p:nvPr/>
        </p:nvSpPr>
        <p:spPr>
          <a:xfrm xmlns:a="http://schemas.openxmlformats.org/drawingml/2006/main">
            <a:off x="11334750" y="2571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73818B"/>
                </a:solidFill>
                <a:latin typeface="Arial"/>
                <a:ea typeface="Arial"/>
                <a:cs typeface="Arial"/>
              </a:defRPr>
            </a:pPr>
            <a:r>
              <a:rPr sz="750" b="0" i="0">
                <a:solidFill>
                  <a:srgbClr val="73818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B612776-4AAB-479B-A9F5-28541A4DF7AB}"/>
              </a:ext>
            </a:extLst>
          </p:cNvPr>
          <p:cNvSpPr>
            <a:spLocks xmlns:a="http://schemas.openxmlformats.org/drawingml/2006/main" noGrp="1"/>
          </p:cNvSpPr>
          <p:nvPr/>
        </p:nvSpPr>
        <p:spPr>
          <a:xfrm xmlns:a="http://schemas.openxmlformats.org/drawingml/2006/main">
            <a:off x="400050" y="552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01820"/>
                </a:solidFill>
                <a:latin typeface="Arial"/>
                <a:ea typeface="Arial"/>
                <a:cs typeface="Arial"/>
              </a:defRPr>
            </a:pPr>
            <a:r>
              <a:rPr sz="2175" b="1" i="0">
                <a:solidFill>
                  <a:srgbClr val="101820"/>
                </a:solidFill>
                <a:latin typeface="Arial"/>
                <a:ea typeface="Arial"/>
                <a:cs typeface="Arial"/>
              </a:rPr>
              <a:t>Google: rejection moved from at least five actions to one</a:t>
            </a:r>
          </a:p>
        </p:txBody>
      </p:sp>
      <p:sp>
        <p:nvSpPr>
          <p:cNvPr id="4" name="">
            <a:extLst xmlns:a="http://schemas.openxmlformats.org/drawingml/2006/main">
              <a:ext uri="{FF2B5EF4-FFF2-40B4-BE49-F238E27FC236}">
                <a16:creationId xmlns:a16="http://schemas.microsoft.com/office/drawing/2014/main" id="{3BF1DC8A-5072-4269-9588-76F32EDA63D7}"/>
              </a:ext>
            </a:extLst>
          </p:cNvPr>
          <p:cNvSpPr>
            <a:spLocks xmlns:a="http://schemas.openxmlformats.org/drawingml/2006/main" noGrp="1"/>
          </p:cNvSpPr>
          <p:nvPr/>
        </p:nvSpPr>
        <p:spPr>
          <a:xfrm xmlns:a="http://schemas.openxmlformats.org/drawingml/2006/main">
            <a:off x="400050" y="1257300"/>
            <a:ext cx="11391900" cy="19050"/>
          </a:xfrm>
          <a:prstGeom xmlns:a="http://schemas.openxmlformats.org/drawingml/2006/main" prst="rect">
            <a:avLst/>
          </a:prstGeom>
          <a:solidFill xmlns:a="http://schemas.openxmlformats.org/drawingml/2006/main">
            <a:srgbClr val="D9E0E5"/>
          </a:solidFill>
          <a:ln xmlns:a="http://schemas.openxmlformats.org/drawingml/2006/main" w="0">
            <a:solidFill>
              <a:srgbClr val="D9E0E5"/>
            </a:solidFill>
            <a:prstDash val="solid"/>
          </a:ln>
        </p:spPr>
      </p:sp>
      <p:sp>
        <p:nvSpPr>
          <p:cNvPr id="5" name="">
            <a:extLst xmlns:a="http://schemas.openxmlformats.org/drawingml/2006/main">
              <a:ext uri="{FF2B5EF4-FFF2-40B4-BE49-F238E27FC236}">
                <a16:creationId xmlns:a16="http://schemas.microsoft.com/office/drawing/2014/main" id="{9DB61D74-25A1-4318-891D-E99365737793}"/>
              </a:ext>
            </a:extLst>
          </p:cNvPr>
          <p:cNvSpPr>
            <a:spLocks xmlns:a="http://schemas.openxmlformats.org/drawingml/2006/main" noGrp="1"/>
          </p:cNvSpPr>
          <p:nvPr/>
        </p:nvSpPr>
        <p:spPr>
          <a:xfrm xmlns:a="http://schemas.openxmlformats.org/drawingml/2006/main">
            <a:off x="400050" y="15811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146EA8"/>
                </a:solidFill>
                <a:latin typeface="Arial"/>
                <a:ea typeface="Arial"/>
                <a:cs typeface="Arial"/>
              </a:defRPr>
            </a:pPr>
            <a:r>
              <a:rPr sz="2325" b="1" i="0">
                <a:solidFill>
                  <a:srgbClr val="146EA8"/>
                </a:solidFill>
                <a:latin typeface="Arial"/>
                <a:ea typeface="Arial"/>
                <a:cs typeface="Arial"/>
              </a:rPr>
              <a:t>BEFORE</a:t>
            </a:r>
          </a:p>
        </p:txBody>
      </p:sp>
      <p:sp>
        <p:nvSpPr>
          <p:cNvPr id="6" name="">
            <a:extLst xmlns:a="http://schemas.openxmlformats.org/drawingml/2006/main">
              <a:ext uri="{FF2B5EF4-FFF2-40B4-BE49-F238E27FC236}">
                <a16:creationId xmlns:a16="http://schemas.microsoft.com/office/drawing/2014/main" id="{43E31C09-2134-4895-B6CC-88FED33D64BB}"/>
              </a:ext>
            </a:extLst>
          </p:cNvPr>
          <p:cNvSpPr>
            <a:spLocks xmlns:a="http://schemas.openxmlformats.org/drawingml/2006/main" noGrp="1"/>
          </p:cNvSpPr>
          <p:nvPr/>
        </p:nvSpPr>
        <p:spPr>
          <a:xfrm xmlns:a="http://schemas.openxmlformats.org/drawingml/2006/main">
            <a:off x="2914650" y="1581150"/>
            <a:ext cx="428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325" b="1" i="0">
                <a:solidFill>
                  <a:srgbClr val="73818B"/>
                </a:solidFill>
                <a:latin typeface="Arial"/>
                <a:ea typeface="Arial"/>
                <a:cs typeface="Arial"/>
              </a:defRPr>
            </a:pPr>
            <a:r>
              <a:rPr sz="2325" b="1" i="0">
                <a:solidFill>
                  <a:srgbClr val="73818B"/>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3B0C3A8C-31B2-4EA8-9565-F40726072BDB}"/>
              </a:ext>
            </a:extLst>
          </p:cNvPr>
          <p:cNvSpPr>
            <a:spLocks xmlns:a="http://schemas.openxmlformats.org/drawingml/2006/main" noGrp="1"/>
          </p:cNvSpPr>
          <p:nvPr/>
        </p:nvSpPr>
        <p:spPr>
          <a:xfrm xmlns:a="http://schemas.openxmlformats.org/drawingml/2006/main">
            <a:off x="3505200" y="15811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18867F"/>
                </a:solidFill>
                <a:latin typeface="Arial"/>
                <a:ea typeface="Arial"/>
                <a:cs typeface="Arial"/>
              </a:defRPr>
            </a:pPr>
            <a:r>
              <a:rPr sz="2325" b="1" i="0">
                <a:solidFill>
                  <a:srgbClr val="18867F"/>
                </a:solidFill>
                <a:latin typeface="Arial"/>
                <a:ea typeface="Arial"/>
                <a:cs typeface="Arial"/>
              </a:rPr>
              <a:t>DATED EVIDENCE</a:t>
            </a:r>
          </a:p>
        </p:txBody>
      </p:sp>
      <p:sp>
        <p:nvSpPr>
          <p:cNvPr id="8" name="">
            <a:extLst xmlns:a="http://schemas.openxmlformats.org/drawingml/2006/main">
              <a:ext uri="{FF2B5EF4-FFF2-40B4-BE49-F238E27FC236}">
                <a16:creationId xmlns:a16="http://schemas.microsoft.com/office/drawing/2014/main" id="{AD432BDC-E374-4082-AD85-A4A729061D1B}"/>
              </a:ext>
            </a:extLst>
          </p:cNvPr>
          <p:cNvSpPr>
            <a:spLocks xmlns:a="http://schemas.openxmlformats.org/drawingml/2006/main" noGrp="1"/>
          </p:cNvSpPr>
          <p:nvPr/>
        </p:nvSpPr>
        <p:spPr>
          <a:xfrm xmlns:a="http://schemas.openxmlformats.org/drawingml/2006/main">
            <a:off x="6572250" y="1581150"/>
            <a:ext cx="428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325" b="1" i="0">
                <a:solidFill>
                  <a:srgbClr val="73818B"/>
                </a:solidFill>
                <a:latin typeface="Arial"/>
                <a:ea typeface="Arial"/>
                <a:cs typeface="Arial"/>
              </a:defRPr>
            </a:pPr>
            <a:r>
              <a:rPr sz="2325" b="1" i="0">
                <a:solidFill>
                  <a:srgbClr val="73818B"/>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469F7057-878C-441B-AFA3-888A4A227697}"/>
              </a:ext>
            </a:extLst>
          </p:cNvPr>
          <p:cNvSpPr>
            <a:spLocks xmlns:a="http://schemas.openxmlformats.org/drawingml/2006/main" noGrp="1"/>
          </p:cNvSpPr>
          <p:nvPr/>
        </p:nvSpPr>
        <p:spPr>
          <a:xfrm xmlns:a="http://schemas.openxmlformats.org/drawingml/2006/main">
            <a:off x="7162800" y="1581150"/>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A13B16"/>
                </a:solidFill>
                <a:latin typeface="Arial"/>
                <a:ea typeface="Arial"/>
                <a:cs typeface="Arial"/>
              </a:defRPr>
            </a:pPr>
            <a:r>
              <a:rPr sz="2325" b="1" i="0">
                <a:solidFill>
                  <a:srgbClr val="A13B16"/>
                </a:solidFill>
                <a:latin typeface="Arial"/>
                <a:ea typeface="Arial"/>
                <a:cs typeface="Arial"/>
              </a:rPr>
              <a:t>AFTER</a:t>
            </a:r>
          </a:p>
        </p:txBody>
      </p:sp>
      <p:sp>
        <p:nvSpPr>
          <p:cNvPr id="10" name="">
            <a:extLst xmlns:a="http://schemas.openxmlformats.org/drawingml/2006/main">
              <a:ext uri="{FF2B5EF4-FFF2-40B4-BE49-F238E27FC236}">
                <a16:creationId xmlns:a16="http://schemas.microsoft.com/office/drawing/2014/main" id="{C8FBEB42-AEA9-40FF-A8DF-55FC81B5653F}"/>
              </a:ext>
            </a:extLst>
          </p:cNvPr>
          <p:cNvSpPr>
            <a:spLocks xmlns:a="http://schemas.openxmlformats.org/drawingml/2006/main" noGrp="1"/>
          </p:cNvSpPr>
          <p:nvPr/>
        </p:nvSpPr>
        <p:spPr>
          <a:xfrm xmlns:a="http://schemas.openxmlformats.org/drawingml/2006/main">
            <a:off x="9620250" y="1581150"/>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650" b="1" i="0">
                <a:solidFill>
                  <a:srgbClr val="101820"/>
                </a:solidFill>
                <a:latin typeface="Arial"/>
                <a:ea typeface="Arial"/>
                <a:cs typeface="Arial"/>
              </a:defRPr>
            </a:pPr>
            <a:r>
              <a:rPr sz="1650" b="1" i="0">
                <a:solidFill>
                  <a:srgbClr val="101820"/>
                </a:solidFill>
                <a:latin typeface="Arial"/>
                <a:ea typeface="Arial"/>
                <a:cs typeface="Arial"/>
              </a:rPr>
              <a:t>= IMPROVED</a:t>
            </a:r>
          </a:p>
        </p:txBody>
      </p:sp>
      <p:sp>
        <p:nvSpPr>
          <p:cNvPr id="11" name="">
            <a:extLst xmlns:a="http://schemas.openxmlformats.org/drawingml/2006/main">
              <a:ext uri="{FF2B5EF4-FFF2-40B4-BE49-F238E27FC236}">
                <a16:creationId xmlns:a16="http://schemas.microsoft.com/office/drawing/2014/main" id="{E80131D9-69D0-49FF-970D-927697B75FE7}"/>
              </a:ext>
            </a:extLst>
          </p:cNvPr>
          <p:cNvSpPr>
            <a:spLocks xmlns:a="http://schemas.openxmlformats.org/drawingml/2006/main" noGrp="1"/>
          </p:cNvSpPr>
          <p:nvPr/>
        </p:nvSpPr>
        <p:spPr>
          <a:xfrm xmlns:a="http://schemas.openxmlformats.org/drawingml/2006/main">
            <a:off x="400050" y="2209800"/>
            <a:ext cx="11391900" cy="19050"/>
          </a:xfrm>
          <a:prstGeom xmlns:a="http://schemas.openxmlformats.org/drawingml/2006/main" prst="rect">
            <a:avLst/>
          </a:prstGeom>
          <a:solidFill xmlns:a="http://schemas.openxmlformats.org/drawingml/2006/main">
            <a:srgbClr val="BAC4CB"/>
          </a:solidFill>
          <a:ln xmlns:a="http://schemas.openxmlformats.org/drawingml/2006/main" w="0">
            <a:solidFill>
              <a:srgbClr val="BAC4CB"/>
            </a:solidFill>
            <a:prstDash val="solid"/>
          </a:ln>
        </p:spPr>
      </p:sp>
      <p:sp>
        <p:nvSpPr>
          <p:cNvPr id="12" name="">
            <a:extLst xmlns:a="http://schemas.openxmlformats.org/drawingml/2006/main">
              <a:ext uri="{FF2B5EF4-FFF2-40B4-BE49-F238E27FC236}">
                <a16:creationId xmlns:a16="http://schemas.microsoft.com/office/drawing/2014/main" id="{A4046460-E058-4C69-8935-498AB9CBD626}"/>
              </a:ext>
            </a:extLst>
          </p:cNvPr>
          <p:cNvSpPr>
            <a:spLocks xmlns:a="http://schemas.openxmlformats.org/drawingml/2006/main" noGrp="1"/>
          </p:cNvSpPr>
          <p:nvPr/>
        </p:nvSpPr>
        <p:spPr>
          <a:xfrm xmlns:a="http://schemas.openxmlformats.org/drawingml/2006/main">
            <a:off x="590550" y="2571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101820"/>
                </a:solidFill>
                <a:latin typeface="Arial"/>
                <a:ea typeface="Arial"/>
                <a:cs typeface="Arial"/>
              </a:defRPr>
            </a:pPr>
            <a:r>
              <a:rPr sz="1725" b="1" i="0">
                <a:solidFill>
                  <a:srgbClr val="101820"/>
                </a:solidFill>
                <a:latin typeface="Arial"/>
                <a:ea typeface="Arial"/>
                <a:cs typeface="Arial"/>
              </a:rPr>
              <a:t>June 1, 2021 | CNIL control</a:t>
            </a:r>
          </a:p>
        </p:txBody>
      </p:sp>
      <p:sp>
        <p:nvSpPr>
          <p:cNvPr id="13" name="">
            <a:extLst xmlns:a="http://schemas.openxmlformats.org/drawingml/2006/main">
              <a:ext uri="{FF2B5EF4-FFF2-40B4-BE49-F238E27FC236}">
                <a16:creationId xmlns:a16="http://schemas.microsoft.com/office/drawing/2014/main" id="{6F6DA9CB-9906-4F0A-9846-1E63C3B0B97C}"/>
              </a:ext>
            </a:extLst>
          </p:cNvPr>
          <p:cNvSpPr>
            <a:spLocks xmlns:a="http://schemas.openxmlformats.org/drawingml/2006/main" noGrp="1"/>
          </p:cNvSpPr>
          <p:nvPr/>
        </p:nvSpPr>
        <p:spPr>
          <a:xfrm xmlns:a="http://schemas.openxmlformats.org/drawingml/2006/main">
            <a:off x="590550" y="31242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Accept required one action</a:t>
            </a:r>
          </a:p>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Reject required Customize</a:t>
            </a:r>
          </a:p>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Disable three settings</a:t>
            </a:r>
          </a:p>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Confirm the choices</a:t>
            </a:r>
          </a:p>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At least five reject actions total</a:t>
            </a:r>
          </a:p>
        </p:txBody>
      </p:sp>
      <p:sp>
        <p:nvSpPr>
          <p:cNvPr id="14" name="">
            <a:extLst xmlns:a="http://schemas.openxmlformats.org/drawingml/2006/main">
              <a:ext uri="{FF2B5EF4-FFF2-40B4-BE49-F238E27FC236}">
                <a16:creationId xmlns:a16="http://schemas.microsoft.com/office/drawing/2014/main" id="{A9451C2E-8D3D-4410-AF58-ED2EF921B2C8}"/>
              </a:ext>
            </a:extLst>
          </p:cNvPr>
          <p:cNvSpPr>
            <a:spLocks xmlns:a="http://schemas.openxmlformats.org/drawingml/2006/main" noGrp="1"/>
          </p:cNvSpPr>
          <p:nvPr/>
        </p:nvSpPr>
        <p:spPr>
          <a:xfrm xmlns:a="http://schemas.openxmlformats.org/drawingml/2006/main">
            <a:off x="5943600" y="2533650"/>
            <a:ext cx="19050" cy="0"/>
          </a:xfrm>
          <a:prstGeom xmlns:a="http://schemas.openxmlformats.org/drawingml/2006/main" prst="rect">
            <a:avLst/>
          </a:prstGeom>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754CF55F-4A5C-469A-BE81-A900847B1883}"/>
              </a:ext>
            </a:extLst>
          </p:cNvPr>
          <p:cNvSpPr>
            <a:spLocks xmlns:a="http://schemas.openxmlformats.org/drawingml/2006/main" noGrp="1"/>
          </p:cNvSpPr>
          <p:nvPr/>
        </p:nvSpPr>
        <p:spPr>
          <a:xfrm xmlns:a="http://schemas.openxmlformats.org/drawingml/2006/main">
            <a:off x="6438900" y="2571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i="0">
                <a:solidFill>
                  <a:srgbClr val="101820"/>
                </a:solidFill>
                <a:latin typeface="Arial"/>
                <a:ea typeface="Arial"/>
                <a:cs typeface="Arial"/>
              </a:defRPr>
            </a:pPr>
            <a:r>
              <a:rPr sz="1725" b="1" i="0">
                <a:solidFill>
                  <a:srgbClr val="101820"/>
                </a:solidFill>
                <a:latin typeface="Arial"/>
                <a:ea typeface="Arial"/>
                <a:cs typeface="Arial"/>
              </a:rPr>
              <a:t>April 21, 2022 | Google rollout</a:t>
            </a:r>
          </a:p>
        </p:txBody>
      </p:sp>
      <p:sp>
        <p:nvSpPr>
          <p:cNvPr id="16" name="">
            <a:extLst xmlns:a="http://schemas.openxmlformats.org/drawingml/2006/main">
              <a:ext uri="{FF2B5EF4-FFF2-40B4-BE49-F238E27FC236}">
                <a16:creationId xmlns:a16="http://schemas.microsoft.com/office/drawing/2014/main" id="{28685A49-F3C8-412C-80F6-7EBD22886095}"/>
              </a:ext>
            </a:extLst>
          </p:cNvPr>
          <p:cNvSpPr>
            <a:spLocks xmlns:a="http://schemas.openxmlformats.org/drawingml/2006/main" noGrp="1"/>
          </p:cNvSpPr>
          <p:nvPr/>
        </p:nvSpPr>
        <p:spPr>
          <a:xfrm xmlns:a="http://schemas.openxmlformats.org/drawingml/2006/main">
            <a:off x="6438900" y="31242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Reject all and Accept all on first screen</a:t>
            </a:r>
          </a:p>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One click for either choice</a:t>
            </a:r>
          </a:p>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Rollout began in France</a:t>
            </a:r>
          </a:p>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Google cited updated guidance</a:t>
            </a:r>
          </a:p>
          <a:p xmlns:a="http://schemas.openxmlformats.org/drawingml/2006/main">
            <a:pPr algn="l">
              <a:buNone/>
              <a:defRPr sz="1500" b="0" i="0">
                <a:solidFill>
                  <a:srgbClr val="4C5B67"/>
                </a:solidFill>
                <a:latin typeface="Arial"/>
                <a:ea typeface="Arial"/>
                <a:cs typeface="Arial"/>
              </a:defRPr>
            </a:pPr>
            <a:r>
              <a:rPr sz="1500" b="0" i="0">
                <a:solidFill>
                  <a:srgbClr val="4C5B67"/>
                </a:solidFill>
                <a:latin typeface="Arial"/>
                <a:ea typeface="Arial"/>
                <a:cs typeface="Arial"/>
              </a:rPr>
              <a:t>- Google cited specific CNIL direction</a:t>
            </a:r>
          </a:p>
        </p:txBody>
      </p:sp>
      <p:sp>
        <p:nvSpPr>
          <p:cNvPr id="17" name="">
            <a:extLst xmlns:a="http://schemas.openxmlformats.org/drawingml/2006/main">
              <a:ext uri="{FF2B5EF4-FFF2-40B4-BE49-F238E27FC236}">
                <a16:creationId xmlns:a16="http://schemas.microsoft.com/office/drawing/2014/main" id="{BBB285FE-DA97-4358-8056-555678C38A56}"/>
              </a:ext>
            </a:extLst>
          </p:cNvPr>
          <p:cNvSpPr>
            <a:spLocks xmlns:a="http://schemas.openxmlformats.org/drawingml/2006/main" noGrp="1"/>
          </p:cNvSpPr>
          <p:nvPr/>
        </p:nvSpPr>
        <p:spPr>
          <a:xfrm xmlns:a="http://schemas.openxmlformats.org/drawingml/2006/main">
            <a:off x="400050" y="5391150"/>
            <a:ext cx="11391900" cy="685800"/>
          </a:xfrm>
          <a:prstGeom xmlns:a="http://schemas.openxmlformats.org/drawingml/2006/main" prst="rect">
            <a:avLst/>
          </a:prstGeom>
          <a:solidFill xmlns:a="http://schemas.openxmlformats.org/drawingml/2006/main">
            <a:srgbClr val="FBF3D0"/>
          </a:solidFill>
          <a:ln xmlns:a="http://schemas.openxmlformats.org/drawingml/2006/main" w="9525">
            <a:solidFill>
              <a:srgbClr val="D6A31A"/>
            </a:solidFill>
            <a:prstDash val="solid"/>
          </a:ln>
        </p:spPr>
      </p:sp>
      <p:sp>
        <p:nvSpPr>
          <p:cNvPr id="18" name="">
            <a:extLst xmlns:a="http://schemas.openxmlformats.org/drawingml/2006/main">
              <a:ext uri="{FF2B5EF4-FFF2-40B4-BE49-F238E27FC236}">
                <a16:creationId xmlns:a16="http://schemas.microsoft.com/office/drawing/2014/main" id="{A554D273-8064-4A9E-9B4F-213712DC1D55}"/>
              </a:ext>
            </a:extLst>
          </p:cNvPr>
          <p:cNvSpPr>
            <a:spLocks xmlns:a="http://schemas.openxmlformats.org/drawingml/2006/main" noGrp="1"/>
          </p:cNvSpPr>
          <p:nvPr/>
        </p:nvSpPr>
        <p:spPr>
          <a:xfrm xmlns:a="http://schemas.openxmlformats.org/drawingml/2006/main">
            <a:off x="666750" y="56007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101820"/>
                </a:solidFill>
                <a:latin typeface="Arial"/>
                <a:ea typeface="Arial"/>
                <a:cs typeface="Arial"/>
              </a:defRPr>
            </a:pPr>
            <a:r>
              <a:rPr sz="1500" b="1" i="0">
                <a:solidFill>
                  <a:srgbClr val="101820"/>
                </a:solidFill>
                <a:latin typeface="Arial"/>
                <a:ea typeface="Arial"/>
                <a:cs typeface="Arial"/>
              </a:rPr>
              <a:t>This is the strongest causal link in the set: the company directly attributed the redesign to regulatory guidance and CNIL direction.</a:t>
            </a:r>
          </a:p>
        </p:txBody>
      </p:sp>
      <p:sp>
        <p:nvSpPr>
          <p:cNvPr id="19" name="">
            <a:extLst xmlns:a="http://schemas.openxmlformats.org/drawingml/2006/main">
              <a:ext uri="{FF2B5EF4-FFF2-40B4-BE49-F238E27FC236}">
                <a16:creationId xmlns:a16="http://schemas.microsoft.com/office/drawing/2014/main" id="{575245B0-4C25-4AA7-B608-0259B47C4A27}"/>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20" name="">
            <a:extLst xmlns:a="http://schemas.openxmlformats.org/drawingml/2006/main">
              <a:ext uri="{FF2B5EF4-FFF2-40B4-BE49-F238E27FC236}">
                <a16:creationId xmlns:a16="http://schemas.microsoft.com/office/drawing/2014/main" id="{6B46E1A5-84F9-475A-BC08-E3B7F7DD270C}"/>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Sources: CNIL SAN-2021-023; Google New cookie choices in Europe</a:t>
            </a:r>
          </a:p>
        </p:txBody>
      </p:sp>
    </p:spTree>
    <p:extLst>
      <p:ext uri="{BB962C8B-B14F-4D97-AF65-F5344CB8AC3E}">
        <p14:creationId xmlns:p14="http://schemas.microsoft.com/office/powerpoint/2010/main" val="7807010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FA111D4-0C27-408A-91B8-FB686A07BB7B}"/>
              </a:ext>
            </a:extLst>
          </p:cNvPr>
          <p:cNvSpPr>
            <a:spLocks xmlns:a="http://schemas.openxmlformats.org/drawingml/2006/main" noGrp="1"/>
          </p:cNvSpPr>
          <p:nvPr/>
        </p:nvSpPr>
        <p:spPr>
          <a:xfrm xmlns:a="http://schemas.openxmlformats.org/drawingml/2006/main">
            <a:off x="400050" y="247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146EA8"/>
                </a:solidFill>
                <a:latin typeface="Arial"/>
                <a:ea typeface="Arial"/>
                <a:cs typeface="Arial"/>
              </a:defRPr>
            </a:pPr>
            <a:r>
              <a:rPr sz="825" b="1" i="0">
                <a:solidFill>
                  <a:srgbClr val="146EA8"/>
                </a:solidFill>
                <a:latin typeface="Arial"/>
                <a:ea typeface="Arial"/>
                <a:cs typeface="Arial"/>
              </a:rPr>
              <a:t>SSRP 2026 | LONGITUDINAL CONSENT STUDY</a:t>
            </a:r>
          </a:p>
        </p:txBody>
      </p:sp>
      <p:sp>
        <p:nvSpPr>
          <p:cNvPr id="2" name="">
            <a:extLst xmlns:a="http://schemas.openxmlformats.org/drawingml/2006/main">
              <a:ext uri="{FF2B5EF4-FFF2-40B4-BE49-F238E27FC236}">
                <a16:creationId xmlns:a16="http://schemas.microsoft.com/office/drawing/2014/main" id="{225BA080-224D-4DEC-9C07-6624B512F30E}"/>
              </a:ext>
            </a:extLst>
          </p:cNvPr>
          <p:cNvSpPr>
            <a:spLocks xmlns:a="http://schemas.openxmlformats.org/drawingml/2006/main" noGrp="1"/>
          </p:cNvSpPr>
          <p:nvPr/>
        </p:nvSpPr>
        <p:spPr>
          <a:xfrm xmlns:a="http://schemas.openxmlformats.org/drawingml/2006/main">
            <a:off x="11334750" y="2571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73818B"/>
                </a:solidFill>
                <a:latin typeface="Arial"/>
                <a:ea typeface="Arial"/>
                <a:cs typeface="Arial"/>
              </a:defRPr>
            </a:pPr>
            <a:r>
              <a:rPr sz="750" b="0" i="0">
                <a:solidFill>
                  <a:srgbClr val="73818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31707E3-3E8D-4B5D-9EC0-7A09947F59D4}"/>
              </a:ext>
            </a:extLst>
          </p:cNvPr>
          <p:cNvSpPr>
            <a:spLocks xmlns:a="http://schemas.openxmlformats.org/drawingml/2006/main" noGrp="1"/>
          </p:cNvSpPr>
          <p:nvPr/>
        </p:nvSpPr>
        <p:spPr>
          <a:xfrm xmlns:a="http://schemas.openxmlformats.org/drawingml/2006/main">
            <a:off x="400050" y="552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01820"/>
                </a:solidFill>
                <a:latin typeface="Arial"/>
                <a:ea typeface="Arial"/>
                <a:cs typeface="Arial"/>
              </a:defRPr>
            </a:pPr>
            <a:r>
              <a:rPr sz="2175" b="1" i="0">
                <a:solidFill>
                  <a:srgbClr val="101820"/>
                </a:solidFill>
                <a:latin typeface="Arial"/>
                <a:ea typeface="Arial"/>
                <a:cs typeface="Arial"/>
              </a:rPr>
              <a:t>Facebook and TikTok both added first-layer refusal</a:t>
            </a:r>
          </a:p>
        </p:txBody>
      </p:sp>
      <p:sp>
        <p:nvSpPr>
          <p:cNvPr id="4" name="">
            <a:extLst xmlns:a="http://schemas.openxmlformats.org/drawingml/2006/main">
              <a:ext uri="{FF2B5EF4-FFF2-40B4-BE49-F238E27FC236}">
                <a16:creationId xmlns:a16="http://schemas.microsoft.com/office/drawing/2014/main" id="{75199C4B-E146-4479-B348-5C9163CD7249}"/>
              </a:ext>
            </a:extLst>
          </p:cNvPr>
          <p:cNvSpPr>
            <a:spLocks xmlns:a="http://schemas.openxmlformats.org/drawingml/2006/main" noGrp="1"/>
          </p:cNvSpPr>
          <p:nvPr/>
        </p:nvSpPr>
        <p:spPr>
          <a:xfrm xmlns:a="http://schemas.openxmlformats.org/drawingml/2006/main">
            <a:off x="400050" y="1257300"/>
            <a:ext cx="11391900" cy="19050"/>
          </a:xfrm>
          <a:prstGeom xmlns:a="http://schemas.openxmlformats.org/drawingml/2006/main" prst="rect">
            <a:avLst/>
          </a:prstGeom>
          <a:solidFill xmlns:a="http://schemas.openxmlformats.org/drawingml/2006/main">
            <a:srgbClr val="D9E0E5"/>
          </a:solidFill>
          <a:ln xmlns:a="http://schemas.openxmlformats.org/drawingml/2006/main" w="0">
            <a:solidFill>
              <a:srgbClr val="D9E0E5"/>
            </a:solidFill>
            <a:prstDash val="solid"/>
          </a:ln>
        </p:spPr>
      </p:sp>
      <p:sp>
        <p:nvSpPr>
          <p:cNvPr id="5" name="">
            <a:extLst xmlns:a="http://schemas.openxmlformats.org/drawingml/2006/main">
              <a:ext uri="{FF2B5EF4-FFF2-40B4-BE49-F238E27FC236}">
                <a16:creationId xmlns:a16="http://schemas.microsoft.com/office/drawing/2014/main" id="{CFC84B8D-37BD-497B-90AD-5E3F7381970E}"/>
              </a:ext>
            </a:extLst>
          </p:cNvPr>
          <p:cNvSpPr>
            <a:spLocks xmlns:a="http://schemas.openxmlformats.org/drawingml/2006/main" noGrp="1"/>
          </p:cNvSpPr>
          <p:nvPr/>
        </p:nvSpPr>
        <p:spPr>
          <a:xfrm xmlns:a="http://schemas.openxmlformats.org/drawingml/2006/main">
            <a:off x="590550" y="16002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18867F"/>
                </a:solidFill>
                <a:latin typeface="Arial"/>
                <a:ea typeface="Arial"/>
                <a:cs typeface="Arial"/>
              </a:defRPr>
            </a:pPr>
            <a:r>
              <a:rPr sz="1650" b="1" i="0">
                <a:solidFill>
                  <a:srgbClr val="18867F"/>
                </a:solidFill>
                <a:latin typeface="Arial"/>
                <a:ea typeface="Arial"/>
                <a:cs typeface="Arial"/>
              </a:rPr>
              <a:t>FACEBOOK | REGULATOR VERIFIED</a:t>
            </a:r>
          </a:p>
        </p:txBody>
      </p:sp>
      <p:sp>
        <p:nvSpPr>
          <p:cNvPr id="6" name="">
            <a:extLst xmlns:a="http://schemas.openxmlformats.org/drawingml/2006/main">
              <a:ext uri="{FF2B5EF4-FFF2-40B4-BE49-F238E27FC236}">
                <a16:creationId xmlns:a16="http://schemas.microsoft.com/office/drawing/2014/main" id="{D5B46D35-57DA-4C31-A4D3-1FE0D0BAB4C8}"/>
              </a:ext>
            </a:extLst>
          </p:cNvPr>
          <p:cNvSpPr>
            <a:spLocks xmlns:a="http://schemas.openxmlformats.org/drawingml/2006/main" noGrp="1"/>
          </p:cNvSpPr>
          <p:nvPr/>
        </p:nvSpPr>
        <p:spPr>
          <a:xfrm xmlns:a="http://schemas.openxmlformats.org/drawingml/2006/main">
            <a:off x="590550" y="2171700"/>
            <a:ext cx="4762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Apr 8, 2021: immediate Accept</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No refusal with equivalent simplicity</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Late Feb 2022: equivalent refusal deployed</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Apr 12: CNIL rechecked the interface</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Injunction closed as satisfied</a:t>
            </a:r>
          </a:p>
        </p:txBody>
      </p:sp>
      <p:sp>
        <p:nvSpPr>
          <p:cNvPr id="7" name="">
            <a:extLst xmlns:a="http://schemas.openxmlformats.org/drawingml/2006/main">
              <a:ext uri="{FF2B5EF4-FFF2-40B4-BE49-F238E27FC236}">
                <a16:creationId xmlns:a16="http://schemas.microsoft.com/office/drawing/2014/main" id="{DB330E46-6FCE-4352-A004-613EDD8FC87D}"/>
              </a:ext>
            </a:extLst>
          </p:cNvPr>
          <p:cNvSpPr>
            <a:spLocks xmlns:a="http://schemas.openxmlformats.org/drawingml/2006/main" noGrp="1"/>
          </p:cNvSpPr>
          <p:nvPr/>
        </p:nvSpPr>
        <p:spPr>
          <a:xfrm xmlns:a="http://schemas.openxmlformats.org/drawingml/2006/main">
            <a:off x="5962650" y="1581150"/>
            <a:ext cx="19050" cy="0"/>
          </a:xfrm>
          <a:prstGeom xmlns:a="http://schemas.openxmlformats.org/drawingml/2006/main" prst="rect">
            <a:avLst/>
          </a:prstGeom>
          <a:ln xmlns:a="http://schemas.openxmlformats.org/drawingml/2006/main" w="0">
            <a:prstDash val="solid"/>
          </a:ln>
        </p:spPr>
      </p:sp>
      <p:sp>
        <p:nvSpPr>
          <p:cNvPr id="8" name="">
            <a:extLst xmlns:a="http://schemas.openxmlformats.org/drawingml/2006/main">
              <a:ext uri="{FF2B5EF4-FFF2-40B4-BE49-F238E27FC236}">
                <a16:creationId xmlns:a16="http://schemas.microsoft.com/office/drawing/2014/main" id="{1713B75F-0AF3-4EE4-B8CA-F11BC29467B5}"/>
              </a:ext>
            </a:extLst>
          </p:cNvPr>
          <p:cNvSpPr>
            <a:spLocks xmlns:a="http://schemas.openxmlformats.org/drawingml/2006/main" noGrp="1"/>
          </p:cNvSpPr>
          <p:nvPr/>
        </p:nvSpPr>
        <p:spPr>
          <a:xfrm xmlns:a="http://schemas.openxmlformats.org/drawingml/2006/main">
            <a:off x="6457950" y="16002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A13B16"/>
                </a:solidFill>
                <a:latin typeface="Arial"/>
                <a:ea typeface="Arial"/>
                <a:cs typeface="Arial"/>
              </a:defRPr>
            </a:pPr>
            <a:r>
              <a:rPr sz="1650" b="1" i="0">
                <a:solidFill>
                  <a:srgbClr val="A13B16"/>
                </a:solidFill>
                <a:latin typeface="Arial"/>
                <a:ea typeface="Arial"/>
                <a:cs typeface="Arial"/>
              </a:rPr>
              <a:t>TIKTOK | PARTIAL IMPROVEMENT</a:t>
            </a:r>
          </a:p>
        </p:txBody>
      </p:sp>
      <p:sp>
        <p:nvSpPr>
          <p:cNvPr id="9" name="">
            <a:extLst xmlns:a="http://schemas.openxmlformats.org/drawingml/2006/main">
              <a:ext uri="{FF2B5EF4-FFF2-40B4-BE49-F238E27FC236}">
                <a16:creationId xmlns:a16="http://schemas.microsoft.com/office/drawing/2014/main" id="{22FD0377-9F2F-47FF-A178-B8105034491D}"/>
              </a:ext>
            </a:extLst>
          </p:cNvPr>
          <p:cNvSpPr>
            <a:spLocks xmlns:a="http://schemas.openxmlformats.org/drawingml/2006/main" noGrp="1"/>
          </p:cNvSpPr>
          <p:nvPr/>
        </p:nvSpPr>
        <p:spPr>
          <a:xfrm xmlns:a="http://schemas.openxmlformats.org/drawingml/2006/main">
            <a:off x="6457950" y="2171700"/>
            <a:ext cx="4762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Jun 3, 2021: Accept 1 action</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Reject required at least 3 actions</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Feb 28, 2022: Tout refuser added</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Later decision: purpose information still weak</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Effort improved; transparency did not</a:t>
            </a:r>
          </a:p>
        </p:txBody>
      </p:sp>
      <p:sp>
        <p:nvSpPr>
          <p:cNvPr id="10" name="">
            <a:extLst xmlns:a="http://schemas.openxmlformats.org/drawingml/2006/main">
              <a:ext uri="{FF2B5EF4-FFF2-40B4-BE49-F238E27FC236}">
                <a16:creationId xmlns:a16="http://schemas.microsoft.com/office/drawing/2014/main" id="{794BEB7F-F75A-4B1D-80A0-9DA73E0FC46A}"/>
              </a:ext>
            </a:extLst>
          </p:cNvPr>
          <p:cNvSpPr>
            <a:spLocks xmlns:a="http://schemas.openxmlformats.org/drawingml/2006/main" noGrp="1"/>
          </p:cNvSpPr>
          <p:nvPr/>
        </p:nvSpPr>
        <p:spPr>
          <a:xfrm xmlns:a="http://schemas.openxmlformats.org/drawingml/2006/main">
            <a:off x="400050" y="5219700"/>
            <a:ext cx="11391900" cy="838200"/>
          </a:xfrm>
          <a:prstGeom xmlns:a="http://schemas.openxmlformats.org/drawingml/2006/main" prst="rect">
            <a:avLst/>
          </a:prstGeom>
          <a:solidFill xmlns:a="http://schemas.openxmlformats.org/drawingml/2006/main">
            <a:srgbClr val="101820"/>
          </a:solidFill>
          <a:ln xmlns:a="http://schemas.openxmlformats.org/drawingml/2006/main" w="0">
            <a:solidFill>
              <a:srgbClr val="101820"/>
            </a:solidFill>
            <a:prstDash val="solid"/>
          </a:ln>
        </p:spPr>
      </p:sp>
      <p:sp>
        <p:nvSpPr>
          <p:cNvPr id="11" name="">
            <a:extLst xmlns:a="http://schemas.openxmlformats.org/drawingml/2006/main">
              <a:ext uri="{FF2B5EF4-FFF2-40B4-BE49-F238E27FC236}">
                <a16:creationId xmlns:a16="http://schemas.microsoft.com/office/drawing/2014/main" id="{EB88B144-0C42-4FC6-8969-DF0907B495B2}"/>
              </a:ext>
            </a:extLst>
          </p:cNvPr>
          <p:cNvSpPr>
            <a:spLocks xmlns:a="http://schemas.openxmlformats.org/drawingml/2006/main" noGrp="1"/>
          </p:cNvSpPr>
          <p:nvPr/>
        </p:nvSpPr>
        <p:spPr>
          <a:xfrm xmlns:a="http://schemas.openxmlformats.org/drawingml/2006/main">
            <a:off x="628650" y="54102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6C6E9"/>
                </a:solidFill>
                <a:latin typeface="Arial"/>
                <a:ea typeface="Arial"/>
                <a:cs typeface="Arial"/>
              </a:defRPr>
            </a:pPr>
            <a:r>
              <a:rPr sz="1050" b="1" i="0">
                <a:solidFill>
                  <a:srgbClr val="66C6E9"/>
                </a:solidFill>
                <a:latin typeface="Arial"/>
                <a:ea typeface="Arial"/>
                <a:cs typeface="Arial"/>
              </a:rPr>
              <a:t>Key distinction</a:t>
            </a:r>
          </a:p>
        </p:txBody>
      </p:sp>
      <p:sp>
        <p:nvSpPr>
          <p:cNvPr id="12" name="">
            <a:extLst xmlns:a="http://schemas.openxmlformats.org/drawingml/2006/main">
              <a:ext uri="{FF2B5EF4-FFF2-40B4-BE49-F238E27FC236}">
                <a16:creationId xmlns:a16="http://schemas.microsoft.com/office/drawing/2014/main" id="{F80EED9B-4973-4FAF-9E21-272CFC1418F6}"/>
              </a:ext>
            </a:extLst>
          </p:cNvPr>
          <p:cNvSpPr>
            <a:spLocks xmlns:a="http://schemas.openxmlformats.org/drawingml/2006/main" noGrp="1"/>
          </p:cNvSpPr>
          <p:nvPr/>
        </p:nvSpPr>
        <p:spPr>
          <a:xfrm xmlns:a="http://schemas.openxmlformats.org/drawingml/2006/main">
            <a:off x="2571750" y="53911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Visible parity improved, but a better button did not guarantee complete informed consent.</a:t>
            </a:r>
          </a:p>
        </p:txBody>
      </p:sp>
      <p:sp>
        <p:nvSpPr>
          <p:cNvPr id="13" name="">
            <a:extLst xmlns:a="http://schemas.openxmlformats.org/drawingml/2006/main">
              <a:ext uri="{FF2B5EF4-FFF2-40B4-BE49-F238E27FC236}">
                <a16:creationId xmlns:a16="http://schemas.microsoft.com/office/drawing/2014/main" id="{4D1B6826-7E64-408B-BD90-7697203FBF96}"/>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14" name="">
            <a:extLst xmlns:a="http://schemas.openxmlformats.org/drawingml/2006/main">
              <a:ext uri="{FF2B5EF4-FFF2-40B4-BE49-F238E27FC236}">
                <a16:creationId xmlns:a16="http://schemas.microsoft.com/office/drawing/2014/main" id="{375944B8-E726-475F-B67B-24E0108ED404}"/>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Sources: CNIL SAN-2021-024, SAN-2022-016, SAN-2022-027</a:t>
            </a:r>
          </a:p>
        </p:txBody>
      </p:sp>
    </p:spTree>
    <p:extLst>
      <p:ext uri="{BB962C8B-B14F-4D97-AF65-F5344CB8AC3E}">
        <p14:creationId xmlns:p14="http://schemas.microsoft.com/office/powerpoint/2010/main" val="1494591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FA111D4-0C27-408A-91B8-FB686A07BB7B}"/>
              </a:ext>
            </a:extLst>
          </p:cNvPr>
          <p:cNvSpPr>
            <a:spLocks xmlns:a="http://schemas.openxmlformats.org/drawingml/2006/main" noGrp="1"/>
          </p:cNvSpPr>
          <p:nvPr/>
        </p:nvSpPr>
        <p:spPr>
          <a:xfrm xmlns:a="http://schemas.openxmlformats.org/drawingml/2006/main">
            <a:off x="400050" y="24765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146EA8"/>
                </a:solidFill>
                <a:latin typeface="Arial"/>
                <a:ea typeface="Arial"/>
                <a:cs typeface="Arial"/>
              </a:defRPr>
            </a:pPr>
            <a:r>
              <a:rPr sz="825" b="1" i="0">
                <a:solidFill>
                  <a:srgbClr val="146EA8"/>
                </a:solidFill>
                <a:latin typeface="Arial"/>
                <a:ea typeface="Arial"/>
                <a:cs typeface="Arial"/>
              </a:rPr>
              <a:t>SSRP 2026 | LONGITUDINAL CONSENT STUDY</a:t>
            </a:r>
          </a:p>
        </p:txBody>
      </p:sp>
      <p:sp>
        <p:nvSpPr>
          <p:cNvPr id="2" name="">
            <a:extLst xmlns:a="http://schemas.openxmlformats.org/drawingml/2006/main">
              <a:ext uri="{FF2B5EF4-FFF2-40B4-BE49-F238E27FC236}">
                <a16:creationId xmlns:a16="http://schemas.microsoft.com/office/drawing/2014/main" id="{225BA080-224D-4DEC-9C07-6624B512F30E}"/>
              </a:ext>
            </a:extLst>
          </p:cNvPr>
          <p:cNvSpPr>
            <a:spLocks xmlns:a="http://schemas.openxmlformats.org/drawingml/2006/main" noGrp="1"/>
          </p:cNvSpPr>
          <p:nvPr/>
        </p:nvSpPr>
        <p:spPr>
          <a:xfrm xmlns:a="http://schemas.openxmlformats.org/drawingml/2006/main">
            <a:off x="11334750" y="2571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750" b="0" i="0">
                <a:solidFill>
                  <a:srgbClr val="73818B"/>
                </a:solidFill>
                <a:latin typeface="Arial"/>
                <a:ea typeface="Arial"/>
                <a:cs typeface="Arial"/>
              </a:defRPr>
            </a:pPr>
            <a:r>
              <a:rPr sz="750" b="0" i="0">
                <a:solidFill>
                  <a:srgbClr val="73818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731707E3-3E8D-4B5D-9EC0-7A09947F59D4}"/>
              </a:ext>
            </a:extLst>
          </p:cNvPr>
          <p:cNvSpPr>
            <a:spLocks xmlns:a="http://schemas.openxmlformats.org/drawingml/2006/main" noGrp="1"/>
          </p:cNvSpPr>
          <p:nvPr/>
        </p:nvSpPr>
        <p:spPr>
          <a:xfrm xmlns:a="http://schemas.openxmlformats.org/drawingml/2006/main">
            <a:off x="400050" y="5524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i="0">
                <a:solidFill>
                  <a:srgbClr val="101820"/>
                </a:solidFill>
                <a:latin typeface="Arial"/>
                <a:ea typeface="Arial"/>
                <a:cs typeface="Arial"/>
              </a:defRPr>
            </a:pPr>
            <a:r>
              <a:rPr sz="2175" b="1" i="0">
                <a:solidFill>
                  <a:srgbClr val="101820"/>
                </a:solidFill>
                <a:latin typeface="Arial"/>
                <a:ea typeface="Arial"/>
                <a:cs typeface="Arial"/>
              </a:rPr>
              <a:t>Technical refusal improved twice; later failure still occurred</a:t>
            </a:r>
          </a:p>
        </p:txBody>
      </p:sp>
      <p:sp>
        <p:nvSpPr>
          <p:cNvPr id="4" name="">
            <a:extLst xmlns:a="http://schemas.openxmlformats.org/drawingml/2006/main">
              <a:ext uri="{FF2B5EF4-FFF2-40B4-BE49-F238E27FC236}">
                <a16:creationId xmlns:a16="http://schemas.microsoft.com/office/drawing/2014/main" id="{75199C4B-E146-4479-B348-5C9163CD7249}"/>
              </a:ext>
            </a:extLst>
          </p:cNvPr>
          <p:cNvSpPr>
            <a:spLocks xmlns:a="http://schemas.openxmlformats.org/drawingml/2006/main" noGrp="1"/>
          </p:cNvSpPr>
          <p:nvPr/>
        </p:nvSpPr>
        <p:spPr>
          <a:xfrm xmlns:a="http://schemas.openxmlformats.org/drawingml/2006/main">
            <a:off x="400050" y="1257300"/>
            <a:ext cx="11391900" cy="19050"/>
          </a:xfrm>
          <a:prstGeom xmlns:a="http://schemas.openxmlformats.org/drawingml/2006/main" prst="rect">
            <a:avLst/>
          </a:prstGeom>
          <a:solidFill xmlns:a="http://schemas.openxmlformats.org/drawingml/2006/main">
            <a:srgbClr val="D9E0E5"/>
          </a:solidFill>
          <a:ln xmlns:a="http://schemas.openxmlformats.org/drawingml/2006/main" w="0">
            <a:solidFill>
              <a:srgbClr val="D9E0E5"/>
            </a:solidFill>
            <a:prstDash val="solid"/>
          </a:ln>
        </p:spPr>
      </p:sp>
      <p:sp>
        <p:nvSpPr>
          <p:cNvPr id="5" name="">
            <a:extLst xmlns:a="http://schemas.openxmlformats.org/drawingml/2006/main">
              <a:ext uri="{FF2B5EF4-FFF2-40B4-BE49-F238E27FC236}">
                <a16:creationId xmlns:a16="http://schemas.microsoft.com/office/drawing/2014/main" id="{CFC84B8D-37BD-497B-90AD-5E3F7381970E}"/>
              </a:ext>
            </a:extLst>
          </p:cNvPr>
          <p:cNvSpPr>
            <a:spLocks xmlns:a="http://schemas.openxmlformats.org/drawingml/2006/main" noGrp="1"/>
          </p:cNvSpPr>
          <p:nvPr/>
        </p:nvSpPr>
        <p:spPr>
          <a:xfrm xmlns:a="http://schemas.openxmlformats.org/drawingml/2006/main">
            <a:off x="590550" y="16002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18867F"/>
                </a:solidFill>
                <a:latin typeface="Arial"/>
                <a:ea typeface="Arial"/>
                <a:cs typeface="Arial"/>
              </a:defRPr>
            </a:pPr>
            <a:r>
              <a:rPr sz="1650" b="1" i="0">
                <a:solidFill>
                  <a:srgbClr val="18867F"/>
                </a:solidFill>
                <a:latin typeface="Arial"/>
                <a:ea typeface="Arial"/>
                <a:cs typeface="Arial"/>
              </a:rPr>
              <a:t>ORANGE + SHEIN | IMPROVED</a:t>
            </a:r>
          </a:p>
        </p:txBody>
      </p:sp>
      <p:sp>
        <p:nvSpPr>
          <p:cNvPr id="6" name="">
            <a:extLst xmlns:a="http://schemas.openxmlformats.org/drawingml/2006/main">
              <a:ext uri="{FF2B5EF4-FFF2-40B4-BE49-F238E27FC236}">
                <a16:creationId xmlns:a16="http://schemas.microsoft.com/office/drawing/2014/main" id="{D5B46D35-57DA-4C31-A4D3-1FE0D0BAB4C8}"/>
              </a:ext>
            </a:extLst>
          </p:cNvPr>
          <p:cNvSpPr>
            <a:spLocks xmlns:a="http://schemas.openxmlformats.org/drawingml/2006/main" noGrp="1"/>
          </p:cNvSpPr>
          <p:nvPr/>
        </p:nvSpPr>
        <p:spPr>
          <a:xfrm xmlns:a="http://schemas.openxmlformats.org/drawingml/2006/main">
            <a:off x="590550" y="2171700"/>
            <a:ext cx="4762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Orange: post-withdrawal reads stopped;</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CNIL closed the order</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SHEIN: post-refusal reads/writes</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remediated during proceedings</a:t>
            </a:r>
          </a:p>
        </p:txBody>
      </p:sp>
      <p:sp>
        <p:nvSpPr>
          <p:cNvPr id="7" name="">
            <a:extLst xmlns:a="http://schemas.openxmlformats.org/drawingml/2006/main">
              <a:ext uri="{FF2B5EF4-FFF2-40B4-BE49-F238E27FC236}">
                <a16:creationId xmlns:a16="http://schemas.microsoft.com/office/drawing/2014/main" id="{DB330E46-6FCE-4352-A004-613EDD8FC87D}"/>
              </a:ext>
            </a:extLst>
          </p:cNvPr>
          <p:cNvSpPr>
            <a:spLocks xmlns:a="http://schemas.openxmlformats.org/drawingml/2006/main" noGrp="1"/>
          </p:cNvSpPr>
          <p:nvPr/>
        </p:nvSpPr>
        <p:spPr>
          <a:xfrm xmlns:a="http://schemas.openxmlformats.org/drawingml/2006/main">
            <a:off x="5962650" y="1581150"/>
            <a:ext cx="19050" cy="0"/>
          </a:xfrm>
          <a:prstGeom xmlns:a="http://schemas.openxmlformats.org/drawingml/2006/main" prst="rect">
            <a:avLst/>
          </a:prstGeom>
          <a:ln xmlns:a="http://schemas.openxmlformats.org/drawingml/2006/main" w="0">
            <a:prstDash val="solid"/>
          </a:ln>
        </p:spPr>
      </p:sp>
      <p:sp>
        <p:nvSpPr>
          <p:cNvPr id="8" name="">
            <a:extLst xmlns:a="http://schemas.openxmlformats.org/drawingml/2006/main">
              <a:ext uri="{FF2B5EF4-FFF2-40B4-BE49-F238E27FC236}">
                <a16:creationId xmlns:a16="http://schemas.microsoft.com/office/drawing/2014/main" id="{1713B75F-0AF3-4EE4-B8CA-F11BC29467B5}"/>
              </a:ext>
            </a:extLst>
          </p:cNvPr>
          <p:cNvSpPr>
            <a:spLocks xmlns:a="http://schemas.openxmlformats.org/drawingml/2006/main" noGrp="1"/>
          </p:cNvSpPr>
          <p:nvPr/>
        </p:nvSpPr>
        <p:spPr>
          <a:xfrm xmlns:a="http://schemas.openxmlformats.org/drawingml/2006/main">
            <a:off x="6457950" y="16002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A13B16"/>
                </a:solidFill>
                <a:latin typeface="Arial"/>
                <a:ea typeface="Arial"/>
                <a:cs typeface="Arial"/>
              </a:defRPr>
            </a:pPr>
            <a:r>
              <a:rPr sz="1650" b="1" i="0">
                <a:solidFill>
                  <a:srgbClr val="A13B16"/>
                </a:solidFill>
                <a:latin typeface="Arial"/>
                <a:ea typeface="Arial"/>
                <a:cs typeface="Arial"/>
              </a:rPr>
              <a:t>VANITY FAIR | REGRESSED</a:t>
            </a:r>
          </a:p>
        </p:txBody>
      </p:sp>
      <p:sp>
        <p:nvSpPr>
          <p:cNvPr id="9" name="">
            <a:extLst xmlns:a="http://schemas.openxmlformats.org/drawingml/2006/main">
              <a:ext uri="{FF2B5EF4-FFF2-40B4-BE49-F238E27FC236}">
                <a16:creationId xmlns:a16="http://schemas.microsoft.com/office/drawing/2014/main" id="{22FD0377-9F2F-47FF-A178-B8105034491D}"/>
              </a:ext>
            </a:extLst>
          </p:cNvPr>
          <p:cNvSpPr>
            <a:spLocks xmlns:a="http://schemas.openxmlformats.org/drawingml/2006/main" noGrp="1"/>
          </p:cNvSpPr>
          <p:nvPr/>
        </p:nvSpPr>
        <p:spPr>
          <a:xfrm xmlns:a="http://schemas.openxmlformats.org/drawingml/2006/main">
            <a:off x="6457950" y="2171700"/>
            <a:ext cx="47625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Jul 2022: earlier proceeding closed</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- 2023 and 2025 checks found cookies</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before choice and after Reject all / withdrawal</a:t>
            </a:r>
          </a:p>
          <a:p xmlns:a="http://schemas.openxmlformats.org/drawingml/2006/main">
            <a:pPr algn="l">
              <a:buNone/>
              <a:defRPr sz="1575" b="0" i="0">
                <a:solidFill>
                  <a:srgbClr val="101820"/>
                </a:solidFill>
                <a:latin typeface="Arial"/>
                <a:ea typeface="Arial"/>
                <a:cs typeface="Arial"/>
              </a:defRPr>
            </a:pPr>
            <a:r>
              <a:rPr sz="1575" b="0" i="0">
                <a:solidFill>
                  <a:srgbClr val="101820"/>
                </a:solidFill>
                <a:latin typeface="Arial"/>
                <a:ea typeface="Arial"/>
                <a:cs typeface="Arial"/>
              </a:rPr>
              <a:t>- Direction is clear; cause remains unknown</a:t>
            </a:r>
          </a:p>
        </p:txBody>
      </p:sp>
      <p:sp>
        <p:nvSpPr>
          <p:cNvPr id="10" name="">
            <a:extLst xmlns:a="http://schemas.openxmlformats.org/drawingml/2006/main">
              <a:ext uri="{FF2B5EF4-FFF2-40B4-BE49-F238E27FC236}">
                <a16:creationId xmlns:a16="http://schemas.microsoft.com/office/drawing/2014/main" id="{794BEB7F-F75A-4B1D-80A0-9DA73E0FC46A}"/>
              </a:ext>
            </a:extLst>
          </p:cNvPr>
          <p:cNvSpPr>
            <a:spLocks xmlns:a="http://schemas.openxmlformats.org/drawingml/2006/main" noGrp="1"/>
          </p:cNvSpPr>
          <p:nvPr/>
        </p:nvSpPr>
        <p:spPr>
          <a:xfrm xmlns:a="http://schemas.openxmlformats.org/drawingml/2006/main">
            <a:off x="400050" y="5219700"/>
            <a:ext cx="11391900" cy="838200"/>
          </a:xfrm>
          <a:prstGeom xmlns:a="http://schemas.openxmlformats.org/drawingml/2006/main" prst="rect">
            <a:avLst/>
          </a:prstGeom>
          <a:solidFill xmlns:a="http://schemas.openxmlformats.org/drawingml/2006/main">
            <a:srgbClr val="101820"/>
          </a:solidFill>
          <a:ln xmlns:a="http://schemas.openxmlformats.org/drawingml/2006/main" w="0">
            <a:solidFill>
              <a:srgbClr val="101820"/>
            </a:solidFill>
            <a:prstDash val="solid"/>
          </a:ln>
        </p:spPr>
      </p:sp>
      <p:sp>
        <p:nvSpPr>
          <p:cNvPr id="11" name="">
            <a:extLst xmlns:a="http://schemas.openxmlformats.org/drawingml/2006/main">
              <a:ext uri="{FF2B5EF4-FFF2-40B4-BE49-F238E27FC236}">
                <a16:creationId xmlns:a16="http://schemas.microsoft.com/office/drawing/2014/main" id="{EB88B144-0C42-4FC6-8969-DF0907B495B2}"/>
              </a:ext>
            </a:extLst>
          </p:cNvPr>
          <p:cNvSpPr>
            <a:spLocks xmlns:a="http://schemas.openxmlformats.org/drawingml/2006/main" noGrp="1"/>
          </p:cNvSpPr>
          <p:nvPr/>
        </p:nvSpPr>
        <p:spPr>
          <a:xfrm xmlns:a="http://schemas.openxmlformats.org/drawingml/2006/main">
            <a:off x="628650" y="54102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6C6E9"/>
                </a:solidFill>
                <a:latin typeface="Arial"/>
                <a:ea typeface="Arial"/>
                <a:cs typeface="Arial"/>
              </a:defRPr>
            </a:pPr>
            <a:r>
              <a:rPr sz="1050" b="1" i="0">
                <a:solidFill>
                  <a:srgbClr val="66C6E9"/>
                </a:solidFill>
                <a:latin typeface="Arial"/>
                <a:ea typeface="Arial"/>
                <a:cs typeface="Arial"/>
              </a:rPr>
              <a:t>Why it matters</a:t>
            </a:r>
          </a:p>
        </p:txBody>
      </p:sp>
      <p:sp>
        <p:nvSpPr>
          <p:cNvPr id="12" name="">
            <a:extLst xmlns:a="http://schemas.openxmlformats.org/drawingml/2006/main">
              <a:ext uri="{FF2B5EF4-FFF2-40B4-BE49-F238E27FC236}">
                <a16:creationId xmlns:a16="http://schemas.microsoft.com/office/drawing/2014/main" id="{F80EED9B-4973-4FAF-9E21-272CFC1418F6}"/>
              </a:ext>
            </a:extLst>
          </p:cNvPr>
          <p:cNvSpPr>
            <a:spLocks xmlns:a="http://schemas.openxmlformats.org/drawingml/2006/main" noGrp="1"/>
          </p:cNvSpPr>
          <p:nvPr/>
        </p:nvSpPr>
        <p:spPr>
          <a:xfrm xmlns:a="http://schemas.openxmlformats.org/drawingml/2006/main">
            <a:off x="2571750" y="53911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A balanced-looking banner is not enough when backend behavior ignores refusal.</a:t>
            </a:r>
          </a:p>
        </p:txBody>
      </p:sp>
      <p:sp>
        <p:nvSpPr>
          <p:cNvPr id="13" name="">
            <a:extLst xmlns:a="http://schemas.openxmlformats.org/drawingml/2006/main">
              <a:ext uri="{FF2B5EF4-FFF2-40B4-BE49-F238E27FC236}">
                <a16:creationId xmlns:a16="http://schemas.microsoft.com/office/drawing/2014/main" id="{4D1B6826-7E64-408B-BD90-7697203FBF96}"/>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14" name="">
            <a:extLst xmlns:a="http://schemas.openxmlformats.org/drawingml/2006/main">
              <a:ext uri="{FF2B5EF4-FFF2-40B4-BE49-F238E27FC236}">
                <a16:creationId xmlns:a16="http://schemas.microsoft.com/office/drawing/2014/main" id="{375944B8-E726-475F-B67B-24E0108ED404}"/>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Sources: CNIL Orange closure; CNIL SHEIN; CNIL Vanity Fair</a:t>
            </a:r>
          </a:p>
        </p:txBody>
      </p:sp>
    </p:spTree>
    <p:extLst>
      <p:ext uri="{BB962C8B-B14F-4D97-AF65-F5344CB8AC3E}">
        <p14:creationId xmlns:p14="http://schemas.microsoft.com/office/powerpoint/2010/main" val="1494591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9CBCA9E-63B7-4C03-8169-7301F9B40B7F}"/>
              </a:ext>
            </a:extLst>
          </p:cNvPr>
          <p:cNvSpPr>
            <a:spLocks xmlns:a="http://schemas.openxmlformats.org/drawingml/2006/main" noGrp="1"/>
          </p:cNvSpPr>
          <p:nvPr/>
        </p:nvSpPr>
        <p:spPr>
          <a:xfrm xmlns:a="http://schemas.openxmlformats.org/drawingml/2006/main">
            <a:off x="400050" y="3429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146EA8"/>
                </a:solidFill>
                <a:latin typeface="Arial"/>
                <a:ea typeface="Arial"/>
                <a:cs typeface="Arial"/>
              </a:defRPr>
            </a:pPr>
            <a:r>
              <a:rPr sz="900" b="1" i="0">
                <a:solidFill>
                  <a:srgbClr val="146EA8"/>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4FA8BD20-6A39-4DC5-850D-56E27A842521}"/>
              </a:ext>
            </a:extLst>
          </p:cNvPr>
          <p:cNvSpPr>
            <a:spLocks xmlns:a="http://schemas.openxmlformats.org/drawingml/2006/main" noGrp="1"/>
          </p:cNvSpPr>
          <p:nvPr/>
        </p:nvSpPr>
        <p:spPr>
          <a:xfrm xmlns:a="http://schemas.openxmlformats.org/drawingml/2006/main">
            <a:off x="400050" y="99060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i="0">
                <a:solidFill>
                  <a:srgbClr val="101820"/>
                </a:solidFill>
                <a:latin typeface="Arial"/>
                <a:ea typeface="Arial"/>
                <a:cs typeface="Arial"/>
              </a:defRPr>
            </a:pPr>
            <a:r>
              <a:rPr sz="3000" b="1" i="0">
                <a:solidFill>
                  <a:srgbClr val="101820"/>
                </a:solidFill>
                <a:latin typeface="Arial"/>
                <a:ea typeface="Arial"/>
                <a:cs typeface="Arial"/>
              </a:rPr>
              <a:t>Concrete interactions improve first; autonomy remains incomplete and reversible</a:t>
            </a:r>
          </a:p>
        </p:txBody>
      </p:sp>
      <p:sp>
        <p:nvSpPr>
          <p:cNvPr id="3" name="">
            <a:extLst xmlns:a="http://schemas.openxmlformats.org/drawingml/2006/main">
              <a:ext uri="{FF2B5EF4-FFF2-40B4-BE49-F238E27FC236}">
                <a16:creationId xmlns:a16="http://schemas.microsoft.com/office/drawing/2014/main" id="{09486C93-6E51-42AA-895B-3CE02CF20711}"/>
              </a:ext>
            </a:extLst>
          </p:cNvPr>
          <p:cNvSpPr>
            <a:spLocks xmlns:a="http://schemas.openxmlformats.org/drawingml/2006/main" noGrp="1"/>
          </p:cNvSpPr>
          <p:nvPr/>
        </p:nvSpPr>
        <p:spPr>
          <a:xfrm xmlns:a="http://schemas.openxmlformats.org/drawingml/2006/main">
            <a:off x="1143000" y="3295650"/>
            <a:ext cx="9906000" cy="38100"/>
          </a:xfrm>
          <a:prstGeom xmlns:a="http://schemas.openxmlformats.org/drawingml/2006/main" prst="rect">
            <a:avLst/>
          </a:prstGeom>
          <a:solidFill xmlns:a="http://schemas.openxmlformats.org/drawingml/2006/main">
            <a:srgbClr val="BAC4CB"/>
          </a:solidFill>
          <a:ln xmlns:a="http://schemas.openxmlformats.org/drawingml/2006/main" w="0">
            <a:solidFill>
              <a:srgbClr val="BAC4CB"/>
            </a:solidFill>
            <a:prstDash val="solid"/>
          </a:ln>
        </p:spPr>
      </p:sp>
      <p:sp>
        <p:nvSpPr>
          <p:cNvPr id="4" name="">
            <a:extLst xmlns:a="http://schemas.openxmlformats.org/drawingml/2006/main">
              <a:ext uri="{FF2B5EF4-FFF2-40B4-BE49-F238E27FC236}">
                <a16:creationId xmlns:a16="http://schemas.microsoft.com/office/drawing/2014/main" id="{4E262CA1-BD9A-4AE4-823C-B21A9B0084E2}"/>
              </a:ext>
            </a:extLst>
          </p:cNvPr>
          <p:cNvSpPr>
            <a:spLocks xmlns:a="http://schemas.openxmlformats.org/drawingml/2006/main" noGrp="1"/>
          </p:cNvSpPr>
          <p:nvPr/>
        </p:nvSpPr>
        <p:spPr>
          <a:xfrm xmlns:a="http://schemas.openxmlformats.org/drawingml/2006/main">
            <a:off x="1257300" y="3028950"/>
            <a:ext cx="533400" cy="533400"/>
          </a:xfrm>
          <a:prstGeom xmlns:a="http://schemas.openxmlformats.org/drawingml/2006/main" prst="ellipse">
            <a:avLst/>
          </a:prstGeom>
          <a:solidFill xmlns:a="http://schemas.openxmlformats.org/drawingml/2006/main">
            <a:srgbClr val="146EA8"/>
          </a:solidFill>
          <a:ln xmlns:a="http://schemas.openxmlformats.org/drawingml/2006/main" w="0">
            <a:solidFill>
              <a:srgbClr val="146EA8"/>
            </a:solidFill>
            <a:prstDash val="solid"/>
          </a:ln>
        </p:spPr>
      </p:sp>
      <p:sp>
        <p:nvSpPr>
          <p:cNvPr id="5" name="">
            <a:extLst xmlns:a="http://schemas.openxmlformats.org/drawingml/2006/main">
              <a:ext uri="{FF2B5EF4-FFF2-40B4-BE49-F238E27FC236}">
                <a16:creationId xmlns:a16="http://schemas.microsoft.com/office/drawing/2014/main" id="{4BACC717-A084-40A8-9E57-1FD934565A04}"/>
              </a:ext>
            </a:extLst>
          </p:cNvPr>
          <p:cNvSpPr>
            <a:spLocks xmlns:a="http://schemas.openxmlformats.org/drawingml/2006/main" noGrp="1"/>
          </p:cNvSpPr>
          <p:nvPr/>
        </p:nvSpPr>
        <p:spPr>
          <a:xfrm xmlns:a="http://schemas.openxmlformats.org/drawingml/2006/main">
            <a:off x="1295400" y="317182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i="0">
                <a:solidFill>
                  <a:srgbClr val="FFFFFF"/>
                </a:solidFill>
                <a:latin typeface="Arial"/>
                <a:ea typeface="Arial"/>
                <a:cs typeface="Arial"/>
              </a:defRPr>
            </a:pPr>
            <a:r>
              <a:rPr sz="1125" b="1" i="0">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AC3D61C-70DF-45A0-AB3A-1E0B7A63EC25}"/>
              </a:ext>
            </a:extLst>
          </p:cNvPr>
          <p:cNvSpPr>
            <a:spLocks xmlns:a="http://schemas.openxmlformats.org/drawingml/2006/main" noGrp="1"/>
          </p:cNvSpPr>
          <p:nvPr/>
        </p:nvSpPr>
        <p:spPr>
          <a:xfrm xmlns:a="http://schemas.openxmlformats.org/drawingml/2006/main">
            <a:off x="523875" y="38481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101820"/>
                </a:solidFill>
                <a:latin typeface="Arial"/>
                <a:ea typeface="Arial"/>
                <a:cs typeface="Arial"/>
              </a:defRPr>
            </a:pPr>
            <a:r>
              <a:rPr sz="1200" b="1" i="0">
                <a:solidFill>
                  <a:srgbClr val="101820"/>
                </a:solidFill>
                <a:latin typeface="Arial"/>
                <a:ea typeface="Arial"/>
                <a:cs typeface="Arial"/>
              </a:rPr>
              <a:t>visible parity</a:t>
            </a:r>
          </a:p>
        </p:txBody>
      </p:sp>
      <p:sp>
        <p:nvSpPr>
          <p:cNvPr id="7" name="">
            <a:extLst xmlns:a="http://schemas.openxmlformats.org/drawingml/2006/main">
              <a:ext uri="{FF2B5EF4-FFF2-40B4-BE49-F238E27FC236}">
                <a16:creationId xmlns:a16="http://schemas.microsoft.com/office/drawing/2014/main" id="{30A276E2-1244-4584-BDBC-6EFDD8498673}"/>
              </a:ext>
            </a:extLst>
          </p:cNvPr>
          <p:cNvSpPr>
            <a:spLocks xmlns:a="http://schemas.openxmlformats.org/drawingml/2006/main" noGrp="1"/>
          </p:cNvSpPr>
          <p:nvPr/>
        </p:nvSpPr>
        <p:spPr>
          <a:xfrm xmlns:a="http://schemas.openxmlformats.org/drawingml/2006/main">
            <a:off x="4305300" y="3028950"/>
            <a:ext cx="533400" cy="533400"/>
          </a:xfrm>
          <a:prstGeom xmlns:a="http://schemas.openxmlformats.org/drawingml/2006/main" prst="ellipse">
            <a:avLst/>
          </a:prstGeom>
          <a:solidFill xmlns:a="http://schemas.openxmlformats.org/drawingml/2006/main">
            <a:srgbClr val="18867F"/>
          </a:solidFill>
          <a:ln xmlns:a="http://schemas.openxmlformats.org/drawingml/2006/main" w="0">
            <a:solidFill>
              <a:srgbClr val="18867F"/>
            </a:solidFill>
            <a:prstDash val="solid"/>
          </a:ln>
        </p:spPr>
      </p:sp>
      <p:sp>
        <p:nvSpPr>
          <p:cNvPr id="8" name="">
            <a:extLst xmlns:a="http://schemas.openxmlformats.org/drawingml/2006/main">
              <a:ext uri="{FF2B5EF4-FFF2-40B4-BE49-F238E27FC236}">
                <a16:creationId xmlns:a16="http://schemas.microsoft.com/office/drawing/2014/main" id="{CF90F999-D9D5-444B-9D52-5E9CDDC7D1AE}"/>
              </a:ext>
            </a:extLst>
          </p:cNvPr>
          <p:cNvSpPr>
            <a:spLocks xmlns:a="http://schemas.openxmlformats.org/drawingml/2006/main" noGrp="1"/>
          </p:cNvSpPr>
          <p:nvPr/>
        </p:nvSpPr>
        <p:spPr>
          <a:xfrm xmlns:a="http://schemas.openxmlformats.org/drawingml/2006/main">
            <a:off x="4343400" y="317182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i="0">
                <a:solidFill>
                  <a:srgbClr val="FFFFFF"/>
                </a:solidFill>
                <a:latin typeface="Arial"/>
                <a:ea typeface="Arial"/>
                <a:cs typeface="Arial"/>
              </a:defRPr>
            </a:pPr>
            <a:r>
              <a:rPr sz="1125" b="1" i="0">
                <a:solidFill>
                  <a:srgbClr val="FFFF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3C1142C-21F7-496B-A70C-C3BBD714B448}"/>
              </a:ext>
            </a:extLst>
          </p:cNvPr>
          <p:cNvSpPr>
            <a:spLocks xmlns:a="http://schemas.openxmlformats.org/drawingml/2006/main" noGrp="1"/>
          </p:cNvSpPr>
          <p:nvPr/>
        </p:nvSpPr>
        <p:spPr>
          <a:xfrm xmlns:a="http://schemas.openxmlformats.org/drawingml/2006/main">
            <a:off x="3571875" y="38481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101820"/>
                </a:solidFill>
                <a:latin typeface="Arial"/>
                <a:ea typeface="Arial"/>
                <a:cs typeface="Arial"/>
              </a:defRPr>
            </a:pPr>
            <a:r>
              <a:rPr sz="1200" b="1" i="0">
                <a:solidFill>
                  <a:srgbClr val="101820"/>
                </a:solidFill>
                <a:latin typeface="Arial"/>
                <a:ea typeface="Arial"/>
                <a:cs typeface="Arial"/>
              </a:rPr>
              <a:t>effective refusal</a:t>
            </a:r>
          </a:p>
        </p:txBody>
      </p:sp>
      <p:sp>
        <p:nvSpPr>
          <p:cNvPr id="10" name="">
            <a:extLst xmlns:a="http://schemas.openxmlformats.org/drawingml/2006/main">
              <a:ext uri="{FF2B5EF4-FFF2-40B4-BE49-F238E27FC236}">
                <a16:creationId xmlns:a16="http://schemas.microsoft.com/office/drawing/2014/main" id="{4596123C-23A7-4128-9E22-2937C973EDA3}"/>
              </a:ext>
            </a:extLst>
          </p:cNvPr>
          <p:cNvSpPr>
            <a:spLocks xmlns:a="http://schemas.openxmlformats.org/drawingml/2006/main" noGrp="1"/>
          </p:cNvSpPr>
          <p:nvPr/>
        </p:nvSpPr>
        <p:spPr>
          <a:xfrm xmlns:a="http://schemas.openxmlformats.org/drawingml/2006/main">
            <a:off x="7353300" y="3028950"/>
            <a:ext cx="533400" cy="533400"/>
          </a:xfrm>
          <a:prstGeom xmlns:a="http://schemas.openxmlformats.org/drawingml/2006/main" prst="ellipse">
            <a:avLst/>
          </a:prstGeom>
          <a:solidFill xmlns:a="http://schemas.openxmlformats.org/drawingml/2006/main">
            <a:srgbClr val="D6A31A"/>
          </a:solidFill>
          <a:ln xmlns:a="http://schemas.openxmlformats.org/drawingml/2006/main" w="0">
            <a:solidFill>
              <a:srgbClr val="D6A31A"/>
            </a:solidFill>
            <a:prstDash val="solid"/>
          </a:ln>
        </p:spPr>
      </p:sp>
      <p:sp>
        <p:nvSpPr>
          <p:cNvPr id="11" name="">
            <a:extLst xmlns:a="http://schemas.openxmlformats.org/drawingml/2006/main">
              <a:ext uri="{FF2B5EF4-FFF2-40B4-BE49-F238E27FC236}">
                <a16:creationId xmlns:a16="http://schemas.microsoft.com/office/drawing/2014/main" id="{480D11BE-4C12-4F1A-B0A6-C335B62442FD}"/>
              </a:ext>
            </a:extLst>
          </p:cNvPr>
          <p:cNvSpPr>
            <a:spLocks xmlns:a="http://schemas.openxmlformats.org/drawingml/2006/main" noGrp="1"/>
          </p:cNvSpPr>
          <p:nvPr/>
        </p:nvSpPr>
        <p:spPr>
          <a:xfrm xmlns:a="http://schemas.openxmlformats.org/drawingml/2006/main">
            <a:off x="7391400" y="317182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i="0">
                <a:solidFill>
                  <a:srgbClr val="FFFFFF"/>
                </a:solidFill>
                <a:latin typeface="Arial"/>
                <a:ea typeface="Arial"/>
                <a:cs typeface="Arial"/>
              </a:defRPr>
            </a:pPr>
            <a:r>
              <a:rPr sz="1125" b="1" i="0">
                <a:solidFill>
                  <a:srgbClr val="FFFFFF"/>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AB0D973A-B474-43F1-BB4F-0024D3739D7C}"/>
              </a:ext>
            </a:extLst>
          </p:cNvPr>
          <p:cNvSpPr>
            <a:spLocks xmlns:a="http://schemas.openxmlformats.org/drawingml/2006/main" noGrp="1"/>
          </p:cNvSpPr>
          <p:nvPr/>
        </p:nvSpPr>
        <p:spPr>
          <a:xfrm xmlns:a="http://schemas.openxmlformats.org/drawingml/2006/main">
            <a:off x="6619875" y="38481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101820"/>
                </a:solidFill>
                <a:latin typeface="Arial"/>
                <a:ea typeface="Arial"/>
                <a:cs typeface="Arial"/>
              </a:defRPr>
            </a:pPr>
            <a:r>
              <a:rPr sz="1200" b="1" i="0">
                <a:solidFill>
                  <a:srgbClr val="101820"/>
                </a:solidFill>
                <a:latin typeface="Arial"/>
                <a:ea typeface="Arial"/>
                <a:cs typeface="Arial"/>
              </a:rPr>
              <a:t>cause strength</a:t>
            </a:r>
          </a:p>
        </p:txBody>
      </p:sp>
      <p:sp>
        <p:nvSpPr>
          <p:cNvPr id="13" name="">
            <a:extLst xmlns:a="http://schemas.openxmlformats.org/drawingml/2006/main">
              <a:ext uri="{FF2B5EF4-FFF2-40B4-BE49-F238E27FC236}">
                <a16:creationId xmlns:a16="http://schemas.microsoft.com/office/drawing/2014/main" id="{FE8EF257-BBEE-4FA2-8FDC-271F801191A9}"/>
              </a:ext>
            </a:extLst>
          </p:cNvPr>
          <p:cNvSpPr>
            <a:spLocks xmlns:a="http://schemas.openxmlformats.org/drawingml/2006/main" noGrp="1"/>
          </p:cNvSpPr>
          <p:nvPr/>
        </p:nvSpPr>
        <p:spPr>
          <a:xfrm xmlns:a="http://schemas.openxmlformats.org/drawingml/2006/main">
            <a:off x="10401300" y="3028950"/>
            <a:ext cx="533400" cy="533400"/>
          </a:xfrm>
          <a:prstGeom xmlns:a="http://schemas.openxmlformats.org/drawingml/2006/main" prst="ellipse">
            <a:avLst/>
          </a:prstGeom>
          <a:solidFill xmlns:a="http://schemas.openxmlformats.org/drawingml/2006/main">
            <a:srgbClr val="A13B16"/>
          </a:solidFill>
          <a:ln xmlns:a="http://schemas.openxmlformats.org/drawingml/2006/main" w="0">
            <a:solidFill>
              <a:srgbClr val="A13B16"/>
            </a:solidFill>
            <a:prstDash val="solid"/>
          </a:ln>
        </p:spPr>
      </p:sp>
      <p:sp>
        <p:nvSpPr>
          <p:cNvPr id="14" name="">
            <a:extLst xmlns:a="http://schemas.openxmlformats.org/drawingml/2006/main">
              <a:ext uri="{FF2B5EF4-FFF2-40B4-BE49-F238E27FC236}">
                <a16:creationId xmlns:a16="http://schemas.microsoft.com/office/drawing/2014/main" id="{3444E86D-F20F-46F8-BEE5-0342837598EA}"/>
              </a:ext>
            </a:extLst>
          </p:cNvPr>
          <p:cNvSpPr>
            <a:spLocks xmlns:a="http://schemas.openxmlformats.org/drawingml/2006/main" noGrp="1"/>
          </p:cNvSpPr>
          <p:nvPr/>
        </p:nvSpPr>
        <p:spPr>
          <a:xfrm xmlns:a="http://schemas.openxmlformats.org/drawingml/2006/main">
            <a:off x="10439400" y="317182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i="0">
                <a:solidFill>
                  <a:srgbClr val="FFFFFF"/>
                </a:solidFill>
                <a:latin typeface="Arial"/>
                <a:ea typeface="Arial"/>
                <a:cs typeface="Arial"/>
              </a:defRPr>
            </a:pPr>
            <a:r>
              <a:rPr sz="1125" b="1" i="0">
                <a:solidFill>
                  <a:srgbClr val="FFFFFF"/>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0EE209CB-1A57-40E3-98D5-12617695A82C}"/>
              </a:ext>
            </a:extLst>
          </p:cNvPr>
          <p:cNvSpPr>
            <a:spLocks xmlns:a="http://schemas.openxmlformats.org/drawingml/2006/main" noGrp="1"/>
          </p:cNvSpPr>
          <p:nvPr/>
        </p:nvSpPr>
        <p:spPr>
          <a:xfrm xmlns:a="http://schemas.openxmlformats.org/drawingml/2006/main">
            <a:off x="9667875" y="38481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101820"/>
                </a:solidFill>
                <a:latin typeface="Arial"/>
                <a:ea typeface="Arial"/>
                <a:cs typeface="Arial"/>
              </a:defRPr>
            </a:pPr>
            <a:r>
              <a:rPr sz="1200" b="1" i="0">
                <a:solidFill>
                  <a:srgbClr val="101820"/>
                </a:solidFill>
                <a:latin typeface="Arial"/>
                <a:ea typeface="Arial"/>
                <a:cs typeface="Arial"/>
              </a:rPr>
              <a:t>continuous re-audit</a:t>
            </a:r>
          </a:p>
        </p:txBody>
      </p:sp>
      <p:sp>
        <p:nvSpPr>
          <p:cNvPr id="16" name="">
            <a:extLst xmlns:a="http://schemas.openxmlformats.org/drawingml/2006/main">
              <a:ext uri="{FF2B5EF4-FFF2-40B4-BE49-F238E27FC236}">
                <a16:creationId xmlns:a16="http://schemas.microsoft.com/office/drawing/2014/main" id="{472A9E36-C935-4581-804E-2A325589A5FF}"/>
              </a:ext>
            </a:extLst>
          </p:cNvPr>
          <p:cNvSpPr>
            <a:spLocks xmlns:a="http://schemas.openxmlformats.org/drawingml/2006/main" noGrp="1"/>
          </p:cNvSpPr>
          <p:nvPr/>
        </p:nvSpPr>
        <p:spPr>
          <a:xfrm xmlns:a="http://schemas.openxmlformats.org/drawingml/2006/main">
            <a:off x="400050" y="4686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46EA8"/>
                </a:solidFill>
                <a:latin typeface="Arial"/>
                <a:ea typeface="Arial"/>
                <a:cs typeface="Arial"/>
              </a:defRPr>
            </a:pPr>
            <a:r>
              <a:rPr sz="1200" b="1" i="0">
                <a:solidFill>
                  <a:srgbClr val="146EA8"/>
                </a:solidFill>
                <a:latin typeface="Arial"/>
                <a:ea typeface="Arial"/>
                <a:cs typeface="Arial"/>
              </a:rPr>
              <a:t>Questions to carry forward</a:t>
            </a:r>
          </a:p>
        </p:txBody>
      </p:sp>
      <p:sp>
        <p:nvSpPr>
          <p:cNvPr id="17" name="">
            <a:extLst xmlns:a="http://schemas.openxmlformats.org/drawingml/2006/main">
              <a:ext uri="{FF2B5EF4-FFF2-40B4-BE49-F238E27FC236}">
                <a16:creationId xmlns:a16="http://schemas.microsoft.com/office/drawing/2014/main" id="{CAC6494D-911E-4649-ADA7-BFE42BF1C2AF}"/>
              </a:ext>
            </a:extLst>
          </p:cNvPr>
          <p:cNvSpPr>
            <a:spLocks xmlns:a="http://schemas.openxmlformats.org/drawingml/2006/main" noGrp="1"/>
          </p:cNvSpPr>
          <p:nvPr/>
        </p:nvSpPr>
        <p:spPr>
          <a:xfrm xmlns:a="http://schemas.openxmlformats.org/drawingml/2006/main">
            <a:off x="2895600" y="46672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4C5B67"/>
                </a:solidFill>
                <a:latin typeface="Arial"/>
                <a:ea typeface="Arial"/>
                <a:cs typeface="Arial"/>
              </a:defRPr>
            </a:pPr>
            <a:r>
              <a:rPr sz="1425" b="0" i="0">
                <a:solidFill>
                  <a:srgbClr val="4C5B67"/>
                </a:solidFill>
                <a:latin typeface="Arial"/>
                <a:ea typeface="Arial"/>
                <a:cs typeface="Arial"/>
              </a:rPr>
              <a:t>autonomy or demonstrable parity? | publisher, CMP, or both? | one-time certification or recurring audit?</a:t>
            </a:r>
          </a:p>
        </p:txBody>
      </p:sp>
      <p:sp>
        <p:nvSpPr>
          <p:cNvPr id="18" name="">
            <a:extLst xmlns:a="http://schemas.openxmlformats.org/drawingml/2006/main">
              <a:ext uri="{FF2B5EF4-FFF2-40B4-BE49-F238E27FC236}">
                <a16:creationId xmlns:a16="http://schemas.microsoft.com/office/drawing/2014/main" id="{FB2C7280-AB00-454B-850E-D68F94DA8938}"/>
              </a:ext>
            </a:extLst>
          </p:cNvPr>
          <p:cNvSpPr>
            <a:spLocks xmlns:a="http://schemas.openxmlformats.org/drawingml/2006/main" noGrp="1"/>
          </p:cNvSpPr>
          <p:nvPr/>
        </p:nvSpPr>
        <p:spPr>
          <a:xfrm xmlns:a="http://schemas.openxmlformats.org/drawingml/2006/main">
            <a:off x="400050" y="5372100"/>
            <a:ext cx="11391900" cy="800100"/>
          </a:xfrm>
          <a:prstGeom xmlns:a="http://schemas.openxmlformats.org/drawingml/2006/main" prst="rect">
            <a:avLst/>
          </a:prstGeom>
          <a:solidFill xmlns:a="http://schemas.openxmlformats.org/drawingml/2006/main">
            <a:srgbClr val="66C6E9"/>
          </a:solidFill>
          <a:ln xmlns:a="http://schemas.openxmlformats.org/drawingml/2006/main" w="0">
            <a:solidFill>
              <a:srgbClr val="66C6E9"/>
            </a:solidFill>
            <a:prstDash val="solid"/>
          </a:ln>
        </p:spPr>
      </p:sp>
      <p:sp>
        <p:nvSpPr>
          <p:cNvPr id="19" name="">
            <a:extLst xmlns:a="http://schemas.openxmlformats.org/drawingml/2006/main">
              <a:ext uri="{FF2B5EF4-FFF2-40B4-BE49-F238E27FC236}">
                <a16:creationId xmlns:a16="http://schemas.microsoft.com/office/drawing/2014/main" id="{BAD747BB-3DFC-417C-B221-1660FCEFA15E}"/>
              </a:ext>
            </a:extLst>
          </p:cNvPr>
          <p:cNvSpPr>
            <a:spLocks xmlns:a="http://schemas.openxmlformats.org/drawingml/2006/main" noGrp="1"/>
          </p:cNvSpPr>
          <p:nvPr/>
        </p:nvSpPr>
        <p:spPr>
          <a:xfrm xmlns:a="http://schemas.openxmlformats.org/drawingml/2006/main">
            <a:off x="685800" y="55816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i="0">
                <a:solidFill>
                  <a:srgbClr val="101820"/>
                </a:solidFill>
                <a:latin typeface="Arial"/>
                <a:ea typeface="Arial"/>
                <a:cs typeface="Arial"/>
              </a:defRPr>
            </a:pPr>
            <a:r>
              <a:rPr sz="1725" b="1" i="0">
                <a:solidFill>
                  <a:srgbClr val="101820"/>
                </a:solidFill>
                <a:latin typeface="Arial"/>
                <a:ea typeface="Arial"/>
                <a:cs typeface="Arial"/>
              </a:rPr>
              <a:t>Finding: regulators appear most effective where they can specify and verify a concrete interaction.</a:t>
            </a:r>
          </a:p>
        </p:txBody>
      </p:sp>
      <p:sp>
        <p:nvSpPr>
          <p:cNvPr id="20" name="">
            <a:extLst xmlns:a="http://schemas.openxmlformats.org/drawingml/2006/main">
              <a:ext uri="{FF2B5EF4-FFF2-40B4-BE49-F238E27FC236}">
                <a16:creationId xmlns:a16="http://schemas.microsoft.com/office/drawing/2014/main" id="{338522F0-3A38-4E78-8CD8-8EEA80C3EB22}"/>
              </a:ext>
            </a:extLst>
          </p:cNvPr>
          <p:cNvSpPr>
            <a:spLocks xmlns:a="http://schemas.openxmlformats.org/drawingml/2006/main" noGrp="1"/>
          </p:cNvSpPr>
          <p:nvPr/>
        </p:nvSpPr>
        <p:spPr>
          <a:xfrm xmlns:a="http://schemas.openxmlformats.org/drawingml/2006/main">
            <a:off x="400050" y="6477000"/>
            <a:ext cx="3143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600" b="0" i="0">
                <a:solidFill>
                  <a:srgbClr val="73818B"/>
                </a:solidFill>
                <a:latin typeface="Arial"/>
                <a:ea typeface="Arial"/>
                <a:cs typeface="Arial"/>
              </a:defRPr>
            </a:pPr>
            <a:r>
              <a:rPr sz="600" b="0" i="0">
                <a:solidFill>
                  <a:srgbClr val="73818B"/>
                </a:solidFill>
                <a:latin typeface="Arial"/>
                <a:ea typeface="Arial"/>
                <a:cs typeface="Arial"/>
              </a:rPr>
              <a:t>SSRP 2026 | Qianyi (Alfred) Chen</a:t>
            </a:r>
          </a:p>
        </p:txBody>
      </p:sp>
      <p:sp>
        <p:nvSpPr>
          <p:cNvPr id="21" name="">
            <a:extLst xmlns:a="http://schemas.openxmlformats.org/drawingml/2006/main">
              <a:ext uri="{FF2B5EF4-FFF2-40B4-BE49-F238E27FC236}">
                <a16:creationId xmlns:a16="http://schemas.microsoft.com/office/drawing/2014/main" id="{156830F3-F6EB-40AA-8B47-8DF5E65B0236}"/>
              </a:ext>
            </a:extLst>
          </p:cNvPr>
          <p:cNvSpPr>
            <a:spLocks xmlns:a="http://schemas.openxmlformats.org/drawingml/2006/main" noGrp="1"/>
          </p:cNvSpPr>
          <p:nvPr/>
        </p:nvSpPr>
        <p:spPr>
          <a:xfrm xmlns:a="http://schemas.openxmlformats.org/drawingml/2006/main">
            <a:off x="6191250" y="6477000"/>
            <a:ext cx="5600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600" b="0" i="0">
                <a:solidFill>
                  <a:srgbClr val="73818B"/>
                </a:solidFill>
                <a:latin typeface="Arial"/>
                <a:ea typeface="Arial"/>
                <a:cs typeface="Arial"/>
              </a:defRPr>
            </a:pPr>
            <a:r>
              <a:rPr sz="600" b="0" i="0">
                <a:solidFill>
                  <a:srgbClr val="73818B"/>
                </a:solidFill>
                <a:latin typeface="Arial"/>
                <a:ea typeface="Arial"/>
                <a:cs typeface="Arial"/>
              </a:rPr>
              <a:t>Next: reproduce these trajectories with three or more controlled captures per site</a:t>
            </a:r>
          </a:p>
        </p:txBody>
      </p:sp>
    </p:spTree>
    <p:extLst>
      <p:ext uri="{BB962C8B-B14F-4D97-AF65-F5344CB8AC3E}">
        <p14:creationId xmlns:p14="http://schemas.microsoft.com/office/powerpoint/2010/main" val="1447288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2026-08-04T02:49:35.5460000Z</dcterms:created>
  <dcterms:modified xsi:type="dcterms:W3CDTF">2026-08-04T02:49:35.5460000Z</dcterms:modified>
</coreProperties>
</file>