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32cf442b4d46b7" /><Relationship Type="http://schemas.openxmlformats.org/officeDocument/2006/relationships/extended-properties" Target="/docProps/app.xml" Id="R9dc65a1710484ce0" /><Relationship Type="http://schemas.openxmlformats.org/officeDocument/2006/relationships/officeDocument" Target="/ppt/presentation.xml" Id="R4225990f80024f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b6cf22e7094a35"/>
  </p:sldMasterIdLst>
  <p:notesMasterIdLst>
    <p:notesMasterId xmlns:r="http://schemas.openxmlformats.org/officeDocument/2006/relationships" r:id="R949acd4015894403"/>
  </p:notesMasterIdLst>
  <p:sldIdLst>
    <p:sldId xmlns:r="http://schemas.openxmlformats.org/officeDocument/2006/relationships" id="256" r:id="Rf28b524babfa4e0a"/>
    <p:sldId xmlns:r="http://schemas.openxmlformats.org/officeDocument/2006/relationships" id="257" r:id="R2ae568e096ab4e8c"/>
    <p:sldId xmlns:r="http://schemas.openxmlformats.org/officeDocument/2006/relationships" id="258" r:id="R28f4f53602324e5d"/>
    <p:sldId xmlns:r="http://schemas.openxmlformats.org/officeDocument/2006/relationships" id="259" r:id="R858e46d542df4d6c"/>
    <p:sldId xmlns:r="http://schemas.openxmlformats.org/officeDocument/2006/relationships" id="260" r:id="R90ac8483971f4c79"/>
    <p:sldId xmlns:r="http://schemas.openxmlformats.org/officeDocument/2006/relationships" id="261" r:id="Rbaf3cfd97df347ac"/>
    <p:sldId xmlns:r="http://schemas.openxmlformats.org/officeDocument/2006/relationships" id="262" r:id="Rdfb0addf30664510"/>
    <p:sldId xmlns:r="http://schemas.openxmlformats.org/officeDocument/2006/relationships" id="263" r:id="R153b88bb92c7445f"/>
    <p:sldId xmlns:r="http://schemas.openxmlformats.org/officeDocument/2006/relationships" id="264" r:id="R55a43e2833b941ba"/>
    <p:sldId xmlns:r="http://schemas.openxmlformats.org/officeDocument/2006/relationships" id="265" r:id="Re2557604477745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8f1a8ac950483f" /><Relationship Type="http://schemas.openxmlformats.org/officeDocument/2006/relationships/slideMaster" Target="/ppt/slideMasters/slideMaster1.xml" Id="R5ab6cf22e7094a35" /><Relationship Type="http://schemas.openxmlformats.org/officeDocument/2006/relationships/notesMaster" Target="/ppt/notesMasters/notesMaster1.xml" Id="R949acd4015894403" /><Relationship Type="http://schemas.openxmlformats.org/officeDocument/2006/relationships/presProps" Target="/ppt/presProps.xml" Id="R4a111d86a877488f" /><Relationship Type="http://schemas.openxmlformats.org/officeDocument/2006/relationships/tableStyles" Target="/ppt/tableStyles.xml" Id="R10c7d3980f134439" /><Relationship Type="http://schemas.openxmlformats.org/officeDocument/2006/relationships/slide" Target="/ppt/slides/slide1.xml" Id="Rf28b524babfa4e0a" /><Relationship Type="http://schemas.openxmlformats.org/officeDocument/2006/relationships/slide" Target="/ppt/slides/slide2.xml" Id="R2ae568e096ab4e8c" /><Relationship Type="http://schemas.openxmlformats.org/officeDocument/2006/relationships/slide" Target="/ppt/slides/slide3.xml" Id="R28f4f53602324e5d" /><Relationship Type="http://schemas.openxmlformats.org/officeDocument/2006/relationships/slide" Target="/ppt/slides/slide4.xml" Id="R858e46d542df4d6c" /><Relationship Type="http://schemas.openxmlformats.org/officeDocument/2006/relationships/slide" Target="/ppt/slides/slide5.xml" Id="R90ac8483971f4c79" /><Relationship Type="http://schemas.openxmlformats.org/officeDocument/2006/relationships/slide" Target="/ppt/slides/slide6.xml" Id="Rbaf3cfd97df347ac" /><Relationship Type="http://schemas.openxmlformats.org/officeDocument/2006/relationships/slide" Target="/ppt/slides/slide7.xml" Id="Rdfb0addf30664510" /><Relationship Type="http://schemas.openxmlformats.org/officeDocument/2006/relationships/slide" Target="/ppt/slides/slide8.xml" Id="R153b88bb92c7445f" /><Relationship Type="http://schemas.openxmlformats.org/officeDocument/2006/relationships/slide" Target="/ppt/slides/slide9.xml" Id="R55a43e2833b941ba" /><Relationship Type="http://schemas.openxmlformats.org/officeDocument/2006/relationships/slide" Target="/ppt/slides/slide10.xml" Id="Re2557604477745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bf3df3214e4b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dc751dd7404629" /><Relationship Type="http://schemas.openxmlformats.org/officeDocument/2006/relationships/notesMaster" Target="/ppt/notesMasters/notesMaster1.xml" Id="Rd780e97ed8f14e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521d2c659e4d91" /><Relationship Type="http://schemas.openxmlformats.org/officeDocument/2006/relationships/notesMaster" Target="/ppt/notesMasters/notesMaster1.xml" Id="R285f1e4db5cf46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ad8c14323d4f61" /><Relationship Type="http://schemas.openxmlformats.org/officeDocument/2006/relationships/notesMaster" Target="/ppt/notesMasters/notesMaster1.xml" Id="R9213b8c7f7df4e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5baaedf4384ebc" /><Relationship Type="http://schemas.openxmlformats.org/officeDocument/2006/relationships/notesMaster" Target="/ppt/notesMasters/notesMaster1.xml" Id="R54cf6bbd5eab43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c0d2a2f9ba4e0e" /><Relationship Type="http://schemas.openxmlformats.org/officeDocument/2006/relationships/notesMaster" Target="/ppt/notesMasters/notesMaster1.xml" Id="R9603ddedeb5c4c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69ff401f7c4e89" /><Relationship Type="http://schemas.openxmlformats.org/officeDocument/2006/relationships/notesMaster" Target="/ppt/notesMasters/notesMaster1.xml" Id="R4823abfcea8a46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a5fc99e4f44b30" /><Relationship Type="http://schemas.openxmlformats.org/officeDocument/2006/relationships/notesMaster" Target="/ppt/notesMasters/notesMaster1.xml" Id="R8dd480528dad4e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04a4c1dca24f38" /><Relationship Type="http://schemas.openxmlformats.org/officeDocument/2006/relationships/notesMaster" Target="/ppt/notesMasters/notesMaster1.xml" Id="Rd0e305c4d45447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097abd3c014697" /><Relationship Type="http://schemas.openxmlformats.org/officeDocument/2006/relationships/notesMaster" Target="/ppt/notesMasters/notesMaster1.xml" Id="Rd226f4710a2744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860e16eabd42f8" /><Relationship Type="http://schemas.openxmlformats.org/officeDocument/2006/relationships/notesMaster" Target="/ppt/notesMasters/notesMaster1.xml" Id="R3518284e802f49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data/retrospective_longitudinal_cases_2026-07-29.csv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CONCEPTS.md</a:t>
            </a:r>
          </a:p>
          <a:p xmlns:a="http://schemas.openxmlformats.org/drawingml/2006/main">
            <a:r>
              <a:t>- Internal: data/retrospective_longitudinal_cases_2026-07-29.csv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data/longitudinal_directional_review_2026-07-29.csv</a:t>
            </a:r>
          </a:p>
          <a:p xmlns:a="http://schemas.openxmlformats.org/drawingml/2006/main">
            <a:r>
              <a:t>- Internal: data/retrospective_source_registry_2026-07-29.csv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https://www.edpb.europa.eu/system/files/2023-01/edpb_20230118_report_cookie_banner_taskforce_en.pdf</a:t>
            </a:r>
          </a:p>
          <a:p xmlns:a="http://schemas.openxmlformats.org/drawingml/2006/main">
            <a:r>
              <a:t>- Internal: CONCEPTS.md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https://arxiv.org/abs/2606.31485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data/retrospective_longitudinal_cases_2026-07-29.csv</a:t>
            </a:r>
          </a:p>
          <a:p xmlns:a="http://schemas.openxmlformats.org/drawingml/2006/main">
            <a:r>
              <a:t>- Internal: data/retrospective_source_registry_2026-07-29.csv</a:t>
            </a:r>
          </a:p>
          <a:p xmlns:a="http://schemas.openxmlformats.org/drawingml/2006/main">
            <a:r>
              <a:t>- https://www.cnil.fr/sites/default/files/2025-09/cnil_sanction_shein_en.pdf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https://www.legifrance.gouv.fr/cnil/id/CNILTEXT000044840062</a:t>
            </a:r>
          </a:p>
          <a:p xmlns:a="http://schemas.openxmlformats.org/drawingml/2006/main">
            <a:r>
              <a:t>- https://blog.google/company-news/inside-google/around-the-globe/google-europe/new-cookie-choices-in-europe/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https://www.legifrance.gouv.fr/cnil/id/CNILTEXT000044840532</a:t>
            </a:r>
          </a:p>
          <a:p xmlns:a="http://schemas.openxmlformats.org/drawingml/2006/main">
            <a:r>
              <a:t>- https://www.legifrance.gouv.fr/cnil/id/CNILTEXT000046096716</a:t>
            </a:r>
          </a:p>
          <a:p xmlns:a="http://schemas.openxmlformats.org/drawingml/2006/main">
            <a:r>
              <a:t>- https://www.legifrance.gouv.fr/cnil/id/CNILTEXT000046977994/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https://www.cnil.fr/en/closure-injunction-issued-against-orange</a:t>
            </a:r>
          </a:p>
          <a:p xmlns:a="http://schemas.openxmlformats.org/drawingml/2006/main">
            <a:r>
              <a:t>- https://www.cnil.fr/sites/default/files/2025-09/cnil_sanction_shein_en.pdf</a:t>
            </a:r>
          </a:p>
          <a:p xmlns:a="http://schemas.openxmlformats.org/drawingml/2006/main">
            <a:r>
              <a:t>- https://www.cnil.fr/en/cookies-placed-without-consent-company-publishes-website-vanityfairfr-fined-750000-euros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docs/research/july29_retrospective_longitudinal_evidence_rescue_2026-07-29.md</a:t>
            </a:r>
          </a:p>
          <a:p xmlns:a="http://schemas.openxmlformats.org/drawingml/2006/main">
            <a:r>
              <a:t>- Internal: data/retrospective_source_registry_2026-07-29.csv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afc0213ef47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2605da4f634d8e" /><Relationship Type="http://schemas.openxmlformats.org/officeDocument/2006/relationships/slideLayout" Target="/ppt/slideLayouts/slideLayout1.xml" Id="Rf0ab1f8136e941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ab1f8136e941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b0947cd1b4075" /><Relationship Type="http://schemas.openxmlformats.org/officeDocument/2006/relationships/notesSlide" Target="/ppt/notesSlides/notesSlide1.xml" Id="R194b487bf7c34c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ffbaa95224704" /><Relationship Type="http://schemas.openxmlformats.org/officeDocument/2006/relationships/notesSlide" Target="/ppt/notesSlides/notesSlide2.xml" Id="R31e0958b42e24a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d3664de1242f1" /><Relationship Type="http://schemas.openxmlformats.org/officeDocument/2006/relationships/notesSlide" Target="/ppt/notesSlides/notesSlide3.xml" Id="R3c4b16365d814d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2feb4d89942e3" /><Relationship Type="http://schemas.openxmlformats.org/officeDocument/2006/relationships/notesSlide" Target="/ppt/notesSlides/notesSlide4.xml" Id="R1f078a2772f947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54ee2d7b342fa" /><Relationship Type="http://schemas.openxmlformats.org/officeDocument/2006/relationships/notesSlide" Target="/ppt/notesSlides/notesSlide5.xml" Id="R97848cf7dd3b48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6aaf4f4884483" /><Relationship Type="http://schemas.openxmlformats.org/officeDocument/2006/relationships/notesSlide" Target="/ppt/notesSlides/notesSlide6.xml" Id="R068fbac4996e43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32cae6d2f4cfd" /><Relationship Type="http://schemas.openxmlformats.org/officeDocument/2006/relationships/notesSlide" Target="/ppt/notesSlides/notesSlide7.xml" Id="R22cc4f541c4e4b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6f00d79334c25" /><Relationship Type="http://schemas.openxmlformats.org/officeDocument/2006/relationships/notesSlide" Target="/ppt/notesSlides/notesSlide8.xml" Id="Rcc814dbf6dc147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43d896df64788" /><Relationship Type="http://schemas.openxmlformats.org/officeDocument/2006/relationships/notesSlide" Target="/ppt/notesSlides/notesSlide9.xml" Id="R28d2a1bcb2d749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bd3e9f35648dd" /><Relationship Type="http://schemas.openxmlformats.org/officeDocument/2006/relationships/notesSlide" Target="/ppt/notesSlides/notesSlide10.xml" Id="R7c68d25fe1364f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292DC-D677-445C-899C-7A5D6C32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SSRP 2026 | LONGITUDINAL CONSENT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32FF4-5CA6-46B9-B04B-DA660E61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714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How Cookie Consent</a:t>
            </a:r>
          </a:p>
          <a:p xmlns:a="http://schemas.openxmlformats.org/drawingml/2006/main">
            <a:pPr algn="l">
              <a:buNone/>
              <a:defRPr sz="36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Interfaces Changed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15F99-E439-4595-A308-257A33C3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Six dated company trajectories, paired with a controlled capture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1B920-5506-451A-9C87-0384ADDC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85900"/>
            <a:ext cx="1952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6E9"/>
          </a:solidFill>
          <a:ln xmlns:a="http://schemas.openxmlformats.org/drawingml/2006/main" w="0">
            <a:solidFill>
              <a:srgbClr val="66C6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14391-CE39-4657-A842-9F3D5352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526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RQ1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5A6D2-16A4-4363-BCD6-66D1D4CD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76450"/>
            <a:ext cx="1485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measure</a:t>
            </a:r>
          </a:p>
          <a:p xmlns:a="http://schemas.openxmlformats.org/drawingml/2006/main">
            <a:pPr algn="l">
              <a:buNone/>
              <a:defRPr sz="11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user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56019-6D45-4210-B327-05661AA1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81300"/>
            <a:ext cx="148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5508E-2BFD-4007-BDC5-997E4AFF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099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RQ2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ABEE5-77C3-4389-9D72-0B244A27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33750"/>
            <a:ext cx="1485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compare</a:t>
            </a:r>
          </a:p>
          <a:p xmlns:a="http://schemas.openxmlformats.org/drawingml/2006/main">
            <a:pPr algn="l">
              <a:buNone/>
              <a:defRPr sz="11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over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EDCAA-525F-44BE-B72E-73BB2BBC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38600"/>
            <a:ext cx="148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66CC4-66DF-4218-B278-72FB4258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672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4FF41-DB1F-4511-B5B0-7B54D2D9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148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5 improved</a:t>
            </a:r>
          </a:p>
          <a:p xmlns:a="http://schemas.openxmlformats.org/drawingml/2006/main">
            <a:pPr algn="l">
              <a:buNone/>
              <a:defRPr sz="82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1 regressed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EE580-259A-4501-A40F-3E885628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Qianyi (Alfred) Chen | Mentor: Dr. Jagdip Singh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88EB7-3B05-46F3-833F-2AE0B0DB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0552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Evidence reviewed through July 30, 2026</a:t>
            </a:r>
          </a:p>
        </p:txBody>
      </p:sp>
    </p:spTree>
    <p:extLst>
      <p:ext uri="{BB962C8B-B14F-4D97-AF65-F5344CB8AC3E}">
        <p14:creationId xmlns:p14="http://schemas.microsoft.com/office/powerpoint/2010/main" val="18978723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111D4-0C27-408A-91B8-FB686A07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SSRP 2026 | LONGITUDINAL CONSENT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BA080-224D-4DEC-9C07-6624B512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707E3-3E8D-4B5D-9EC0-7A09947F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proposal's two questions now have bounded answers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99C4B-E146-4479-B348-5C9163CD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solidFill>
              <a:srgbClr val="D9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84B8D-37BD-497B-90AD-5E3F7381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RQ1 | HOW SHOULD WE JUDGE IT?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46D35-57DA-4C31-A4D3-1FE0D0BA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Can users reach Reject or Customize?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How many actions does each path require?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Are purposes clear and options balanced?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Does refusal or withdrawal stop tracking?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30E46-6FCE-4352-A004-613EDD8F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8115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3B75F-0AF3-4EE4-B8CA-F11BC294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0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RQ2 | HOW DID IT CHANGE?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D0377-9F2F-47FF-A178-B8105034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- 6 dated company trajectories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- 5 improved in at least one component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- 1 regressed in functional refusal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- 3/3 first-layer cases removed rejection asymmetry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BEB7F-F75A-4B1D-80A0-9DA73E0F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8B144-0C42-4FC6-8969-DF0907B4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6C6E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C6E9"/>
                </a:solidFill>
                <a:latin typeface="Arial"/>
                <a:ea typeface="Arial"/>
                <a:cs typeface="Arial"/>
              </a:rPr>
              <a:t>Bounded answer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EED9B-4973-4FAF-9E21-272CFC14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911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evidence supports component-level direction, not an internet-wide rate or randomized causal claim.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B6826-7E64-408B-BD90-7697203F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SSRP 2026 | Qianyi (Alfred) Chen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944B8-E726-475F-B67B-24E0108E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77000"/>
            <a:ext cx="560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Case series: 5 improved | 1 regressed | purposive sample</a:t>
            </a:r>
          </a:p>
        </p:txBody>
      </p:sp>
    </p:spTree>
    <p:extLst>
      <p:ext uri="{BB962C8B-B14F-4D97-AF65-F5344CB8AC3E}">
        <p14:creationId xmlns:p14="http://schemas.microsoft.com/office/powerpoint/2010/main" val="1494591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4BF286-AFF5-4033-BA13-A094F0B5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SSRP 2026 | LONGITUDINAL CONSENT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06F54-2B83-4A34-B93F-CEA78ACB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D31C7-69F0-474A-847F-387C76D7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Two evidence lanes answer different parts of 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5E46F-E2FC-4BB3-A994-5949A2D4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solidFill>
              <a:srgbClr val="D9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BF755-6FD1-44BF-B0B9-4D4D2C59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Weak local depth is preserved as a limit; dated primary sources add direction.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41F1F-66E3-494E-8931-0EEA6AB0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90850"/>
            <a:ext cx="942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4CB"/>
          </a:solidFill>
          <a:ln xmlns:a="http://schemas.openxmlformats.org/drawingml/2006/main" w="0">
            <a:solidFill>
              <a:srgbClr val="BAC4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3481F-7C14-4C36-B54B-CA49014C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A8"/>
          </a:solidFill>
          <a:ln xmlns:a="http://schemas.openxmlformats.org/drawingml/2006/main" w="0">
            <a:solidFill>
              <a:srgbClr val="146E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5CA93-372A-48C6-A308-81FD3B82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71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AC4F7-413D-4731-A4AB-64703577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147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25D7F-F0C0-4568-884C-D295061C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17195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Five sites; one matched May 29-June 5 interval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55169-1B21-4BD6-8499-7EE10511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527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67F"/>
          </a:solidFill>
          <a:ln xmlns:a="http://schemas.openxmlformats.org/drawingml/2006/main" w="0">
            <a:solidFill>
              <a:srgbClr val="1886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2D59A-3535-4E81-A9A5-27561F3D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71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1C5DE9-B7A4-41B7-85BF-DB22AAF6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147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54809-8DAE-4B45-B5D4-87CF6E70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7195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Freeze context and scorer; inspect component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FDC91-5DCA-4DF8-A58E-FE248E9C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527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1A"/>
          </a:solidFill>
          <a:ln xmlns:a="http://schemas.openxmlformats.org/drawingml/2006/main" w="0">
            <a:solidFill>
              <a:srgbClr val="D6A31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FED42D-0027-4DAD-B3C6-682BF6E7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71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6F89B-87C0-4CEC-B87D-6310592A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RECOVER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F93249-091F-4B8D-946C-8E9F74C3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7195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Six companies with dated before/after primary sources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16589C-9ED0-4EC9-A56B-40CBBBEB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527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3B16"/>
          </a:solidFill>
          <a:ln xmlns:a="http://schemas.openxmlformats.org/drawingml/2006/main" w="0">
            <a:solidFill>
              <a:srgbClr val="A13B1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0C733F-AC6F-41BF-8D03-82D957A9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71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FB5956-D5D9-40C0-84F8-BCF2320A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147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GRADE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1309F6-1150-4390-BA99-C2C31EAC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7195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Code direction separately from causal evidence strength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651F47-D415-415C-ABEC-A31D7AE0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34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Two-lane contribution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C02EF9-0583-432C-81D0-882A81B2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8637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pilot validates the method; the historical cases provide directional findings.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2E1203-BC07-4851-AA8E-AC5DFA9E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SSRP 2026 | Qianyi (Alfred) Chen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DF45D5-D527-4F9B-BEA9-6ECAA3A9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77000"/>
            <a:ext cx="560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Sources: local capture package; 12-source retrospective registry</a:t>
            </a:r>
          </a:p>
        </p:txBody>
      </p:sp>
    </p:spTree>
    <p:extLst>
      <p:ext uri="{BB962C8B-B14F-4D97-AF65-F5344CB8AC3E}">
        <p14:creationId xmlns:p14="http://schemas.microsoft.com/office/powerpoint/2010/main" val="18992770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BD633F-66A6-42AE-8956-87F7BE2E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SSRP 2026 | LONGITUDINAL CONSENT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A6B57-FDA8-4F17-9002-7605FB96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8E7B9-BBF1-4749-94CE-B736E0EC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Direction is coded at the component level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6B159-2384-44EE-B217-D4737884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solidFill>
              <a:srgbClr val="D9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26F30-20A9-4FF3-8449-F40A85A9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1D720-D5C3-48A0-9AD0-77EF3399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Dimension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753FA-8523-4652-A411-A4A61323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33550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Improvement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879D0-13D4-4EA8-920C-451955A3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33550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E1EEA-3B72-4997-B08F-C78447D5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7335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F9B5C-4958-4128-B5DF-9A8B8150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1391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4AA3C-91A4-4099-A42B-01295CCE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Availability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4F3FB-8606-4508-9811-4929B96E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479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Reject or Customize becomes reachable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5F93F-25F1-43C5-99B9-DB4BD707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479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Reject or Customize becomes unreachable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95834-A25D-4220-864D-79013EBB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479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UI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DFBC8-46BE-4D3C-AAF9-616A89AF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11391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3AEDF3-0B28-4C66-90C2-4CE32828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Path effort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20713-6756-48A2-BCAE-B5F22A3F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480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Fewer actions; parity with Accept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FAAF54-2D2E-4E71-B2ED-5468DB40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480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More actions; greater asymmetry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785CB-CF3F-4FFC-B619-F3B8FCE4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0480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2786B9-588C-4751-9CDE-BFB0A686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1391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A10077-8AC7-4E13-9F25-B142EEC7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Transparency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066D84-C48C-4B55-B5D6-339504C4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481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Purpose information becomes clearer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1582F-5D38-4D21-91EB-C34BCF22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Purpose information becomes weaker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8C67B3-2551-4A92-A9FE-9081BA63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8481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decision 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17F5A3-74A0-4F6A-B4B7-CED6E8CF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1391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4F05F7-91C5-49F9-802E-B3920B07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Choice + effect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0AF410-42B9-438E-AF8E-A29244CF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482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Parity improves; refusal stops tracking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094BED-DCE5-454A-8504-F526A8E8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Asymmetry rises or tracking continues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783572-2CB4-4D8C-86B9-C93CDEC4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6482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UI + cookies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1EF00D-098C-430B-A7CE-E4F780E6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17145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0">
            <a:solidFill>
              <a:srgbClr val="DCEF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2493A5-1163-4265-A0BB-DB1742DE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IMPROVED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035ECF-4C05-4453-9BCA-0BED06A8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429250"/>
            <a:ext cx="17145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6E6DF"/>
          </a:solidFill>
          <a:ln xmlns:a="http://schemas.openxmlformats.org/drawingml/2006/main" w="0">
            <a:solidFill>
              <a:srgbClr val="F6E6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E9FDDA-3BED-4E3B-8A54-CD8C78B3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7687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REGRESSED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7480B3-D601-456D-98A7-64C0F1B1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29250"/>
            <a:ext cx="17145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BF3D0"/>
          </a:solidFill>
          <a:ln xmlns:a="http://schemas.openxmlformats.org/drawingml/2006/main" w="0">
            <a:solidFill>
              <a:srgbClr val="FBF3D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661697-9978-45A5-AF54-6F227940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7687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MIXED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D53D9A-B736-4462-8DB7-2DD97CAF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29250"/>
            <a:ext cx="17145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F2FA"/>
          </a:solidFill>
          <a:ln xmlns:a="http://schemas.openxmlformats.org/drawingml/2006/main" w="0">
            <a:solidFill>
              <a:srgbClr val="DDF2F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BF324D-8403-4944-AB0F-DB00D526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7687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STABLE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C48BC2-B89C-48B2-A50A-1F0BE13B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429250"/>
            <a:ext cx="28575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3CA8DB-BCB8-4C55-B63E-75FD29D0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476875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INSUFFICIENT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8D0207-F2C1-4AD8-8E99-7C124CE9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4360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A direction requires dated, comparable evidence; a cause requires stronger attribution.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3ED488-A1F4-446F-8D83-C9D4B607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SSRP 2026 | Qianyi (Alfred) Chen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6C5427-708A-467B-96A1-2B830F91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77000"/>
            <a:ext cx="560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Protocol: CONCEPTS.md | retrospective case table</a:t>
            </a:r>
          </a:p>
        </p:txBody>
      </p:sp>
    </p:spTree>
    <p:extLst>
      <p:ext uri="{BB962C8B-B14F-4D97-AF65-F5344CB8AC3E}">
        <p14:creationId xmlns:p14="http://schemas.microsoft.com/office/powerpoint/2010/main" val="5140284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A121AE-4FC6-4D18-8E96-3BBE6542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SSRP 2026 | LONGITUDINAL CONSENT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A801C-6DC8-45BD-95EE-84AF2457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95EA4-9165-4287-A115-7D23DC94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six-year benchmark shows broad movement toward first-layer choice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09C98-36F5-4537-9EA6-DDD6FFB3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solidFill>
              <a:srgbClr val="D9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3815F-9847-43B0-A6C8-961636D4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62100"/>
            <a:ext cx="123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35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11K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57546-E40D-4EB2-9C3D-71694494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86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websites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943E7-EB26-42C9-85B9-3CC4DB8D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62100"/>
            <a:ext cx="123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350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D4DBA-C4B6-4800-A8AC-6FEDA764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86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countries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439A9-3E8B-4529-A8B6-1D5B24A7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62100"/>
            <a:ext cx="123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350" b="1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5BA80-EF4B-4C5D-8238-1A887FFB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286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years studied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7850B-A7C2-4BD5-B8D6-D83C4A5D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48075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4CB"/>
          </a:solidFill>
          <a:ln xmlns:a="http://schemas.openxmlformats.org/drawingml/2006/main" w="0">
            <a:solidFill>
              <a:srgbClr val="BAC4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78380-E202-49C0-85BC-BDBB94F6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14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A8"/>
          </a:solidFill>
          <a:ln xmlns:a="http://schemas.openxmlformats.org/drawingml/2006/main" w="0">
            <a:solidFill>
              <a:srgbClr val="146E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1B8FC-5B8E-4DC6-A179-10C4A5CE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SEP 2018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003A5F-09EB-4102-AF0D-791FD3D9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3243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2.94% | 73 sites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0426C-544F-436F-A9B7-B4858374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14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67F"/>
          </a:solidFill>
          <a:ln xmlns:a="http://schemas.openxmlformats.org/drawingml/2006/main" w="0">
            <a:solidFill>
              <a:srgbClr val="1886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144616-AAD7-480B-8545-889AC004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81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ARCHIVES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EB292-A317-4596-8685-F01C7848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243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Wayback + HTTP Archive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F4F89-1CA1-4A73-9B3C-127C5F1A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14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3B16"/>
          </a:solidFill>
          <a:ln xmlns:a="http://schemas.openxmlformats.org/drawingml/2006/main" w="0">
            <a:solidFill>
              <a:srgbClr val="A13B1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BF4999-4A0F-4ECA-BFB7-F32270BE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DPA ACTIVITY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1871C9-2F42-431E-9472-F65915A9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243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higher compliance correlated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43FF0-E4B1-4323-B2D4-3AAFD7B5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514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1A"/>
          </a:solidFill>
          <a:ln xmlns:a="http://schemas.openxmlformats.org/drawingml/2006/main" w="0">
            <a:solidFill>
              <a:srgbClr val="D6A31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E44553-8139-41C5-B8F0-A29D4D52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81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SEP 2024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E14BC9-8F4A-47F4-A1C5-8642FB22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3243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30.66% | 760 sites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B90A29-6999-40B3-8415-466B5153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85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BAC4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205238-3060-42A5-9775-11C7BDF5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trend is broad, but archive gaps make the estimate a lower bound and do not explain individual companies.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CE80D6-A6AF-4D26-B6F0-3679F4E6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SSRP 2026 | Qianyi (Alfred) Chen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6B3FCE-452F-4043-96DE-157D2AF4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77000"/>
            <a:ext cx="560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Dimova et al. 2026 | 2018-2024 historical banner study</a:t>
            </a:r>
          </a:p>
        </p:txBody>
      </p:sp>
    </p:spTree>
    <p:extLst>
      <p:ext uri="{BB962C8B-B14F-4D97-AF65-F5344CB8AC3E}">
        <p14:creationId xmlns:p14="http://schemas.microsoft.com/office/powerpoint/2010/main" val="17403654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BD633F-66A6-42AE-8956-87F7BE2E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SSRP 2026 | LONGITUDINAL CONSENT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A6B57-FDA8-4F17-9002-7605FB96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8E7B9-BBF1-4749-94CE-B736E0EC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Six dated trajectories produce a directional case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6B159-2384-44EE-B217-D4737884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solidFill>
              <a:srgbClr val="D9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26F30-20A9-4FF3-8449-F40A85A9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1D720-D5C3-48A0-9AD0-77EF3399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753FA-8523-4652-A411-A4A61323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33550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879D0-13D4-4EA8-920C-451955A3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33550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E1EEA-3B72-4997-B08F-C78447D5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7335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F9B5C-4958-4128-B5DF-9A8B8150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1391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4AA3C-91A4-4099-A42B-01295CCE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Google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4F3FB-8606-4508-9811-4929B96E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479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Reject required at least 5 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5F93F-25F1-43C5-99B9-DB4BD707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479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Reject all became one click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95834-A25D-4220-864D-79013EBB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479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IMPROVED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DFBC8-46BE-4D3C-AAF9-616A89AF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11391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3AEDF3-0B28-4C66-90C2-4CE32828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Facebook / TikTok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20713-6756-48A2-BCAE-B5F22A3F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480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No equivalent first-layer refusal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FAAF54-2D2E-4E71-B2ED-5468DB40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480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Equivalent or one-click refusal added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785CB-CF3F-4FFC-B619-F3B8FCE4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0480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IMPROVED*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2786B9-588C-4751-9CDE-BFB0A686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1391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A10077-8AC7-4E13-9F25-B142EEC7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Orange / SHEIN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066D84-C48C-4B55-B5D6-339504C4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481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Refusal / withdrawal still wrote cookies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1582F-5D38-4D21-91EB-C34BCF22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Regulator records both remediations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8C67B3-2551-4A92-A9FE-9081BA63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8481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IMPROVED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17F5A3-74A0-4F6A-B4B7-CED6E8CF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1391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4F05F7-91C5-49F9-802E-B3920B07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Vanity Fair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0AF410-42B9-438E-AF8E-A29244CF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482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Earlier compliance proceeding closed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094BED-DCE5-454A-8504-F526A8E8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Tracking persisted after reject / withdrawal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783572-2CB4-4D8C-86B9-C93CDEC4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6482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REGRESSED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1EF00D-098C-430B-A7CE-E4F780E6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17145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0">
            <a:solidFill>
              <a:srgbClr val="DCEF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2493A5-1163-4265-A0BB-DB1742DE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5 IMPROVED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035ECF-4C05-4453-9BCA-0BED06A8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429250"/>
            <a:ext cx="17145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6E6DF"/>
          </a:solidFill>
          <a:ln xmlns:a="http://schemas.openxmlformats.org/drawingml/2006/main" w="0">
            <a:solidFill>
              <a:srgbClr val="F6E6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E9FDDA-3BED-4E3B-8A54-CD8C78B3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7687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1 REGRESSED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7480B3-D601-456D-98A7-64C0F1B1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29250"/>
            <a:ext cx="17145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BF3D0"/>
          </a:solidFill>
          <a:ln xmlns:a="http://schemas.openxmlformats.org/drawingml/2006/main" w="0">
            <a:solidFill>
              <a:srgbClr val="FBF3D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661697-9978-45A5-AF54-6F227940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7687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3 PARITY CASES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D53D9A-B736-4462-8DB7-2DD97CAF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29250"/>
            <a:ext cx="17145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F2FA"/>
          </a:solidFill>
          <a:ln xmlns:a="http://schemas.openxmlformats.org/drawingml/2006/main" w="0">
            <a:solidFill>
              <a:srgbClr val="DDF2F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BF324D-8403-4944-AB0F-DB00D526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7687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3 REGULATOR CHECKS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C48BC2-B89C-48B2-A50A-1F0BE13B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429250"/>
            <a:ext cx="28575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3CA8DB-BCB8-4C55-B63E-75FD29D0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476875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1 DIRECT ATTRIBUTION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8D0207-F2C1-4AD8-8E99-7C124CE9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4360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Five improved; one regressed. These are purposive cases, not a prevalence estimate.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3ED488-A1F4-446F-8D83-C9D4B607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SSRP 2026 | Qianyi (Alfred) Chen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6C5427-708A-467B-96A1-2B830F91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77000"/>
            <a:ext cx="560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*TikTok: effort only; Orange/SHEIN: technical refusal effectiveness</a:t>
            </a:r>
          </a:p>
        </p:txBody>
      </p:sp>
    </p:spTree>
    <p:extLst>
      <p:ext uri="{BB962C8B-B14F-4D97-AF65-F5344CB8AC3E}">
        <p14:creationId xmlns:p14="http://schemas.microsoft.com/office/powerpoint/2010/main" val="5140284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A641A-B803-4FDE-8446-0DA84CD2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SSRP 2026 | LONGITUDINAL CONSENT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71B32-6138-4285-AD91-52273C7B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12776-4AAB-479B-A9F5-28541A4D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Google: rejection moved from at least five actions to 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1DC8A-5072-4269-9588-76F32EDA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solidFill>
              <a:srgbClr val="D9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61D74-25A1-4318-891D-E9936573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31C09-2134-4895-B6CC-88FED33D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581150"/>
            <a:ext cx="428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C3A8C-31B2-4EA8-9565-F4072607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811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DATED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32BDC-E374-4082-AD85-A4A72906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428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F7057-878C-441B-AFA3-888A4A22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811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BEB42-AEA9-40FF-A8DF-55FC81B5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811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= IMPROVED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131D9-69D0-49FF-970D-927697B7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4CB"/>
          </a:solidFill>
          <a:ln xmlns:a="http://schemas.openxmlformats.org/drawingml/2006/main" w="0">
            <a:solidFill>
              <a:srgbClr val="BAC4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46460-E058-4C69-8935-498AB9CB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June 1, 2021 | CNIL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DA9CB-9906-4F0A-9846-1E63C3B0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- Accept required one action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- Reject required Customize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- Disable three settings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- Confirm the choices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- At least five reject actions total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51C2E-8D3D-4410-AF58-ED2EF921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3365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CF55F-4A5C-469A-BE81-A900847B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April 21, 2022 | Google rollout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685A49-F3C8-412C-80F6-7EBD2288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242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- Reject all and Accept all on first screen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- One click for either choice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- Rollout began in France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- Google cited updated guidance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- Google cited specific CNIL direction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285FE-DA97-4358-8056-555678C3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D0"/>
          </a:solidFill>
          <a:ln xmlns:a="http://schemas.openxmlformats.org/drawingml/2006/main" w="9525">
            <a:solidFill>
              <a:srgbClr val="D6A31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54D273-8064-4A9E-9B4F-213712DC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This is the strongest causal link in the set: the company directly attributed the redesign to regulatory guidance and CNIL direction.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5245B0-4C25-4AA7-B608-0259B47C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SSRP 2026 | Qianyi (Alfred) Chen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46E1A5-84F9-475A-BC08-E3B7F7DD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77000"/>
            <a:ext cx="560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Sources: CNIL SAN-2021-023; Google New cookie choices in Europe</a:t>
            </a:r>
          </a:p>
        </p:txBody>
      </p:sp>
    </p:spTree>
    <p:extLst>
      <p:ext uri="{BB962C8B-B14F-4D97-AF65-F5344CB8AC3E}">
        <p14:creationId xmlns:p14="http://schemas.microsoft.com/office/powerpoint/2010/main" val="7807010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111D4-0C27-408A-91B8-FB686A07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SSRP 2026 | LONGITUDINAL CONSENT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BA080-224D-4DEC-9C07-6624B512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707E3-3E8D-4B5D-9EC0-7A09947F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Facebook and TikTok both added first-layer refusal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99C4B-E146-4479-B348-5C9163CD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solidFill>
              <a:srgbClr val="D9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84B8D-37BD-497B-90AD-5E3F7381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FACEBOOK | REGULATOR VERIFIED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46D35-57DA-4C31-A4D3-1FE0D0BA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Apr 8, 2021: immediate Accept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No refusal with equivalent simplicity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Late Feb 2022: equivalent refusal deployed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Apr 12: CNIL rechecked the interface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Injunction closed as satisfied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30E46-6FCE-4352-A004-613EDD8F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8115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3B75F-0AF3-4EE4-B8CA-F11BC294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0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TIKTOK | PARTIAL IMPROVEMENT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D0377-9F2F-47FF-A178-B8105034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Jun 3, 2021: Accept 1 action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Reject required at least 3 actions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Feb 28, 2022: Tout refuser added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Later decision: purpose information still weak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Effort improved; transparency did not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BEB7F-F75A-4B1D-80A0-9DA73E0F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8B144-0C42-4FC6-8969-DF0907B4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6C6E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C6E9"/>
                </a:solidFill>
                <a:latin typeface="Arial"/>
                <a:ea typeface="Arial"/>
                <a:cs typeface="Arial"/>
              </a:rPr>
              <a:t>Key distinction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EED9B-4973-4FAF-9E21-272CFC14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911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Visible parity improved, but a better button did not guarantee complete informed consent.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B6826-7E64-408B-BD90-7697203F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SSRP 2026 | Qianyi (Alfred) Chen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944B8-E726-475F-B67B-24E0108E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77000"/>
            <a:ext cx="560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Sources: CNIL SAN-2021-024, SAN-2022-016, SAN-2022-027</a:t>
            </a:r>
          </a:p>
        </p:txBody>
      </p:sp>
    </p:spTree>
    <p:extLst>
      <p:ext uri="{BB962C8B-B14F-4D97-AF65-F5344CB8AC3E}">
        <p14:creationId xmlns:p14="http://schemas.microsoft.com/office/powerpoint/2010/main" val="1494591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111D4-0C27-408A-91B8-FB686A07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SSRP 2026 | LONGITUDINAL CONSENT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BA080-224D-4DEC-9C07-6624B512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707E3-3E8D-4B5D-9EC0-7A09947F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Technical refusal improved twice; later failure still occurred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99C4B-E146-4479-B348-5C9163CD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solidFill>
              <a:srgbClr val="D9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84B8D-37BD-497B-90AD-5E3F7381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ORANGE + SHEIN | IMPROVED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46D35-57DA-4C31-A4D3-1FE0D0BA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Orange: post-withdrawal reads stopped;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 CNIL closed the order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SHEIN: post-refusal reads/writes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 remediated during proceedings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30E46-6FCE-4352-A004-613EDD8F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8115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3B75F-0AF3-4EE4-B8CA-F11BC294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0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VANITY FAIR | REGRESSED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D0377-9F2F-47FF-A178-B8105034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Jul 2022: earlier proceeding closed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- 2023 and 2025 checks found cookies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 before choice and after Reject all / withdrawal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Direction is clear; cause remains unknown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BEB7F-F75A-4B1D-80A0-9DA73E0F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8B144-0C42-4FC6-8969-DF0907B4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6C6E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C6E9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EED9B-4973-4FAF-9E21-272CFC14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911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balanced-looking banner is not enough when backend behavior ignores refusal.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B6826-7E64-408B-BD90-7697203F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SSRP 2026 | Qianyi (Alfred) Chen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944B8-E726-475F-B67B-24E0108E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77000"/>
            <a:ext cx="560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Sources: CNIL Orange closure; CNIL SHEIN; CNIL Vanity Fair</a:t>
            </a:r>
          </a:p>
        </p:txBody>
      </p:sp>
    </p:spTree>
    <p:extLst>
      <p:ext uri="{BB962C8B-B14F-4D97-AF65-F5344CB8AC3E}">
        <p14:creationId xmlns:p14="http://schemas.microsoft.com/office/powerpoint/2010/main" val="1494591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CBCA9E-63B7-4C03-8169-7301F9B4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8BD20-6A39-4DC5-850D-56E27A84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933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Concrete interactions improve first; autonomy remains incomplete and reversible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86C93-6E51-42AA-895B-3CE02CF2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4CB"/>
          </a:solidFill>
          <a:ln xmlns:a="http://schemas.openxmlformats.org/drawingml/2006/main" w="0">
            <a:solidFill>
              <a:srgbClr val="BAC4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62CA1-BD9A-4AE4-823C-B21A9B00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289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A8"/>
          </a:solidFill>
          <a:ln xmlns:a="http://schemas.openxmlformats.org/drawingml/2006/main" w="0">
            <a:solidFill>
              <a:srgbClr val="146E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CC717-A084-40A8-9E57-1FD93456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718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3D61C-70DF-45A0-AB3A-1E0B7A63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48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visible parity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276E2-1244-4584-BDBC-6EFDD849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67F"/>
          </a:solidFill>
          <a:ln xmlns:a="http://schemas.openxmlformats.org/drawingml/2006/main" w="0">
            <a:solidFill>
              <a:srgbClr val="1886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0F999-D9D5-444B-9D52-5E9CDDC7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1142C-21F7-496B-A70C-C3BBD714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48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effective refusal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6123C-23A7-4128-9E22-2937C973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289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1A"/>
          </a:solidFill>
          <a:ln xmlns:a="http://schemas.openxmlformats.org/drawingml/2006/main" w="0">
            <a:solidFill>
              <a:srgbClr val="D6A31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D11BE-4C12-4F1A-B0A6-C335B624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718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D973A-B474-43F1-BB4F-0024D37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48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cause strength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EF257-BBEE-4FA2-8FDC-271F8011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0289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3B16"/>
          </a:solidFill>
          <a:ln xmlns:a="http://schemas.openxmlformats.org/drawingml/2006/main" w="0">
            <a:solidFill>
              <a:srgbClr val="A13B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4E86D-F20F-46F8-BEE5-03428375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718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209CB-1A57-40E3-98D5-12617695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48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continuous re-audit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2A9E36-C935-4581-804E-2A325589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Questions to carry forward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C6494D-911E-4649-ADA7-BFE42BF1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67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autonomy or demonstrable parity? | publisher, CMP, or both? | one-time certification or recurring audit?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2C7280-AB00-454B-850E-D68F94DA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1391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6E9"/>
          </a:solidFill>
          <a:ln xmlns:a="http://schemas.openxmlformats.org/drawingml/2006/main" w="0">
            <a:solidFill>
              <a:srgbClr val="66C6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D747BB-3DFC-417C-B221-1660FCEF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Finding: regulators appear most effective where they can specify and verify a concrete interaction.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8522F0-3A38-4E78-8CD8-8EEA80C3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SSRP 2026 | Qianyi (Alfred) Chen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6830F3-F6EB-40AA-8B47-8DF5E65B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77000"/>
            <a:ext cx="560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Next: reproduce these trajectories with three or more controlled captures per site</a:t>
            </a:r>
          </a:p>
        </p:txBody>
      </p:sp>
    </p:spTree>
    <p:extLst>
      <p:ext uri="{BB962C8B-B14F-4D97-AF65-F5344CB8AC3E}">
        <p14:creationId xmlns:p14="http://schemas.microsoft.com/office/powerpoint/2010/main" val="1447288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2026-07-30T04:34:50.4430000Z</dcterms:created>
  <dcterms:modified xsi:type="dcterms:W3CDTF">2026-07-30T04:34:50.4430000Z</dcterms:modified>
</coreProperties>
</file>