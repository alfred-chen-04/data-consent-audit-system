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9a33deee34080" /><Relationship Type="http://schemas.openxmlformats.org/officeDocument/2006/relationships/extended-properties" Target="/docProps/app.xml" Id="Rdd4d98f025724100" /><Relationship Type="http://schemas.openxmlformats.org/officeDocument/2006/relationships/officeDocument" Target="/ppt/presentation.xml" Id="Rd1d034d41b04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46073ef3a146bf"/>
  </p:sldMasterIdLst>
  <p:notesMasterIdLst>
    <p:notesMasterId xmlns:r="http://schemas.openxmlformats.org/officeDocument/2006/relationships" r:id="Ref9fd36824564454"/>
  </p:notesMasterIdLst>
  <p:sldIdLst>
    <p:sldId xmlns:r="http://schemas.openxmlformats.org/officeDocument/2006/relationships" id="256" r:id="R2f34db6082224959"/>
    <p:sldId xmlns:r="http://schemas.openxmlformats.org/officeDocument/2006/relationships" id="257" r:id="Rf6c2637b14254c9d"/>
    <p:sldId xmlns:r="http://schemas.openxmlformats.org/officeDocument/2006/relationships" id="258" r:id="R5cdc56b66d7b49a3"/>
    <p:sldId xmlns:r="http://schemas.openxmlformats.org/officeDocument/2006/relationships" id="259" r:id="R05672e6b53bb4e7d"/>
    <p:sldId xmlns:r="http://schemas.openxmlformats.org/officeDocument/2006/relationships" id="260" r:id="R7f5dd46c0eba4dae"/>
    <p:sldId xmlns:r="http://schemas.openxmlformats.org/officeDocument/2006/relationships" id="261" r:id="R648c485039364e2a"/>
    <p:sldId xmlns:r="http://schemas.openxmlformats.org/officeDocument/2006/relationships" id="262" r:id="Reefff891994a4c5c"/>
    <p:sldId xmlns:r="http://schemas.openxmlformats.org/officeDocument/2006/relationships" id="263" r:id="R6d5bc85793164597"/>
    <p:sldId xmlns:r="http://schemas.openxmlformats.org/officeDocument/2006/relationships" id="264" r:id="R811f6d6463b844a2"/>
    <p:sldId xmlns:r="http://schemas.openxmlformats.org/officeDocument/2006/relationships" id="265" r:id="Re093220221b243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9f35bb21654bf9" /><Relationship Type="http://schemas.openxmlformats.org/officeDocument/2006/relationships/slideMaster" Target="/ppt/slideMasters/slideMaster1.xml" Id="R9d46073ef3a146bf" /><Relationship Type="http://schemas.openxmlformats.org/officeDocument/2006/relationships/notesMaster" Target="/ppt/notesMasters/notesMaster1.xml" Id="Ref9fd36824564454" /><Relationship Type="http://schemas.openxmlformats.org/officeDocument/2006/relationships/presProps" Target="/ppt/presProps.xml" Id="R483d3695176a4c50" /><Relationship Type="http://schemas.openxmlformats.org/officeDocument/2006/relationships/tableStyles" Target="/ppt/tableStyles.xml" Id="Rf1496071f8e540b1" /><Relationship Type="http://schemas.openxmlformats.org/officeDocument/2006/relationships/slide" Target="/ppt/slides/slide1.xml" Id="R2f34db6082224959" /><Relationship Type="http://schemas.openxmlformats.org/officeDocument/2006/relationships/slide" Target="/ppt/slides/slide2.xml" Id="Rf6c2637b14254c9d" /><Relationship Type="http://schemas.openxmlformats.org/officeDocument/2006/relationships/slide" Target="/ppt/slides/slide3.xml" Id="R5cdc56b66d7b49a3" /><Relationship Type="http://schemas.openxmlformats.org/officeDocument/2006/relationships/slide" Target="/ppt/slides/slide4.xml" Id="R05672e6b53bb4e7d" /><Relationship Type="http://schemas.openxmlformats.org/officeDocument/2006/relationships/slide" Target="/ppt/slides/slide5.xml" Id="R7f5dd46c0eba4dae" /><Relationship Type="http://schemas.openxmlformats.org/officeDocument/2006/relationships/slide" Target="/ppt/slides/slide6.xml" Id="R648c485039364e2a" /><Relationship Type="http://schemas.openxmlformats.org/officeDocument/2006/relationships/slide" Target="/ppt/slides/slide7.xml" Id="Reefff891994a4c5c" /><Relationship Type="http://schemas.openxmlformats.org/officeDocument/2006/relationships/slide" Target="/ppt/slides/slide8.xml" Id="R6d5bc85793164597" /><Relationship Type="http://schemas.openxmlformats.org/officeDocument/2006/relationships/slide" Target="/ppt/slides/slide9.xml" Id="R811f6d6463b844a2" /><Relationship Type="http://schemas.openxmlformats.org/officeDocument/2006/relationships/slide" Target="/ppt/slides/slide10.xml" Id="Re093220221b243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a8d3bcee82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f6dca71d3449c" /><Relationship Type="http://schemas.openxmlformats.org/officeDocument/2006/relationships/notesMaster" Target="/ppt/notesMasters/notesMaster1.xml" Id="Rd869d37cc0884a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151813462493a" /><Relationship Type="http://schemas.openxmlformats.org/officeDocument/2006/relationships/notesMaster" Target="/ppt/notesMasters/notesMaster1.xml" Id="R43c71b118ec24c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5616294ef4e94" /><Relationship Type="http://schemas.openxmlformats.org/officeDocument/2006/relationships/notesMaster" Target="/ppt/notesMasters/notesMaster1.xml" Id="R405278ba0ea442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d8bc2c95f4982" /><Relationship Type="http://schemas.openxmlformats.org/officeDocument/2006/relationships/notesMaster" Target="/ppt/notesMasters/notesMaster1.xml" Id="R733a6a1fe2f8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6de2105344b2a" /><Relationship Type="http://schemas.openxmlformats.org/officeDocument/2006/relationships/notesMaster" Target="/ppt/notesMasters/notesMaster1.xml" Id="Rc55bdad60df449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8f8d83abd4b85" /><Relationship Type="http://schemas.openxmlformats.org/officeDocument/2006/relationships/notesMaster" Target="/ppt/notesMasters/notesMaster1.xml" Id="Rca7f77778f4144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324f963ab34e35" /><Relationship Type="http://schemas.openxmlformats.org/officeDocument/2006/relationships/notesMaster" Target="/ppt/notesMasters/notesMaster1.xml" Id="R4363646164394d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1f40a2f93f4364" /><Relationship Type="http://schemas.openxmlformats.org/officeDocument/2006/relationships/notesMaster" Target="/ppt/notesMasters/notesMaster1.xml" Id="Rfcccd8a2f8b0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e3d2770a7f4d54" /><Relationship Type="http://schemas.openxmlformats.org/officeDocument/2006/relationships/notesMaster" Target="/ppt/notesMasters/notesMaster1.xml" Id="R630e18fe771c45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0a6e456e0c4aa6" /><Relationship Type="http://schemas.openxmlformats.org/officeDocument/2006/relationships/notesMaster" Target="/ppt/notesMasters/notesMaster1.xml" Id="R4727ddc41439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longitudinal objective. RQ1 and RQ2 are the measurement and collection mechanisms that make the larger question answerable.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docs/research/current_project_goal_2026-07-02.md</a:t>
            </a:r>
          </a:p>
          <a:p xmlns:a="http://schemas.openxmlformats.org/drawingml/2006/main">
            <a:r>
              <a:t>- 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snapshot can describe a consent interface, but direction requires a matched later observation and the same measurement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data/captures/sites/www_theguardian_com_20260529_193456/layer1.png</a:t>
            </a:r>
          </a:p>
          <a:p xmlns:a="http://schemas.openxmlformats.org/drawingml/2006/main">
            <a:r>
              <a:t>- data/captures/sites/www_theguardian_com_20260605_160209/layer1.png</a:t>
            </a:r>
          </a:p>
          <a:p xmlns:a="http://schemas.openxmlformats.org/drawingml/2006/main">
            <a:r>
              <a:t>- docs/research/july29_longitudinal_reframing_and_source_alignment_2026-07-29.md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neither question is discarded. RQ1 creates comparability; RQ2 creates repeated observations; directional interpretation is the synthesis.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Chen_Qianyi_SSRP 2026_Proposal_Final Version.docx.pdf</a:t>
            </a:r>
          </a:p>
          <a:p xmlns:a="http://schemas.openxmlformats.org/drawingml/2006/main">
            <a:r>
              <a:t>- CONCEPTS.md</a:t>
            </a:r>
          </a:p>
          <a:p xmlns:a="http://schemas.openxmlformats.org/drawingml/2006/main">
            <a:r>
              <a:t>- docs/research/current_project_goal_2026-07-02.md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overall tier is derived from these components and should not be double-counted. Technical fingerprints surface candidates but do not provide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CONCEPTS.md</a:t>
            </a:r>
          </a:p>
          <a:p xmlns:a="http://schemas.openxmlformats.org/drawingml/2006/main">
            <a:r>
              <a:t>- src/consent_audit/diff/engine.py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controls answer the validity problem revealed by the pilot. They define the minimum protocol for future time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docs/research/july29_longitudinal_reframing_and_source_alignment_2026-07-29.md</a:t>
            </a:r>
          </a:p>
          <a:p xmlns:a="http://schemas.openxmlformats.org/drawingml/2006/main">
            <a:r>
              <a:t>- data/longitudinal_directional_review_2026-07-29.csv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five sites and one matched interval as the denominator. The larger counts include same-day repeats and non-target 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data/research_package/audit_report_summary.csv</a:t>
            </a:r>
          </a:p>
          <a:p xmlns:a="http://schemas.openxmlformats.org/drawingml/2006/main">
            <a:r>
              <a:t>- data/research_package/longitudinal_summary.csv</a:t>
            </a:r>
          </a:p>
          <a:p xmlns:a="http://schemas.openxmlformats.org/drawingml/2006/main">
            <a:r>
              <a:t>- docs/research/june14_capture_attempt_audit_2026-06-14.md</a:t>
            </a:r>
          </a:p>
          <a:p xmlns:a="http://schemas.openxmlformats.org/drawingml/2006/main">
            <a:r>
              <a:t>- docs/research/june15_coca_cola_smoke_audit_2026-06-15.md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stored screens show a materially similar consent-choice structure. Because the automated pathway values conflict, a directional claim requires same-version rescoring.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data/captures/sites/www_theguardian_com_20260529_193456/layer1.png</a:t>
            </a:r>
          </a:p>
          <a:p xmlns:a="http://schemas.openxmlformats.org/drawingml/2006/main">
            <a:r>
              <a:t>- data/captures/sites/www_theguardian_com_20260605_160209/layer1.png</a:t>
            </a:r>
          </a:p>
          <a:p xmlns:a="http://schemas.openxmlformats.org/drawingml/2006/main">
            <a:r>
              <a:t>- data/longitudinal_directional_review_2026-07-29.csv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later OneTrust fix changed recognition. That is a measurement change, not evidence that Coca-Cola improved. Earlier captures must be back-coded before direction is assigned.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data/captures/sites/www_coca_cola_com_20260529_193519/layer1.png</a:t>
            </a:r>
          </a:p>
          <a:p xmlns:a="http://schemas.openxmlformats.org/drawingml/2006/main">
            <a:r>
              <a:t>- data/captures/sites/www_coca_cola_com_20260605_160238/layer1.png</a:t>
            </a:r>
          </a:p>
          <a:p xmlns:a="http://schemas.openxmlformats.org/drawingml/2006/main">
            <a:r>
              <a:t>- docs/research/june15_coca_cola_smoke_audit_2026-06-15.md</a:t>
            </a:r>
          </a:p>
          <a:p xmlns:a="http://schemas.openxmlformats.org/drawingml/2006/main">
            <a:r>
              <a:t>- data/longitudinal_directional_review_2026-07-29.csv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answer. The negative boundary is itself a result: raw change detection is not equivalent to longitudinal improvement or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data/longitudinal_directional_review_2026-07-29.csv</a:t>
            </a:r>
          </a:p>
          <a:p xmlns:a="http://schemas.openxmlformats.org/drawingml/2006/main">
            <a:r>
              <a:t>- docs/research/july29_longitudinal_reframing_and_source_alignment_2026-07-29.md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stating the contribution and the next evidence required. Do not promise a long-term finding from the current one-interval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docs/research/july29_longitudinal_reframing_and_source_alignment_2026-07-29.md</a:t>
            </a:r>
          </a:p>
          <a:p xmlns:a="http://schemas.openxmlformats.org/drawingml/2006/main">
            <a:r>
              <a:t>- https://case.edu/studentlife/ugresearch/sites/default/files/2022-12/SOURCE_%20Improving%20Presentation%20Skills.pptx%20%281%29.pdf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e15e602b04a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a6d4b82ffd4a1c" /><Relationship Type="http://schemas.openxmlformats.org/officeDocument/2006/relationships/slideLayout" Target="/ppt/slideLayouts/slideLayout1.xml" Id="R57bba4460d9b4c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bba4460d9b4c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13d4146d42b2" /><Relationship Type="http://schemas.openxmlformats.org/officeDocument/2006/relationships/notesSlide" Target="/ppt/notesSlides/notesSlide1.xml" Id="Rc5b4afe5d4e9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83d6538374eba" /><Relationship Type="http://schemas.openxmlformats.org/officeDocument/2006/relationships/image" Target="/ppt/media/image.png" Id="R338de37a26564104" /><Relationship Type="http://schemas.openxmlformats.org/officeDocument/2006/relationships/image" Target="/ppt/media/image2.png" Id="R844d7a01654b4560" /><Relationship Type="http://schemas.openxmlformats.org/officeDocument/2006/relationships/notesSlide" Target="/ppt/notesSlides/notesSlide2.xml" Id="R7056c79b27fe40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52d194ea745de" /><Relationship Type="http://schemas.openxmlformats.org/officeDocument/2006/relationships/notesSlide" Target="/ppt/notesSlides/notesSlide3.xml" Id="Rc289707f7763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b6e4cfdb34ee1" /><Relationship Type="http://schemas.openxmlformats.org/officeDocument/2006/relationships/notesSlide" Target="/ppt/notesSlides/notesSlide4.xml" Id="R59989922eb34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e2ca12b44562" /><Relationship Type="http://schemas.openxmlformats.org/officeDocument/2006/relationships/notesSlide" Target="/ppt/notesSlides/notesSlide5.xml" Id="R8ee419d04b9143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75dbf274e4750" /><Relationship Type="http://schemas.openxmlformats.org/officeDocument/2006/relationships/notesSlide" Target="/ppt/notesSlides/notesSlide6.xml" Id="R392a720c1ecf40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e08cb4f154e3d" /><Relationship Type="http://schemas.openxmlformats.org/officeDocument/2006/relationships/image" Target="/ppt/media/image3.png" Id="Rdb55b0fc770d4ff8" /><Relationship Type="http://schemas.openxmlformats.org/officeDocument/2006/relationships/image" Target="/ppt/media/image4.png" Id="R152f8adcbf444456" /><Relationship Type="http://schemas.openxmlformats.org/officeDocument/2006/relationships/notesSlide" Target="/ppt/notesSlides/notesSlide7.xml" Id="R5aa919a0eefb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6ca8922824a9c" /><Relationship Type="http://schemas.openxmlformats.org/officeDocument/2006/relationships/image" Target="/ppt/media/image5.png" Id="R933cae0edc0945b4" /><Relationship Type="http://schemas.openxmlformats.org/officeDocument/2006/relationships/image" Target="/ppt/media/image6.png" Id="R520ea91070404867" /><Relationship Type="http://schemas.openxmlformats.org/officeDocument/2006/relationships/notesSlide" Target="/ppt/notesSlides/notesSlide8.xml" Id="R714625529a2c46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d3f74238b4c0f" /><Relationship Type="http://schemas.openxmlformats.org/officeDocument/2006/relationships/notesSlide" Target="/ppt/notesSlides/notesSlide9.xml" Id="Rfd10063e49d4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4a9a08c7d47d4" /><Relationship Type="http://schemas.openxmlformats.org/officeDocument/2006/relationships/notesSlide" Target="/ppt/notesSlides/notesSlide10.xml" Id="R27647218ff48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292DC-D677-445C-899C-7A5D6C3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32FF4-5CA6-46B9-B04B-DA660E61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Tracking How Consent</a:t>
            </a:r>
          </a:p>
          <a:p xmlns:a="http://schemas.openxmlformats.org/drawingml/2006/main">
            <a:pPr algn="l">
              <a:defRPr sz="36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Interfaces Evolve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15F99-E439-4595-A308-257A33C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A repeatable framework for comparing the same website over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1B920-5506-451A-9C87-0384ADDC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85900"/>
            <a:ext cx="1952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14391-CE39-4657-A842-9F3D5352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A6D2-16A4-4363-BCD6-66D1D4C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1485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</a:t>
            </a:r>
          </a:p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56019-6D45-4210-B327-05661AA1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508E-2BFD-4007-BDC5-997E4AF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9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ABEE5-77C3-4389-9D72-0B244A2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485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EDCAA-525F-44BE-B72E-73BB2BB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38600"/>
            <a:ext cx="148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66CC4-66DF-4218-B278-72FB4258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672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4FF41-DB1F-4511-B5B0-7B54D2D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148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improve / regress / mixed / 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E580-259A-4501-A40F-3E885628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Qianyi (Alfred) Chen | Mentor: Dr. Jagdip Singh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88EB7-3B05-46F3-833F-2AE0B0DB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Current evidence through June 15, 2026</a:t>
            </a:r>
          </a:p>
        </p:txBody>
      </p:sp>
    </p:spTree>
    <p:extLst>
      <p:ext uri="{BB962C8B-B14F-4D97-AF65-F5344CB8AC3E}">
        <p14:creationId xmlns:p14="http://schemas.microsoft.com/office/powerpoint/2010/main" val="1897872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1BFE0-BF7C-4BEC-AB83-4E13A26F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9DCB1-2B2C-4CF8-B96A-64A62FA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875FD-6F24-4060-88C6-84264FA8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single snapshot cannot reveal design evolution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09FC-4435-4FBA-A8D8-B3D78096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546F5-CC77-476F-AD21-0B9B563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State at one moment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CE948-30A8-4682-A246-2BA8153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Matched state later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E3129-0D87-40CB-AEF5-6CFECE2F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47434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de37a26564104"/>
          <a:stretch xmlns:a="http://schemas.openxmlformats.org/drawingml/2006/main"/>
        </p:blipFill>
        <p:spPr>
          <a:xfrm xmlns:a="http://schemas.openxmlformats.org/drawingml/2006/main">
            <a:off x="573405" y="1866900"/>
            <a:ext cx="4663440" cy="2914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1F71E-C65E-44D9-832B-2692DEB7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7434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d7a01654b4560"/>
          <a:stretch xmlns:a="http://schemas.openxmlformats.org/drawingml/2006/main"/>
        </p:blipFill>
        <p:spPr>
          <a:xfrm xmlns:a="http://schemas.openxmlformats.org/drawingml/2006/main">
            <a:off x="6955155" y="1866900"/>
            <a:ext cx="4663440" cy="2914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1A0A9-B3CF-4AFF-A224-946ADE66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75F1D-0B47-4166-8ED3-87B78364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1524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58711-9590-4E23-A86A-8CDBAB6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AB6E-B6C5-4C6C-BADD-86FF25E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75026-FFEC-4B93-B8B1-6423C3DC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Only a controlled comparison can separate real interface change from page drift, capture state, or detector error.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7F2C0-CB3C-40DA-8F2F-8C18B88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35D95-BDF4-4B8C-89F1-AAA9F30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Stored Guardian screenshots: 2026-05-29 and 2026-06-05</a:t>
            </a:r>
          </a:p>
        </p:txBody>
      </p:sp>
    </p:spTree>
    <p:extLst>
      <p:ext uri="{BB962C8B-B14F-4D97-AF65-F5344CB8AC3E}">
        <p14:creationId xmlns:p14="http://schemas.microsoft.com/office/powerpoint/2010/main" val="265419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BF286-AFF5-4033-BA13-A094F0B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06F54-2B83-4A34-B93F-CEA78AC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D31C7-69F0-474A-847F-387C76D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RQ1 is the ruler; RQ2 creates the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E46F-E2FC-4BB3-A994-5949A2D4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BF755-6FD1-44BF-B0B9-4D4D2C59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The two proposal questions form one longitudinal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41F1F-66E3-494E-8931-0EEA6AB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0850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3481F-7C14-4C36-B54B-CA49014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5CA93-372A-48C6-A308-81FD3B8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C4F7-413D-4731-A4AB-6470357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25D7F-F0C0-4568-884C-D295061C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Capture screenshot, text, DOM refs, and path attempts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55169-1B21-4BD6-8499-7EE1051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2D59A-3535-4E81-A9A5-27561F3D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C5DE9-B7A4-41B7-85BF-DB22AAF6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54809-8DAE-4B45-B5D4-87CF6E70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Score availability, effort, transparency, and choice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FDC91-5DCA-4DF8-A58E-FE248E9C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ED42D-0027-4DAD-B3C6-682BF6E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6F89B-87C0-4CEC-B87D-6310592A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93249-091F-4B8D-946C-8E9F74C3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Revisit the same site under matched 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6589C-9ED0-4EC9-A56B-40CBBBEB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C733F-AC6F-41BF-8D03-82D957A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B5956-D5D9-40C0-84F8-BCF2320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309F6-1150-4390-BA99-C2C31EAC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7195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Classify validated component deltas over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51F47-D415-415C-ABEC-A31D7AE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Longitudinal contribution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02EF9-0583-432C-81D0-882A81B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863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traceable record of whether user choice improved, regressed, mixed, or stayed stable.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E1203-BC07-4851-AA8E-AC5DFA9E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F45D5-D527-4F9B-BEA9-6ECAA3A9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Sources: proposal RQ1/RQ2; CONCEPTS.md</a:t>
            </a:r>
          </a:p>
        </p:txBody>
      </p:sp>
    </p:spTree>
    <p:extLst>
      <p:ext uri="{BB962C8B-B14F-4D97-AF65-F5344CB8AC3E}">
        <p14:creationId xmlns:p14="http://schemas.microsoft.com/office/powerpoint/2010/main" val="189927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BD633F-66A6-42AE-8956-87F7BE2E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A6B57-FDA8-4F17-9002-7605FB9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8E7B9-BBF1-4749-94CE-B736E0E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Direction comes from component deltas, not hashes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6B159-2384-44EE-B217-D473788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6F30-20A9-4FF3-8449-F40A85A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1D720-D5C3-48A0-9AD0-77EF3399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753FA-8523-4652-A411-A4A6132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879D0-13D4-4EA8-920C-451955A3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1EEA-3B72-4997-B08F-C78447D5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335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F9B5C-4958-4128-B5DF-9A8B815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AA3C-91A4-4099-A42B-01295CC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F3FB-8606-4508-9811-4929B96E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Reject or Customize becomes reachable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5F93F-25F1-43C5-99B9-DB4BD70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Reject or Customize becomes unreachable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95834-A25D-4220-864D-79013EBB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479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flag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DFBC8-46BE-4D3C-AAF9-616A89A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AEDF3-0B28-4C66-90C2-4CE32828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 effort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20713-6756-48A2-BCAE-B5F22A3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Effort falls or moves toward Easy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AAF54-2D2E-4E71-B2ED-5468DB4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Effort rises or moves toward Poor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785CB-CF3F-4FFC-B619-F3B8FCE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click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786B9-588C-4751-9CDE-BFB0A68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10077-8AC7-4E13-9F25-B142EEC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Transparency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66D84-C48C-4B55-B5D6-339504C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Grade rises under the same rubric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582F-5D38-4D21-91EB-C34BCF2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Grade falls under the same rubric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C67B3-2551-4A92-A9FE-9081BA63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481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copy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7F5A3-74A0-4F6A-B4B7-CED6E8C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F05F7-91C5-49F9-802E-B3920B07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Unbiased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AF410-42B9-438E-AF8E-A29244CF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Asymmetry falls or grade rises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94BED-DCE5-454A-8504-F526A8E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Asymmetry rises or grade falls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83572-2CB4-4D8C-86B9-C93CDEC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482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layout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F00D-098C-430B-A7CE-E4F780E6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493A5-1163-4265-A0BB-DB1742DE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35ECF-4C05-4453-9BCA-0BED06A8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E6DF"/>
          </a:solidFill>
          <a:ln xmlns:a="http://schemas.openxmlformats.org/drawingml/2006/main" w="0">
            <a:solidFill>
              <a:srgbClr val="F6E6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9FDDA-3BED-4E3B-8A54-CD8C78B3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REGRESSED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480B3-D601-456D-98A7-64C0F1B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F3D0"/>
          </a:solidFill>
          <a:ln xmlns:a="http://schemas.openxmlformats.org/drawingml/2006/main" w="0">
            <a:solidFill>
              <a:srgbClr val="FBF3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61697-9978-45A5-AF54-6F22794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53D9A-B736-4462-8DB7-2DD97CAF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29250"/>
            <a:ext cx="1714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F324D-8403-4944-AB0F-DB00D526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C48BC2-B89C-48B2-A50A-1F0BE13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8575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CA8DB-BCB8-4C55-B63E-75FD29D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768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INSUFFICIENT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8D0207-F2C1-4AD8-8E99-7C124CE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436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DOM, copy, and image hashes only decide what to review.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ED488-A1F4-446F-8D83-C9D4B60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6C5427-708A-467B-96A1-2B830F91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Directional protocol: CONCEPTS.md section 5.1</a:t>
            </a:r>
          </a:p>
        </p:txBody>
      </p:sp>
    </p:spTree>
    <p:extLst>
      <p:ext uri="{BB962C8B-B14F-4D97-AF65-F5344CB8AC3E}">
        <p14:creationId xmlns:p14="http://schemas.microsoft.com/office/powerpoint/2010/main" val="51402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A641A-B803-4FDE-8446-0DA84CD2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71B32-6138-4285-AD91-52273C7B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12776-4AAB-479B-A9F5-28541A4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fair comparison holds context and scorer constant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1DC8A-5072-4269-9588-76F32EDA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61D74-25A1-4318-891D-E993657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SAME SITE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31C09-2134-4895-B6CC-88FED33D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5811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3A8C-31B2-4EA8-9565-F407260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SAME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32BDC-E374-4082-AD85-A4A7290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F7057-878C-441B-AFA3-888A4A2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81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SAME RULER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BEB42-AEA9-40FF-A8DF-55FC81B5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= VALID DELTA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131D9-69D0-49FF-970D-927697B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46460-E058-4C69-8935-498AB9CB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Capture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DA9CB-9906-4F0A-9846-1E63C3B0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geography and language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viewport and browser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prior consent / storage state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capture timing and network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51C2E-8D3D-4410-AF58-ED2EF921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336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CF55F-4A5C-469A-BE81-A900847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Measurement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85A49-F3C8-412C-80F6-7EBD2288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242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fixed ontology and thresholds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stored scorer / rubric version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back-code earlier captures after fixes</a:t>
            </a:r>
          </a:p>
          <a:p xmlns:a="http://schemas.openxmlformats.org/drawingml/2006/main">
            <a:pPr algn="l">
              <a:defRPr sz="150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- manual review of every directional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285FE-DA97-4358-8056-555678C3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D6A31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4D273-8064-4A9E-9B4F-213712DC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Without these controls, detector change or capture state can look like website evolution.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245B0-4C25-4AA7-B608-0259B47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6E1A5-84F9-475A-BC08-E3B7F7DD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Method controls added in longitudinal reframing audit</a:t>
            </a:r>
          </a:p>
        </p:txBody>
      </p:sp>
    </p:spTree>
    <p:extLst>
      <p:ext uri="{BB962C8B-B14F-4D97-AF65-F5344CB8AC3E}">
        <p14:creationId xmlns:p14="http://schemas.microsoft.com/office/powerpoint/2010/main" val="78070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121AE-4FC6-4D18-8E96-3BBE6542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A801C-6DC8-45BD-95EE-84AF245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95EA4-9165-4287-A115-7D23DC9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pilot has five sites and one matched weekly interval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09C98-36F5-4537-9EA6-DDD6FFB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815F-9847-43B0-A6C8-961636D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57546-E40D-4EB2-9C3D-7169449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target sites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943E7-EB26-42C9-85B9-3CC4DB8D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4DBA-C4B6-4800-A8AC-6FEDA764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matched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439A9-3E8B-4529-A8B6-1D5B24A7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62100"/>
            <a:ext cx="123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5BA80-EF4B-4C5D-8238-1A887FFB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raw change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7850B-A7C2-4BD5-B8D6-D83C4A5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78380-E202-49C0-85BC-BDBB94F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1B8FC-5B8E-4DC6-A179-10C4A5C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03A5F-09EB-4102-AF0D-791FD3D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baseline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0426C-544F-436F-A9B7-B485837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44616-AAD7-480B-8545-889AC00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EB292-A317-4596-8685-F01C7848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matched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F4F89-1CA1-4A73-9B3C-127C5F1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F4999-4A0F-4ECA-BFB7-F32270B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June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871C9-2F42-431E-9472-F65915A9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0/5 valid captures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43FF0-E4B1-4323-B2D4-3AAFD7B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14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44553-8139-41C5-B8F0-A29D4D5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June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14BC9-8F4A-47F4-A1C5-8642FB2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24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one-site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90A29-6999-40B3-8415-466B515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05238-3060-42A5-9775-11C7BDF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42 reports and 20 summaries describe processing output. They are not 42 and 20 independent longitudinal observations.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E80D6-A6AF-4D26-B6F0-3679F4E6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B3FCE-452F-4043-96DE-157D2AF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Main package through 2026-06-06; June 15 smoke used as technical evidence</a:t>
            </a:r>
          </a:p>
        </p:txBody>
      </p:sp>
    </p:spTree>
    <p:extLst>
      <p:ext uri="{BB962C8B-B14F-4D97-AF65-F5344CB8AC3E}">
        <p14:creationId xmlns:p14="http://schemas.microsoft.com/office/powerpoint/2010/main" val="1740365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519EA-EE99-4002-BCAB-18C735E6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2B720-A93B-48C8-8A2A-7940E86F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45E8E-38FA-4612-96E7-B680D03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Guardian: a raw D alert does not prove regression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CD44B-E6A5-491D-BED6-D9D5CB3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CD687-0BDD-4A1F-ABB3-1453582B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238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211B6-FE80-420A-9BC7-CEC57C4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9AD72-4D67-403F-905C-A5B684A7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1238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F9CAF-ADBC-4E9D-907C-06C2E77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716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22065-65B4-49CD-9243-F2F72EA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4933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5b0fc770d4ff8"/>
          <a:stretch xmlns:a="http://schemas.openxmlformats.org/drawingml/2006/main"/>
        </p:blipFill>
        <p:spPr>
          <a:xfrm xmlns:a="http://schemas.openxmlformats.org/drawingml/2006/main">
            <a:off x="596265" y="1943100"/>
            <a:ext cx="4846320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B2ECF-84C5-4684-B00E-35FFE6F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933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f8adcbf444456"/>
          <a:stretch xmlns:a="http://schemas.openxmlformats.org/drawingml/2006/main"/>
        </p:blipFill>
        <p:spPr>
          <a:xfrm xmlns:a="http://schemas.openxmlformats.org/drawingml/2006/main">
            <a:off x="6749415" y="1943100"/>
            <a:ext cx="4846320" cy="3028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729EF-36C0-483F-B923-E4C8C55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38710-AEC3-4888-A94E-0143696E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Raw alert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14B99-C19A-4E41-BBB8-376F037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pathway + copy + layout + DOM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96F3D-4AAE-442E-88F5-C21C818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62A34-78D1-4994-B975-3C204F17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435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same visible choice 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41D8C-E8E6-40DD-91F5-4B45B28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Directional 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1298E-1DD5-4730-A060-BC2668A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435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INSUFFICIENT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758F9-E562-409B-9033-A7513BD4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95DDF-F7D0-4619-8E48-BFE07659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Manual side-by-side review; automated path booleans conflict with screenshots</a:t>
            </a:r>
          </a:p>
        </p:txBody>
      </p:sp>
    </p:spTree>
    <p:extLst>
      <p:ext uri="{BB962C8B-B14F-4D97-AF65-F5344CB8AC3E}">
        <p14:creationId xmlns:p14="http://schemas.microsoft.com/office/powerpoint/2010/main" val="1836801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6118F-C0B7-4F74-BD75-D31DDAA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918FA-7691-4C1E-96CC-CDCC545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EF094-F81D-4081-B760-B939D9A1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Coca-Cola: detector changes can mimic site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BE73E-AA88-4AA2-835C-A80B84CE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F7FBB-A2A6-4A96-9E73-9F1B212D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238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1B4AA-10BE-4A2E-9BFA-AE134009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MAY 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4AC8B-A812-4EF3-B168-AD2769F7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12382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0">
            <a:solidFill>
              <a:srgbClr val="DCE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930B6-0498-4127-A1C0-0793E260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716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A9A04-425F-4519-AEA3-E890684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4933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cae0edc0945b4"/>
          <a:stretch xmlns:a="http://schemas.openxmlformats.org/drawingml/2006/main"/>
        </p:blipFill>
        <p:spPr>
          <a:xfrm xmlns:a="http://schemas.openxmlformats.org/drawingml/2006/main">
            <a:off x="596265" y="1943100"/>
            <a:ext cx="4846320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5B88E-2301-4B4A-915C-BD83D37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933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BAC4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ea91070404867"/>
          <a:stretch xmlns:a="http://schemas.openxmlformats.org/drawingml/2006/main"/>
        </p:blipFill>
        <p:spPr>
          <a:xfrm xmlns:a="http://schemas.openxmlformats.org/drawingml/2006/main">
            <a:off x="6749415" y="1943100"/>
            <a:ext cx="4846320" cy="3028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81A72-960D-4FC1-BABA-BA6A41A0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D0"/>
          </a:solidFill>
          <a:ln xmlns:a="http://schemas.openxmlformats.org/drawingml/2006/main" w="9525">
            <a:solidFill>
              <a:srgbClr val="D6A3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D029F-29FA-467E-BC77-34677F1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Stored screens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687C2-AC1B-4194-8239-7203F9D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same visible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723BF-D16C-4B75-9BF8-1CE12605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67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Automated 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C1C1D-EAEC-4D5F-A65E-1A25C99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43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Compliant -&gt; High-Risk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817A4-770D-4561-996D-C866BFA0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June 15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67620-3E67-4596-942D-BCD9E2C0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4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Exemplary smoke; back-code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83897-133F-4D94-A7A8-C6FCA0A9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71AC1-2ED7-415D-A372-5F5BC48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Detector-version confound documented June 15, 2026</a:t>
            </a:r>
          </a:p>
        </p:txBody>
      </p:sp>
    </p:spTree>
    <p:extLst>
      <p:ext uri="{BB962C8B-B14F-4D97-AF65-F5344CB8AC3E}">
        <p14:creationId xmlns:p14="http://schemas.microsoft.com/office/powerpoint/2010/main" val="245684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11D4-0C27-408A-91B8-FB686A0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SSRP 2026 | LONGITUDINAL CONSENT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BA080-224D-4DEC-9C07-6624B512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707E3-3E8D-4B5D-9EC0-7A09947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method works; the evolution claim is not ready 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9C4B-E146-4479-B348-5C9163C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solidFill>
              <a:srgbClr val="D9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4B8D-37BD-497B-90AD-5E3F738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86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7F"/>
                </a:solidFill>
                <a:latin typeface="Arial"/>
                <a:ea typeface="Arial"/>
                <a:cs typeface="Arial"/>
              </a:rPr>
              <a:t>SUPPORTED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46D35-57DA-4C31-A4D3-1FE0D0BA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evidence-linked captures can be stored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RQ1 dimensions can structure comparison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matched reports can surface change candidates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manual review can expose false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30E46-6FCE-4352-A004-613EDD8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3B75F-0AF3-4EE4-B8CA-F11BC294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13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13B16"/>
                </a:solidFill>
                <a:latin typeface="Arial"/>
                <a:ea typeface="Arial"/>
                <a:cs typeface="Arial"/>
              </a:rPr>
              <a:t>NOT SUPPORTED YET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0377-9F2F-47FF-A178-B810503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no sampled site can be called improved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no sampled site can be called regressed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the June timeline is not continuous</a:t>
            </a:r>
          </a:p>
          <a:p xmlns:a="http://schemas.openxmlformats.org/drawingml/2006/main">
            <a:pPr algn="l">
              <a:defRPr sz="15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- five cases do not support population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BEB7F-F75A-4B1D-80A0-9DA73E0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8B144-0C42-4FC6-8969-DF0907B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6C6E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C6E9"/>
                </a:solidFill>
                <a:latin typeface="Arial"/>
                <a:ea typeface="Arial"/>
                <a:cs typeface="Arial"/>
              </a:rPr>
              <a:t>Current 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EED9B-4973-4FAF-9E21-272CFC1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pilot validates the study design and reveals the controls needed for a defensible trajectory.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6826-7E64-408B-BD90-7697203F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944B8-E726-475F-B67B-24E0108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Directional review: 5/5 current cases = insufficient evidence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BCA9E-63B7-4C03-8169-7301F9B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NEXT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8BD20-6A39-4DC5-850D-56E27A84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controlled time points turn the pilot into a trajectory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86C93-6E51-42AA-895B-3CE02CF2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4CB"/>
          </a:solidFill>
          <a:ln xmlns:a="http://schemas.openxmlformats.org/drawingml/2006/main" w="0">
            <a:solidFill>
              <a:srgbClr val="BAC4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2CA1-BD9A-4AE4-823C-B21A9B00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A8"/>
          </a:solidFill>
          <a:ln xmlns:a="http://schemas.openxmlformats.org/drawingml/2006/main" w="0">
            <a:solidFill>
              <a:srgbClr val="146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CC717-A084-40A8-9E57-1FD9345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D61C-70DF-45A0-AB3A-1E0B7A63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276E2-1244-4584-BDBC-6EFDD849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7F"/>
          </a:solidFill>
          <a:ln xmlns:a="http://schemas.openxmlformats.org/drawingml/2006/main" w="0">
            <a:solidFill>
              <a:srgbClr val="1886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0F999-D9D5-444B-9D52-5E9CDDC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1142C-21F7-496B-A70C-C3BBD71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6123C-23A7-4128-9E22-2937C97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1A"/>
          </a:solidFill>
          <a:ln xmlns:a="http://schemas.openxmlformats.org/drawingml/2006/main" w="0">
            <a:solidFill>
              <a:srgbClr val="D6A3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D11BE-4C12-4F1A-B0A6-C335B62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D973A-B474-43F1-BB4F-0024D37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confirm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EF257-BBEE-4FA2-8FDC-271F801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3B16"/>
          </a:solidFill>
          <a:ln xmlns:a="http://schemas.openxmlformats.org/drawingml/2006/main" w="0">
            <a:solidFill>
              <a:srgbClr val="A13B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4E86D-F20F-46F8-BEE5-0342837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71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T4+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209CB-1A57-40E3-98D5-1261769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48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estimate trajectory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A9E36-C935-4581-804E-2A325589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6EA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6EA8"/>
                </a:solidFill>
                <a:latin typeface="Arial"/>
                <a:ea typeface="Arial"/>
                <a:cs typeface="Arial"/>
              </a:rPr>
              <a:t>At every time 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6494D-911E-4649-ADA7-BFE42BF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C5B6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C5B67"/>
                </a:solidFill>
                <a:latin typeface="Arial"/>
                <a:ea typeface="Arial"/>
                <a:cs typeface="Arial"/>
              </a:rPr>
              <a:t>freeze context | store scorer version | review evidence | code component deltas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C7280-AB00-454B-850E-D68F94DA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6E9"/>
          </a:solidFill>
          <a:ln xmlns:a="http://schemas.openxmlformats.org/drawingml/2006/main" w="0">
            <a:solidFill>
              <a:srgbClr val="66C6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47BB-3DFC-417C-B221-1660FCE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Contribution: a traceable way to distinguish real consent-interface evolution from technical noise.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522F0-3A38-4E78-8CD8-8EEA80C3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830F3-F6EB-40AA-8B47-8DF5E65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77000"/>
            <a:ext cx="560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00" b="0" i="0">
                <a:solidFill>
                  <a:srgbClr val="73818B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73818B"/>
                </a:solidFill>
                <a:latin typeface="Arial"/>
                <a:ea typeface="Arial"/>
                <a:cs typeface="Arial"/>
              </a:rPr>
              <a:t>CWRU Intersections presentation framing: question, result, consequence, future research</a:t>
            </a:r>
          </a:p>
        </p:txBody>
      </p:sp>
    </p:spTree>
    <p:extLst>
      <p:ext uri="{BB962C8B-B14F-4D97-AF65-F5344CB8AC3E}">
        <p14:creationId xmlns:p14="http://schemas.microsoft.com/office/powerpoint/2010/main" val="1447288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2026-07-29T13:34:55.3900000Z</dcterms:created>
  <dcterms:modified xsi:type="dcterms:W3CDTF">2026-07-29T13:34:55.3900000Z</dcterms:modified>
</coreProperties>
</file>